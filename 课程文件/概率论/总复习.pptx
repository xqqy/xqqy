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0" r:id="rId3"/>
    <p:sldId id="259" r:id="rId4"/>
    <p:sldId id="282" r:id="rId5"/>
    <p:sldId id="288" r:id="rId6"/>
    <p:sldId id="283" r:id="rId7"/>
    <p:sldId id="291" r:id="rId8"/>
    <p:sldId id="284" r:id="rId9"/>
    <p:sldId id="289" r:id="rId10"/>
    <p:sldId id="290" r:id="rId11"/>
    <p:sldId id="285" r:id="rId12"/>
    <p:sldId id="286" r:id="rId13"/>
    <p:sldId id="260" r:id="rId14"/>
    <p:sldId id="287" r:id="rId15"/>
    <p:sldId id="292" r:id="rId16"/>
    <p:sldId id="330" r:id="rId17"/>
    <p:sldId id="293" r:id="rId18"/>
    <p:sldId id="331" r:id="rId19"/>
    <p:sldId id="332" r:id="rId20"/>
    <p:sldId id="33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40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34" r:id="rId53"/>
    <p:sldId id="335" r:id="rId54"/>
    <p:sldId id="336" r:id="rId55"/>
    <p:sldId id="337" r:id="rId56"/>
    <p:sldId id="338" r:id="rId57"/>
    <p:sldId id="339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398" y="-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4" Type="http://schemas.openxmlformats.org/officeDocument/2006/relationships/image" Target="../media/image8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  <a:ea typeface="楷体" pitchFamily="49" charset="-122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79" y="94"/>
              <a:ext cx="1267" cy="1938"/>
            </a:xfrm>
            <a:custGeom>
              <a:avLst/>
              <a:gdLst>
                <a:gd name="T0" fmla="*/ 65 w 1692"/>
                <a:gd name="T1" fmla="*/ 145 h 2586"/>
                <a:gd name="T2" fmla="*/ 180 w 1692"/>
                <a:gd name="T3" fmla="*/ 118 h 2586"/>
                <a:gd name="T4" fmla="*/ 243 w 1692"/>
                <a:gd name="T5" fmla="*/ 135 h 2586"/>
                <a:gd name="T6" fmla="*/ 234 w 1692"/>
                <a:gd name="T7" fmla="*/ 250 h 2586"/>
                <a:gd name="T8" fmla="*/ 153 w 1692"/>
                <a:gd name="T9" fmla="*/ 327 h 2586"/>
                <a:gd name="T10" fmla="*/ 122 w 1692"/>
                <a:gd name="T11" fmla="*/ 401 h 2586"/>
                <a:gd name="T12" fmla="*/ 159 w 1692"/>
                <a:gd name="T13" fmla="*/ 541 h 2586"/>
                <a:gd name="T14" fmla="*/ 177 w 1692"/>
                <a:gd name="T15" fmla="*/ 539 h 2586"/>
                <a:gd name="T16" fmla="*/ 184 w 1692"/>
                <a:gd name="T17" fmla="*/ 509 h 2586"/>
                <a:gd name="T18" fmla="*/ 268 w 1692"/>
                <a:gd name="T19" fmla="*/ 648 h 2586"/>
                <a:gd name="T20" fmla="*/ 365 w 1692"/>
                <a:gd name="T21" fmla="*/ 674 h 2586"/>
                <a:gd name="T22" fmla="*/ 446 w 1692"/>
                <a:gd name="T23" fmla="*/ 758 h 2586"/>
                <a:gd name="T24" fmla="*/ 478 w 1692"/>
                <a:gd name="T25" fmla="*/ 799 h 2586"/>
                <a:gd name="T26" fmla="*/ 432 w 1692"/>
                <a:gd name="T27" fmla="*/ 903 h 2586"/>
                <a:gd name="T28" fmla="*/ 514 w 1692"/>
                <a:gd name="T29" fmla="*/ 1000 h 2586"/>
                <a:gd name="T30" fmla="*/ 580 w 1692"/>
                <a:gd name="T31" fmla="*/ 1135 h 2586"/>
                <a:gd name="T32" fmla="*/ 613 w 1692"/>
                <a:gd name="T33" fmla="*/ 1297 h 2586"/>
                <a:gd name="T34" fmla="*/ 669 w 1692"/>
                <a:gd name="T35" fmla="*/ 1427 h 2586"/>
                <a:gd name="T36" fmla="*/ 717 w 1692"/>
                <a:gd name="T37" fmla="*/ 1416 h 2586"/>
                <a:gd name="T38" fmla="*/ 698 w 1692"/>
                <a:gd name="T39" fmla="*/ 1344 h 2586"/>
                <a:gd name="T40" fmla="*/ 722 w 1692"/>
                <a:gd name="T41" fmla="*/ 1295 h 2586"/>
                <a:gd name="T42" fmla="*/ 767 w 1692"/>
                <a:gd name="T43" fmla="*/ 1252 h 2586"/>
                <a:gd name="T44" fmla="*/ 812 w 1692"/>
                <a:gd name="T45" fmla="*/ 1166 h 2586"/>
                <a:gd name="T46" fmla="*/ 879 w 1692"/>
                <a:gd name="T47" fmla="*/ 1095 h 2586"/>
                <a:gd name="T48" fmla="*/ 910 w 1692"/>
                <a:gd name="T49" fmla="*/ 980 h 2586"/>
                <a:gd name="T50" fmla="*/ 870 w 1692"/>
                <a:gd name="T51" fmla="*/ 864 h 2586"/>
                <a:gd name="T52" fmla="*/ 771 w 1692"/>
                <a:gd name="T53" fmla="*/ 792 h 2586"/>
                <a:gd name="T54" fmla="*/ 619 w 1692"/>
                <a:gd name="T55" fmla="*/ 719 h 2586"/>
                <a:gd name="T56" fmla="*/ 546 w 1692"/>
                <a:gd name="T57" fmla="*/ 707 h 2586"/>
                <a:gd name="T58" fmla="*/ 507 w 1692"/>
                <a:gd name="T59" fmla="*/ 712 h 2586"/>
                <a:gd name="T60" fmla="*/ 446 w 1692"/>
                <a:gd name="T61" fmla="*/ 734 h 2586"/>
                <a:gd name="T62" fmla="*/ 425 w 1692"/>
                <a:gd name="T63" fmla="*/ 659 h 2586"/>
                <a:gd name="T64" fmla="*/ 413 w 1692"/>
                <a:gd name="T65" fmla="*/ 597 h 2586"/>
                <a:gd name="T66" fmla="*/ 354 w 1692"/>
                <a:gd name="T67" fmla="*/ 620 h 2586"/>
                <a:gd name="T68" fmla="*/ 318 w 1692"/>
                <a:gd name="T69" fmla="*/ 534 h 2586"/>
                <a:gd name="T70" fmla="*/ 415 w 1692"/>
                <a:gd name="T71" fmla="*/ 512 h 2586"/>
                <a:gd name="T72" fmla="*/ 473 w 1692"/>
                <a:gd name="T73" fmla="*/ 509 h 2586"/>
                <a:gd name="T74" fmla="*/ 502 w 1692"/>
                <a:gd name="T75" fmla="*/ 505 h 2586"/>
                <a:gd name="T76" fmla="*/ 593 w 1692"/>
                <a:gd name="T77" fmla="*/ 421 h 2586"/>
                <a:gd name="T78" fmla="*/ 664 w 1692"/>
                <a:gd name="T79" fmla="*/ 381 h 2586"/>
                <a:gd name="T80" fmla="*/ 717 w 1692"/>
                <a:gd name="T81" fmla="*/ 357 h 2586"/>
                <a:gd name="T82" fmla="*/ 751 w 1692"/>
                <a:gd name="T83" fmla="*/ 302 h 2586"/>
                <a:gd name="T84" fmla="*/ 722 w 1692"/>
                <a:gd name="T85" fmla="*/ 288 h 2586"/>
                <a:gd name="T86" fmla="*/ 856 w 1692"/>
                <a:gd name="T87" fmla="*/ 256 h 2586"/>
                <a:gd name="T88" fmla="*/ 789 w 1692"/>
                <a:gd name="T89" fmla="*/ 192 h 2586"/>
                <a:gd name="T90" fmla="*/ 744 w 1692"/>
                <a:gd name="T91" fmla="*/ 148 h 2586"/>
                <a:gd name="T92" fmla="*/ 685 w 1692"/>
                <a:gd name="T93" fmla="*/ 205 h 2586"/>
                <a:gd name="T94" fmla="*/ 622 w 1692"/>
                <a:gd name="T95" fmla="*/ 250 h 2586"/>
                <a:gd name="T96" fmla="*/ 573 w 1692"/>
                <a:gd name="T97" fmla="*/ 171 h 2586"/>
                <a:gd name="T98" fmla="*/ 680 w 1692"/>
                <a:gd name="T99" fmla="*/ 135 h 2586"/>
                <a:gd name="T100" fmla="*/ 710 w 1692"/>
                <a:gd name="T101" fmla="*/ 111 h 2586"/>
                <a:gd name="T102" fmla="*/ 744 w 1692"/>
                <a:gd name="T103" fmla="*/ 97 h 2586"/>
                <a:gd name="T104" fmla="*/ 721 w 1692"/>
                <a:gd name="T105" fmla="*/ 81 h 2586"/>
                <a:gd name="T106" fmla="*/ 708 w 1692"/>
                <a:gd name="T107" fmla="*/ 67 h 2586"/>
                <a:gd name="T108" fmla="*/ 674 w 1692"/>
                <a:gd name="T109" fmla="*/ 57 h 2586"/>
                <a:gd name="T110" fmla="*/ 620 w 1692"/>
                <a:gd name="T111" fmla="*/ 76 h 2586"/>
                <a:gd name="T112" fmla="*/ 532 w 1692"/>
                <a:gd name="T113" fmla="*/ 67 h 2586"/>
                <a:gd name="T114" fmla="*/ 309 w 1692"/>
                <a:gd name="T115" fmla="*/ 0 h 2586"/>
                <a:gd name="T116" fmla="*/ 193 w 1692"/>
                <a:gd name="T117" fmla="*/ 18 h 2586"/>
                <a:gd name="T118" fmla="*/ 162 w 1692"/>
                <a:gd name="T119" fmla="*/ 57 h 2586"/>
                <a:gd name="T120" fmla="*/ 72 w 1692"/>
                <a:gd name="T121" fmla="*/ 97 h 2586"/>
                <a:gd name="T122" fmla="*/ 72 w 1692"/>
                <a:gd name="T123" fmla="*/ 121 h 2586"/>
                <a:gd name="T124" fmla="*/ 1 w 1692"/>
                <a:gd name="T125" fmla="*/ 142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9" y="279"/>
              <a:ext cx="34" cy="28"/>
            </a:xfrm>
            <a:custGeom>
              <a:avLst/>
              <a:gdLst>
                <a:gd name="T0" fmla="*/ 9 w 46"/>
                <a:gd name="T1" fmla="*/ 2 h 38"/>
                <a:gd name="T2" fmla="*/ 0 w 46"/>
                <a:gd name="T3" fmla="*/ 12 h 38"/>
                <a:gd name="T4" fmla="*/ 12 w 46"/>
                <a:gd name="T5" fmla="*/ 21 h 38"/>
                <a:gd name="T6" fmla="*/ 25 w 46"/>
                <a:gd name="T7" fmla="*/ 14 h 38"/>
                <a:gd name="T8" fmla="*/ 16 w 46"/>
                <a:gd name="T9" fmla="*/ 0 h 38"/>
                <a:gd name="T10" fmla="*/ 9 w 46"/>
                <a:gd name="T11" fmla="*/ 2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46" y="402"/>
              <a:ext cx="39" cy="32"/>
            </a:xfrm>
            <a:custGeom>
              <a:avLst/>
              <a:gdLst>
                <a:gd name="T0" fmla="*/ 7 w 52"/>
                <a:gd name="T1" fmla="*/ 0 h 44"/>
                <a:gd name="T2" fmla="*/ 15 w 52"/>
                <a:gd name="T3" fmla="*/ 23 h 44"/>
                <a:gd name="T4" fmla="*/ 24 w 52"/>
                <a:gd name="T5" fmla="*/ 23 h 44"/>
                <a:gd name="T6" fmla="*/ 22 w 52"/>
                <a:gd name="T7" fmla="*/ 9 h 44"/>
                <a:gd name="T8" fmla="*/ 15 w 52"/>
                <a:gd name="T9" fmla="*/ 1 h 44"/>
                <a:gd name="T10" fmla="*/ 7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1128" y="458"/>
              <a:ext cx="98" cy="74"/>
            </a:xfrm>
            <a:custGeom>
              <a:avLst/>
              <a:gdLst>
                <a:gd name="T0" fmla="*/ 55 w 131"/>
                <a:gd name="T1" fmla="*/ 0 h 98"/>
                <a:gd name="T2" fmla="*/ 44 w 131"/>
                <a:gd name="T3" fmla="*/ 5 h 98"/>
                <a:gd name="T4" fmla="*/ 30 w 131"/>
                <a:gd name="T5" fmla="*/ 14 h 98"/>
                <a:gd name="T6" fmla="*/ 22 w 131"/>
                <a:gd name="T7" fmla="*/ 23 h 98"/>
                <a:gd name="T8" fmla="*/ 12 w 131"/>
                <a:gd name="T9" fmla="*/ 29 h 98"/>
                <a:gd name="T10" fmla="*/ 35 w 131"/>
                <a:gd name="T11" fmla="*/ 47 h 98"/>
                <a:gd name="T12" fmla="*/ 44 w 131"/>
                <a:gd name="T13" fmla="*/ 54 h 98"/>
                <a:gd name="T14" fmla="*/ 48 w 131"/>
                <a:gd name="T15" fmla="*/ 52 h 98"/>
                <a:gd name="T16" fmla="*/ 50 w 131"/>
                <a:gd name="T17" fmla="*/ 49 h 98"/>
                <a:gd name="T18" fmla="*/ 55 w 131"/>
                <a:gd name="T19" fmla="*/ 56 h 98"/>
                <a:gd name="T20" fmla="*/ 69 w 131"/>
                <a:gd name="T21" fmla="*/ 49 h 98"/>
                <a:gd name="T22" fmla="*/ 73 w 131"/>
                <a:gd name="T23" fmla="*/ 42 h 98"/>
                <a:gd name="T24" fmla="*/ 57 w 131"/>
                <a:gd name="T25" fmla="*/ 23 h 98"/>
                <a:gd name="T26" fmla="*/ 64 w 131"/>
                <a:gd name="T27" fmla="*/ 14 h 98"/>
                <a:gd name="T28" fmla="*/ 62 w 131"/>
                <a:gd name="T29" fmla="*/ 2 h 98"/>
                <a:gd name="T30" fmla="*/ 55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654" y="842"/>
              <a:ext cx="158" cy="84"/>
            </a:xfrm>
            <a:custGeom>
              <a:avLst/>
              <a:gdLst>
                <a:gd name="T0" fmla="*/ 26 w 212"/>
                <a:gd name="T1" fmla="*/ 7 h 112"/>
                <a:gd name="T2" fmla="*/ 10 w 212"/>
                <a:gd name="T3" fmla="*/ 7 h 112"/>
                <a:gd name="T4" fmla="*/ 3 w 212"/>
                <a:gd name="T5" fmla="*/ 9 h 112"/>
                <a:gd name="T6" fmla="*/ 14 w 212"/>
                <a:gd name="T7" fmla="*/ 29 h 112"/>
                <a:gd name="T8" fmla="*/ 28 w 212"/>
                <a:gd name="T9" fmla="*/ 25 h 112"/>
                <a:gd name="T10" fmla="*/ 51 w 212"/>
                <a:gd name="T11" fmla="*/ 31 h 112"/>
                <a:gd name="T12" fmla="*/ 62 w 212"/>
                <a:gd name="T13" fmla="*/ 34 h 112"/>
                <a:gd name="T14" fmla="*/ 74 w 212"/>
                <a:gd name="T15" fmla="*/ 50 h 112"/>
                <a:gd name="T16" fmla="*/ 78 w 212"/>
                <a:gd name="T17" fmla="*/ 63 h 112"/>
                <a:gd name="T18" fmla="*/ 87 w 212"/>
                <a:gd name="T19" fmla="*/ 56 h 112"/>
                <a:gd name="T20" fmla="*/ 94 w 212"/>
                <a:gd name="T21" fmla="*/ 54 h 112"/>
                <a:gd name="T22" fmla="*/ 104 w 212"/>
                <a:gd name="T23" fmla="*/ 58 h 112"/>
                <a:gd name="T24" fmla="*/ 108 w 212"/>
                <a:gd name="T25" fmla="*/ 45 h 112"/>
                <a:gd name="T26" fmla="*/ 85 w 212"/>
                <a:gd name="T27" fmla="*/ 31 h 112"/>
                <a:gd name="T28" fmla="*/ 58 w 212"/>
                <a:gd name="T29" fmla="*/ 11 h 112"/>
                <a:gd name="T30" fmla="*/ 30 w 212"/>
                <a:gd name="T31" fmla="*/ 15 h 112"/>
                <a:gd name="T32" fmla="*/ 26 w 212"/>
                <a:gd name="T33" fmla="*/ 7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784" y="906"/>
              <a:ext cx="99" cy="41"/>
            </a:xfrm>
            <a:custGeom>
              <a:avLst/>
              <a:gdLst>
                <a:gd name="T0" fmla="*/ 31 w 133"/>
                <a:gd name="T1" fmla="*/ 0 h 54"/>
                <a:gd name="T2" fmla="*/ 24 w 133"/>
                <a:gd name="T3" fmla="*/ 4 h 54"/>
                <a:gd name="T4" fmla="*/ 17 w 133"/>
                <a:gd name="T5" fmla="*/ 17 h 54"/>
                <a:gd name="T6" fmla="*/ 8 w 133"/>
                <a:gd name="T7" fmla="*/ 20 h 54"/>
                <a:gd name="T8" fmla="*/ 1 w 133"/>
                <a:gd name="T9" fmla="*/ 24 h 54"/>
                <a:gd name="T10" fmla="*/ 7 w 133"/>
                <a:gd name="T11" fmla="*/ 31 h 54"/>
                <a:gd name="T12" fmla="*/ 74 w 133"/>
                <a:gd name="T13" fmla="*/ 20 h 54"/>
                <a:gd name="T14" fmla="*/ 68 w 133"/>
                <a:gd name="T15" fmla="*/ 9 h 54"/>
                <a:gd name="T16" fmla="*/ 58 w 133"/>
                <a:gd name="T17" fmla="*/ 5 h 54"/>
                <a:gd name="T18" fmla="*/ 56 w 133"/>
                <a:gd name="T19" fmla="*/ 14 h 54"/>
                <a:gd name="T20" fmla="*/ 49 w 133"/>
                <a:gd name="T21" fmla="*/ 11 h 54"/>
                <a:gd name="T22" fmla="*/ 37 w 133"/>
                <a:gd name="T23" fmla="*/ 8 h 54"/>
                <a:gd name="T24" fmla="*/ 31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889" y="932"/>
              <a:ext cx="38" cy="18"/>
            </a:xfrm>
            <a:custGeom>
              <a:avLst/>
              <a:gdLst>
                <a:gd name="T0" fmla="*/ 7 w 51"/>
                <a:gd name="T1" fmla="*/ 0 h 24"/>
                <a:gd name="T2" fmla="*/ 4 w 51"/>
                <a:gd name="T3" fmla="*/ 11 h 24"/>
                <a:gd name="T4" fmla="*/ 15 w 51"/>
                <a:gd name="T5" fmla="*/ 14 h 24"/>
                <a:gd name="T6" fmla="*/ 19 w 51"/>
                <a:gd name="T7" fmla="*/ 2 h 24"/>
                <a:gd name="T8" fmla="*/ 7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945" y="935"/>
              <a:ext cx="12" cy="25"/>
            </a:xfrm>
            <a:custGeom>
              <a:avLst/>
              <a:gdLst>
                <a:gd name="T0" fmla="*/ 8 w 16"/>
                <a:gd name="T1" fmla="*/ 0 h 34"/>
                <a:gd name="T2" fmla="*/ 0 w 16"/>
                <a:gd name="T3" fmla="*/ 7 h 34"/>
                <a:gd name="T4" fmla="*/ 9 w 16"/>
                <a:gd name="T5" fmla="*/ 18 h 34"/>
                <a:gd name="T6" fmla="*/ 7 w 16"/>
                <a:gd name="T7" fmla="*/ 10 h 34"/>
                <a:gd name="T8" fmla="*/ 9 w 16"/>
                <a:gd name="T9" fmla="*/ 3 h 34"/>
                <a:gd name="T10" fmla="*/ 8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762" y="89"/>
              <a:ext cx="180" cy="88"/>
            </a:xfrm>
            <a:custGeom>
              <a:avLst/>
              <a:gdLst>
                <a:gd name="T0" fmla="*/ 36 w 240"/>
                <a:gd name="T1" fmla="*/ 1 h 117"/>
                <a:gd name="T2" fmla="*/ 14 w 240"/>
                <a:gd name="T3" fmla="*/ 17 h 117"/>
                <a:gd name="T4" fmla="*/ 4 w 240"/>
                <a:gd name="T5" fmla="*/ 21 h 117"/>
                <a:gd name="T6" fmla="*/ 0 w 240"/>
                <a:gd name="T7" fmla="*/ 22 h 117"/>
                <a:gd name="T8" fmla="*/ 15 w 240"/>
                <a:gd name="T9" fmla="*/ 33 h 117"/>
                <a:gd name="T10" fmla="*/ 22 w 240"/>
                <a:gd name="T11" fmla="*/ 35 h 117"/>
                <a:gd name="T12" fmla="*/ 38 w 240"/>
                <a:gd name="T13" fmla="*/ 26 h 117"/>
                <a:gd name="T14" fmla="*/ 45 w 240"/>
                <a:gd name="T15" fmla="*/ 24 h 117"/>
                <a:gd name="T16" fmla="*/ 47 w 240"/>
                <a:gd name="T17" fmla="*/ 31 h 117"/>
                <a:gd name="T18" fmla="*/ 36 w 240"/>
                <a:gd name="T19" fmla="*/ 35 h 117"/>
                <a:gd name="T20" fmla="*/ 41 w 240"/>
                <a:gd name="T21" fmla="*/ 41 h 117"/>
                <a:gd name="T22" fmla="*/ 23 w 240"/>
                <a:gd name="T23" fmla="*/ 49 h 117"/>
                <a:gd name="T24" fmla="*/ 40 w 240"/>
                <a:gd name="T25" fmla="*/ 62 h 117"/>
                <a:gd name="T26" fmla="*/ 47 w 240"/>
                <a:gd name="T27" fmla="*/ 64 h 117"/>
                <a:gd name="T28" fmla="*/ 67 w 240"/>
                <a:gd name="T29" fmla="*/ 58 h 117"/>
                <a:gd name="T30" fmla="*/ 85 w 240"/>
                <a:gd name="T31" fmla="*/ 59 h 117"/>
                <a:gd name="T32" fmla="*/ 95 w 240"/>
                <a:gd name="T33" fmla="*/ 66 h 117"/>
                <a:gd name="T34" fmla="*/ 115 w 240"/>
                <a:gd name="T35" fmla="*/ 62 h 117"/>
                <a:gd name="T36" fmla="*/ 126 w 240"/>
                <a:gd name="T37" fmla="*/ 58 h 117"/>
                <a:gd name="T38" fmla="*/ 125 w 240"/>
                <a:gd name="T39" fmla="*/ 44 h 117"/>
                <a:gd name="T40" fmla="*/ 132 w 240"/>
                <a:gd name="T41" fmla="*/ 39 h 117"/>
                <a:gd name="T42" fmla="*/ 134 w 240"/>
                <a:gd name="T43" fmla="*/ 26 h 117"/>
                <a:gd name="T44" fmla="*/ 119 w 240"/>
                <a:gd name="T45" fmla="*/ 32 h 117"/>
                <a:gd name="T46" fmla="*/ 113 w 240"/>
                <a:gd name="T47" fmla="*/ 24 h 117"/>
                <a:gd name="T48" fmla="*/ 97 w 240"/>
                <a:gd name="T49" fmla="*/ 26 h 117"/>
                <a:gd name="T50" fmla="*/ 76 w 240"/>
                <a:gd name="T51" fmla="*/ 5 h 117"/>
                <a:gd name="T52" fmla="*/ 53 w 240"/>
                <a:gd name="T53" fmla="*/ 6 h 117"/>
                <a:gd name="T54" fmla="*/ 47 w 240"/>
                <a:gd name="T55" fmla="*/ 1 h 117"/>
                <a:gd name="T56" fmla="*/ 36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842" y="48"/>
              <a:ext cx="146" cy="60"/>
            </a:xfrm>
            <a:custGeom>
              <a:avLst/>
              <a:gdLst>
                <a:gd name="T0" fmla="*/ 55 w 194"/>
                <a:gd name="T1" fmla="*/ 6 h 80"/>
                <a:gd name="T2" fmla="*/ 8 w 194"/>
                <a:gd name="T3" fmla="*/ 14 h 80"/>
                <a:gd name="T4" fmla="*/ 5 w 194"/>
                <a:gd name="T5" fmla="*/ 20 h 80"/>
                <a:gd name="T6" fmla="*/ 32 w 194"/>
                <a:gd name="T7" fmla="*/ 29 h 80"/>
                <a:gd name="T8" fmla="*/ 77 w 194"/>
                <a:gd name="T9" fmla="*/ 42 h 80"/>
                <a:gd name="T10" fmla="*/ 99 w 194"/>
                <a:gd name="T11" fmla="*/ 38 h 80"/>
                <a:gd name="T12" fmla="*/ 106 w 194"/>
                <a:gd name="T13" fmla="*/ 36 h 80"/>
                <a:gd name="T14" fmla="*/ 99 w 194"/>
                <a:gd name="T15" fmla="*/ 25 h 80"/>
                <a:gd name="T16" fmla="*/ 93 w 194"/>
                <a:gd name="T17" fmla="*/ 20 h 80"/>
                <a:gd name="T18" fmla="*/ 73 w 194"/>
                <a:gd name="T19" fmla="*/ 15 h 80"/>
                <a:gd name="T20" fmla="*/ 55 w 194"/>
                <a:gd name="T21" fmla="*/ 6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1047" y="118"/>
              <a:ext cx="233" cy="190"/>
            </a:xfrm>
            <a:custGeom>
              <a:avLst/>
              <a:gdLst>
                <a:gd name="T0" fmla="*/ 38 w 310"/>
                <a:gd name="T1" fmla="*/ 5 h 254"/>
                <a:gd name="T2" fmla="*/ 29 w 310"/>
                <a:gd name="T3" fmla="*/ 13 h 254"/>
                <a:gd name="T4" fmla="*/ 12 w 310"/>
                <a:gd name="T5" fmla="*/ 22 h 254"/>
                <a:gd name="T6" fmla="*/ 30 w 310"/>
                <a:gd name="T7" fmla="*/ 43 h 254"/>
                <a:gd name="T8" fmla="*/ 44 w 310"/>
                <a:gd name="T9" fmla="*/ 48 h 254"/>
                <a:gd name="T10" fmla="*/ 58 w 310"/>
                <a:gd name="T11" fmla="*/ 55 h 254"/>
                <a:gd name="T12" fmla="*/ 71 w 310"/>
                <a:gd name="T13" fmla="*/ 48 h 254"/>
                <a:gd name="T14" fmla="*/ 80 w 310"/>
                <a:gd name="T15" fmla="*/ 57 h 254"/>
                <a:gd name="T16" fmla="*/ 84 w 310"/>
                <a:gd name="T17" fmla="*/ 71 h 254"/>
                <a:gd name="T18" fmla="*/ 65 w 310"/>
                <a:gd name="T19" fmla="*/ 85 h 254"/>
                <a:gd name="T20" fmla="*/ 50 w 310"/>
                <a:gd name="T21" fmla="*/ 96 h 254"/>
                <a:gd name="T22" fmla="*/ 39 w 310"/>
                <a:gd name="T23" fmla="*/ 94 h 254"/>
                <a:gd name="T24" fmla="*/ 32 w 310"/>
                <a:gd name="T25" fmla="*/ 92 h 254"/>
                <a:gd name="T26" fmla="*/ 24 w 310"/>
                <a:gd name="T27" fmla="*/ 105 h 254"/>
                <a:gd name="T28" fmla="*/ 22 w 310"/>
                <a:gd name="T29" fmla="*/ 111 h 254"/>
                <a:gd name="T30" fmla="*/ 41 w 310"/>
                <a:gd name="T31" fmla="*/ 114 h 254"/>
                <a:gd name="T32" fmla="*/ 53 w 310"/>
                <a:gd name="T33" fmla="*/ 114 h 254"/>
                <a:gd name="T34" fmla="*/ 65 w 310"/>
                <a:gd name="T35" fmla="*/ 129 h 254"/>
                <a:gd name="T36" fmla="*/ 71 w 310"/>
                <a:gd name="T37" fmla="*/ 132 h 254"/>
                <a:gd name="T38" fmla="*/ 78 w 310"/>
                <a:gd name="T39" fmla="*/ 134 h 254"/>
                <a:gd name="T40" fmla="*/ 88 w 310"/>
                <a:gd name="T41" fmla="*/ 141 h 254"/>
                <a:gd name="T42" fmla="*/ 102 w 310"/>
                <a:gd name="T43" fmla="*/ 132 h 254"/>
                <a:gd name="T44" fmla="*/ 115 w 310"/>
                <a:gd name="T45" fmla="*/ 132 h 254"/>
                <a:gd name="T46" fmla="*/ 129 w 310"/>
                <a:gd name="T47" fmla="*/ 119 h 254"/>
                <a:gd name="T48" fmla="*/ 127 w 310"/>
                <a:gd name="T49" fmla="*/ 103 h 254"/>
                <a:gd name="T50" fmla="*/ 123 w 310"/>
                <a:gd name="T51" fmla="*/ 96 h 254"/>
                <a:gd name="T52" fmla="*/ 132 w 310"/>
                <a:gd name="T53" fmla="*/ 94 h 254"/>
                <a:gd name="T54" fmla="*/ 138 w 310"/>
                <a:gd name="T55" fmla="*/ 102 h 254"/>
                <a:gd name="T56" fmla="*/ 140 w 310"/>
                <a:gd name="T57" fmla="*/ 110 h 254"/>
                <a:gd name="T58" fmla="*/ 147 w 310"/>
                <a:gd name="T59" fmla="*/ 108 h 254"/>
                <a:gd name="T60" fmla="*/ 171 w 310"/>
                <a:gd name="T61" fmla="*/ 94 h 254"/>
                <a:gd name="T62" fmla="*/ 165 w 310"/>
                <a:gd name="T63" fmla="*/ 82 h 254"/>
                <a:gd name="T64" fmla="*/ 147 w 310"/>
                <a:gd name="T65" fmla="*/ 69 h 254"/>
                <a:gd name="T66" fmla="*/ 150 w 310"/>
                <a:gd name="T67" fmla="*/ 60 h 254"/>
                <a:gd name="T68" fmla="*/ 156 w 310"/>
                <a:gd name="T69" fmla="*/ 58 h 254"/>
                <a:gd name="T70" fmla="*/ 143 w 310"/>
                <a:gd name="T71" fmla="*/ 35 h 254"/>
                <a:gd name="T72" fmla="*/ 132 w 310"/>
                <a:gd name="T73" fmla="*/ 33 h 254"/>
                <a:gd name="T74" fmla="*/ 125 w 310"/>
                <a:gd name="T75" fmla="*/ 31 h 254"/>
                <a:gd name="T76" fmla="*/ 113 w 310"/>
                <a:gd name="T77" fmla="*/ 19 h 254"/>
                <a:gd name="T78" fmla="*/ 88 w 310"/>
                <a:gd name="T79" fmla="*/ 25 h 254"/>
                <a:gd name="T80" fmla="*/ 95 w 310"/>
                <a:gd name="T81" fmla="*/ 14 h 254"/>
                <a:gd name="T82" fmla="*/ 78 w 310"/>
                <a:gd name="T83" fmla="*/ 10 h 254"/>
                <a:gd name="T84" fmla="*/ 67 w 310"/>
                <a:gd name="T85" fmla="*/ 10 h 254"/>
                <a:gd name="T86" fmla="*/ 38 w 310"/>
                <a:gd name="T87" fmla="*/ 5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1045" y="36"/>
              <a:ext cx="44" cy="37"/>
            </a:xfrm>
            <a:custGeom>
              <a:avLst/>
              <a:gdLst>
                <a:gd name="T0" fmla="*/ 14 w 59"/>
                <a:gd name="T1" fmla="*/ 0 h 50"/>
                <a:gd name="T2" fmla="*/ 0 w 59"/>
                <a:gd name="T3" fmla="*/ 5 h 50"/>
                <a:gd name="T4" fmla="*/ 16 w 59"/>
                <a:gd name="T5" fmla="*/ 22 h 50"/>
                <a:gd name="T6" fmla="*/ 27 w 59"/>
                <a:gd name="T7" fmla="*/ 27 h 50"/>
                <a:gd name="T8" fmla="*/ 32 w 59"/>
                <a:gd name="T9" fmla="*/ 16 h 50"/>
                <a:gd name="T10" fmla="*/ 25 w 59"/>
                <a:gd name="T11" fmla="*/ 4 h 50"/>
                <a:gd name="T12" fmla="*/ 14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961" y="106"/>
              <a:ext cx="65" cy="42"/>
            </a:xfrm>
            <a:custGeom>
              <a:avLst/>
              <a:gdLst>
                <a:gd name="T0" fmla="*/ 25 w 86"/>
                <a:gd name="T1" fmla="*/ 4 h 57"/>
                <a:gd name="T2" fmla="*/ 14 w 86"/>
                <a:gd name="T3" fmla="*/ 13 h 57"/>
                <a:gd name="T4" fmla="*/ 2 w 86"/>
                <a:gd name="T5" fmla="*/ 15 h 57"/>
                <a:gd name="T6" fmla="*/ 9 w 86"/>
                <a:gd name="T7" fmla="*/ 31 h 57"/>
                <a:gd name="T8" fmla="*/ 42 w 86"/>
                <a:gd name="T9" fmla="*/ 19 h 57"/>
                <a:gd name="T10" fmla="*/ 49 w 86"/>
                <a:gd name="T11" fmla="*/ 10 h 57"/>
                <a:gd name="T12" fmla="*/ 32 w 86"/>
                <a:gd name="T13" fmla="*/ 4 h 57"/>
                <a:gd name="T14" fmla="*/ 25 w 86"/>
                <a:gd name="T15" fmla="*/ 4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9" y="114"/>
              <a:ext cx="54" cy="25"/>
            </a:xfrm>
            <a:custGeom>
              <a:avLst/>
              <a:gdLst>
                <a:gd name="T0" fmla="*/ 22 w 73"/>
                <a:gd name="T1" fmla="*/ 0 h 34"/>
                <a:gd name="T2" fmla="*/ 5 w 73"/>
                <a:gd name="T3" fmla="*/ 9 h 34"/>
                <a:gd name="T4" fmla="*/ 13 w 73"/>
                <a:gd name="T5" fmla="*/ 18 h 34"/>
                <a:gd name="T6" fmla="*/ 28 w 73"/>
                <a:gd name="T7" fmla="*/ 15 h 34"/>
                <a:gd name="T8" fmla="*/ 35 w 73"/>
                <a:gd name="T9" fmla="*/ 11 h 34"/>
                <a:gd name="T10" fmla="*/ 22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1000" y="78"/>
              <a:ext cx="64" cy="34"/>
            </a:xfrm>
            <a:custGeom>
              <a:avLst/>
              <a:gdLst>
                <a:gd name="T0" fmla="*/ 33 w 85"/>
                <a:gd name="T1" fmla="*/ 6 h 45"/>
                <a:gd name="T2" fmla="*/ 16 w 85"/>
                <a:gd name="T3" fmla="*/ 2 h 45"/>
                <a:gd name="T4" fmla="*/ 0 w 85"/>
                <a:gd name="T5" fmla="*/ 11 h 45"/>
                <a:gd name="T6" fmla="*/ 23 w 85"/>
                <a:gd name="T7" fmla="*/ 18 h 45"/>
                <a:gd name="T8" fmla="*/ 36 w 85"/>
                <a:gd name="T9" fmla="*/ 23 h 45"/>
                <a:gd name="T10" fmla="*/ 47 w 85"/>
                <a:gd name="T11" fmla="*/ 11 h 45"/>
                <a:gd name="T12" fmla="*/ 47 w 85"/>
                <a:gd name="T13" fmla="*/ 4 h 45"/>
                <a:gd name="T14" fmla="*/ 36 w 85"/>
                <a:gd name="T15" fmla="*/ 0 h 45"/>
                <a:gd name="T16" fmla="*/ 33 w 85"/>
                <a:gd name="T17" fmla="*/ 6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973" y="46"/>
              <a:ext cx="44" cy="24"/>
            </a:xfrm>
            <a:custGeom>
              <a:avLst/>
              <a:gdLst>
                <a:gd name="T0" fmla="*/ 9 w 58"/>
                <a:gd name="T1" fmla="*/ 2 h 31"/>
                <a:gd name="T2" fmla="*/ 0 w 58"/>
                <a:gd name="T3" fmla="*/ 11 h 31"/>
                <a:gd name="T4" fmla="*/ 11 w 58"/>
                <a:gd name="T5" fmla="*/ 17 h 31"/>
                <a:gd name="T6" fmla="*/ 16 w 58"/>
                <a:gd name="T7" fmla="*/ 12 h 31"/>
                <a:gd name="T8" fmla="*/ 30 w 58"/>
                <a:gd name="T9" fmla="*/ 7 h 31"/>
                <a:gd name="T10" fmla="*/ 25 w 58"/>
                <a:gd name="T11" fmla="*/ 0 h 31"/>
                <a:gd name="T12" fmla="*/ 9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1087" y="49"/>
              <a:ext cx="114" cy="77"/>
            </a:xfrm>
            <a:custGeom>
              <a:avLst/>
              <a:gdLst>
                <a:gd name="T0" fmla="*/ 22 w 152"/>
                <a:gd name="T1" fmla="*/ 0 h 102"/>
                <a:gd name="T2" fmla="*/ 8 w 152"/>
                <a:gd name="T3" fmla="*/ 4 h 102"/>
                <a:gd name="T4" fmla="*/ 2 w 152"/>
                <a:gd name="T5" fmla="*/ 22 h 102"/>
                <a:gd name="T6" fmla="*/ 7 w 152"/>
                <a:gd name="T7" fmla="*/ 32 h 102"/>
                <a:gd name="T8" fmla="*/ 0 w 152"/>
                <a:gd name="T9" fmla="*/ 41 h 102"/>
                <a:gd name="T10" fmla="*/ 32 w 152"/>
                <a:gd name="T11" fmla="*/ 49 h 102"/>
                <a:gd name="T12" fmla="*/ 47 w 152"/>
                <a:gd name="T13" fmla="*/ 52 h 102"/>
                <a:gd name="T14" fmla="*/ 86 w 152"/>
                <a:gd name="T15" fmla="*/ 49 h 102"/>
                <a:gd name="T16" fmla="*/ 43 w 152"/>
                <a:gd name="T17" fmla="*/ 40 h 102"/>
                <a:gd name="T18" fmla="*/ 31 w 152"/>
                <a:gd name="T19" fmla="*/ 35 h 102"/>
                <a:gd name="T20" fmla="*/ 25 w 152"/>
                <a:gd name="T21" fmla="*/ 29 h 102"/>
                <a:gd name="T22" fmla="*/ 29 w 152"/>
                <a:gd name="T23" fmla="*/ 20 h 102"/>
                <a:gd name="T24" fmla="*/ 2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0" y="294"/>
              <a:ext cx="25" cy="15"/>
            </a:xfrm>
            <a:custGeom>
              <a:avLst/>
              <a:gdLst>
                <a:gd name="T0" fmla="*/ 18 w 34"/>
                <a:gd name="T1" fmla="*/ 0 h 20"/>
                <a:gd name="T2" fmla="*/ 13 w 34"/>
                <a:gd name="T3" fmla="*/ 11 h 20"/>
                <a:gd name="T4" fmla="*/ 2 w 34"/>
                <a:gd name="T5" fmla="*/ 11 h 20"/>
                <a:gd name="T6" fmla="*/ 2 w 34"/>
                <a:gd name="T7" fmla="*/ 4 h 20"/>
                <a:gd name="T8" fmla="*/ 18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757" y="805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8 w 21"/>
                <a:gd name="T3" fmla="*/ 9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760" y="830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8 w 21"/>
                <a:gd name="T3" fmla="*/ 9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964" y="962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6 w 21"/>
                <a:gd name="T3" fmla="*/ 9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1088" y="478"/>
              <a:ext cx="38" cy="18"/>
            </a:xfrm>
            <a:custGeom>
              <a:avLst/>
              <a:gdLst>
                <a:gd name="T0" fmla="*/ 7 w 51"/>
                <a:gd name="T1" fmla="*/ 0 h 24"/>
                <a:gd name="T2" fmla="*/ 4 w 51"/>
                <a:gd name="T3" fmla="*/ 11 h 24"/>
                <a:gd name="T4" fmla="*/ 15 w 51"/>
                <a:gd name="T5" fmla="*/ 14 h 24"/>
                <a:gd name="T6" fmla="*/ 19 w 51"/>
                <a:gd name="T7" fmla="*/ 2 h 24"/>
                <a:gd name="T8" fmla="*/ 7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988" y="273"/>
              <a:ext cx="38" cy="18"/>
            </a:xfrm>
            <a:custGeom>
              <a:avLst/>
              <a:gdLst>
                <a:gd name="T0" fmla="*/ 7 w 51"/>
                <a:gd name="T1" fmla="*/ 0 h 24"/>
                <a:gd name="T2" fmla="*/ 4 w 51"/>
                <a:gd name="T3" fmla="*/ 11 h 24"/>
                <a:gd name="T4" fmla="*/ 15 w 51"/>
                <a:gd name="T5" fmla="*/ 14 h 24"/>
                <a:gd name="T6" fmla="*/ 19 w 51"/>
                <a:gd name="T7" fmla="*/ 2 h 24"/>
                <a:gd name="T8" fmla="*/ 7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053" y="94"/>
              <a:ext cx="39" cy="18"/>
            </a:xfrm>
            <a:custGeom>
              <a:avLst/>
              <a:gdLst>
                <a:gd name="T0" fmla="*/ 8 w 51"/>
                <a:gd name="T1" fmla="*/ 0 h 24"/>
                <a:gd name="T2" fmla="*/ 4 w 51"/>
                <a:gd name="T3" fmla="*/ 11 h 24"/>
                <a:gd name="T4" fmla="*/ 16 w 51"/>
                <a:gd name="T5" fmla="*/ 14 h 24"/>
                <a:gd name="T6" fmla="*/ 19 w 51"/>
                <a:gd name="T7" fmla="*/ 2 h 24"/>
                <a:gd name="T8" fmla="*/ 8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1116" y="202"/>
              <a:ext cx="38" cy="18"/>
            </a:xfrm>
            <a:custGeom>
              <a:avLst/>
              <a:gdLst>
                <a:gd name="T0" fmla="*/ 7 w 51"/>
                <a:gd name="T1" fmla="*/ 0 h 24"/>
                <a:gd name="T2" fmla="*/ 4 w 51"/>
                <a:gd name="T3" fmla="*/ 11 h 24"/>
                <a:gd name="T4" fmla="*/ 15 w 51"/>
                <a:gd name="T5" fmla="*/ 14 h 24"/>
                <a:gd name="T6" fmla="*/ 19 w 51"/>
                <a:gd name="T7" fmla="*/ 2 h 24"/>
                <a:gd name="T8" fmla="*/ 7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132" y="0"/>
              <a:ext cx="696" cy="346"/>
            </a:xfrm>
            <a:custGeom>
              <a:avLst/>
              <a:gdLst>
                <a:gd name="T0" fmla="*/ 16 w 929"/>
                <a:gd name="T1" fmla="*/ 31 h 462"/>
                <a:gd name="T2" fmla="*/ 3 w 929"/>
                <a:gd name="T3" fmla="*/ 52 h 462"/>
                <a:gd name="T4" fmla="*/ 20 w 929"/>
                <a:gd name="T5" fmla="*/ 56 h 462"/>
                <a:gd name="T6" fmla="*/ 9 w 929"/>
                <a:gd name="T7" fmla="*/ 65 h 462"/>
                <a:gd name="T8" fmla="*/ 58 w 929"/>
                <a:gd name="T9" fmla="*/ 76 h 462"/>
                <a:gd name="T10" fmla="*/ 79 w 929"/>
                <a:gd name="T11" fmla="*/ 73 h 462"/>
                <a:gd name="T12" fmla="*/ 140 w 929"/>
                <a:gd name="T13" fmla="*/ 43 h 462"/>
                <a:gd name="T14" fmla="*/ 169 w 929"/>
                <a:gd name="T15" fmla="*/ 37 h 462"/>
                <a:gd name="T16" fmla="*/ 182 w 929"/>
                <a:gd name="T17" fmla="*/ 45 h 462"/>
                <a:gd name="T18" fmla="*/ 153 w 929"/>
                <a:gd name="T19" fmla="*/ 49 h 462"/>
                <a:gd name="T20" fmla="*/ 136 w 929"/>
                <a:gd name="T21" fmla="*/ 63 h 462"/>
                <a:gd name="T22" fmla="*/ 142 w 929"/>
                <a:gd name="T23" fmla="*/ 67 h 462"/>
                <a:gd name="T24" fmla="*/ 146 w 929"/>
                <a:gd name="T25" fmla="*/ 88 h 462"/>
                <a:gd name="T26" fmla="*/ 196 w 929"/>
                <a:gd name="T27" fmla="*/ 108 h 462"/>
                <a:gd name="T28" fmla="*/ 189 w 929"/>
                <a:gd name="T29" fmla="*/ 118 h 462"/>
                <a:gd name="T30" fmla="*/ 207 w 929"/>
                <a:gd name="T31" fmla="*/ 138 h 462"/>
                <a:gd name="T32" fmla="*/ 196 w 929"/>
                <a:gd name="T33" fmla="*/ 149 h 462"/>
                <a:gd name="T34" fmla="*/ 182 w 929"/>
                <a:gd name="T35" fmla="*/ 165 h 462"/>
                <a:gd name="T36" fmla="*/ 165 w 929"/>
                <a:gd name="T37" fmla="*/ 182 h 462"/>
                <a:gd name="T38" fmla="*/ 164 w 929"/>
                <a:gd name="T39" fmla="*/ 236 h 462"/>
                <a:gd name="T40" fmla="*/ 187 w 929"/>
                <a:gd name="T41" fmla="*/ 250 h 462"/>
                <a:gd name="T42" fmla="*/ 218 w 929"/>
                <a:gd name="T43" fmla="*/ 252 h 462"/>
                <a:gd name="T44" fmla="*/ 232 w 929"/>
                <a:gd name="T45" fmla="*/ 237 h 462"/>
                <a:gd name="T46" fmla="*/ 284 w 929"/>
                <a:gd name="T47" fmla="*/ 200 h 462"/>
                <a:gd name="T48" fmla="*/ 321 w 929"/>
                <a:gd name="T49" fmla="*/ 187 h 462"/>
                <a:gd name="T50" fmla="*/ 363 w 929"/>
                <a:gd name="T51" fmla="*/ 173 h 462"/>
                <a:gd name="T52" fmla="*/ 404 w 929"/>
                <a:gd name="T53" fmla="*/ 163 h 462"/>
                <a:gd name="T54" fmla="*/ 428 w 929"/>
                <a:gd name="T55" fmla="*/ 146 h 462"/>
                <a:gd name="T56" fmla="*/ 449 w 929"/>
                <a:gd name="T57" fmla="*/ 112 h 462"/>
                <a:gd name="T58" fmla="*/ 450 w 929"/>
                <a:gd name="T59" fmla="*/ 86 h 462"/>
                <a:gd name="T60" fmla="*/ 450 w 929"/>
                <a:gd name="T61" fmla="*/ 70 h 462"/>
                <a:gd name="T62" fmla="*/ 467 w 929"/>
                <a:gd name="T63" fmla="*/ 50 h 462"/>
                <a:gd name="T64" fmla="*/ 491 w 929"/>
                <a:gd name="T65" fmla="*/ 52 h 462"/>
                <a:gd name="T66" fmla="*/ 518 w 929"/>
                <a:gd name="T67" fmla="*/ 29 h 462"/>
                <a:gd name="T68" fmla="*/ 498 w 929"/>
                <a:gd name="T69" fmla="*/ 31 h 462"/>
                <a:gd name="T70" fmla="*/ 476 w 929"/>
                <a:gd name="T71" fmla="*/ 25 h 462"/>
                <a:gd name="T72" fmla="*/ 446 w 929"/>
                <a:gd name="T73" fmla="*/ 12 h 462"/>
                <a:gd name="T74" fmla="*/ 360 w 929"/>
                <a:gd name="T75" fmla="*/ 14 h 462"/>
                <a:gd name="T76" fmla="*/ 328 w 929"/>
                <a:gd name="T77" fmla="*/ 21 h 462"/>
                <a:gd name="T78" fmla="*/ 312 w 929"/>
                <a:gd name="T79" fmla="*/ 21 h 462"/>
                <a:gd name="T80" fmla="*/ 290 w 929"/>
                <a:gd name="T81" fmla="*/ 30 h 462"/>
                <a:gd name="T82" fmla="*/ 268 w 929"/>
                <a:gd name="T83" fmla="*/ 16 h 462"/>
                <a:gd name="T84" fmla="*/ 243 w 929"/>
                <a:gd name="T85" fmla="*/ 22 h 462"/>
                <a:gd name="T86" fmla="*/ 205 w 929"/>
                <a:gd name="T87" fmla="*/ 29 h 462"/>
                <a:gd name="T88" fmla="*/ 230 w 929"/>
                <a:gd name="T89" fmla="*/ 21 h 462"/>
                <a:gd name="T90" fmla="*/ 198 w 929"/>
                <a:gd name="T91" fmla="*/ 4 h 462"/>
                <a:gd name="T92" fmla="*/ 187 w 929"/>
                <a:gd name="T93" fmla="*/ 1 h 462"/>
                <a:gd name="T94" fmla="*/ 176 w 929"/>
                <a:gd name="T95" fmla="*/ 4 h 462"/>
                <a:gd name="T96" fmla="*/ 135 w 929"/>
                <a:gd name="T97" fmla="*/ 9 h 462"/>
                <a:gd name="T98" fmla="*/ 90 w 929"/>
                <a:gd name="T99" fmla="*/ 16 h 462"/>
                <a:gd name="T100" fmla="*/ 61 w 929"/>
                <a:gd name="T101" fmla="*/ 14 h 462"/>
                <a:gd name="T102" fmla="*/ 64 w 929"/>
                <a:gd name="T103" fmla="*/ 38 h 462"/>
                <a:gd name="T104" fmla="*/ 58 w 929"/>
                <a:gd name="T105" fmla="*/ 29 h 462"/>
                <a:gd name="T106" fmla="*/ 34 w 929"/>
                <a:gd name="T107" fmla="*/ 23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1345" y="184"/>
              <a:ext cx="39" cy="24"/>
            </a:xfrm>
            <a:custGeom>
              <a:avLst/>
              <a:gdLst>
                <a:gd name="T0" fmla="*/ 20 w 52"/>
                <a:gd name="T1" fmla="*/ 0 h 32"/>
                <a:gd name="T2" fmla="*/ 5 w 52"/>
                <a:gd name="T3" fmla="*/ 11 h 32"/>
                <a:gd name="T4" fmla="*/ 14 w 52"/>
                <a:gd name="T5" fmla="*/ 18 h 32"/>
                <a:gd name="T6" fmla="*/ 24 w 52"/>
                <a:gd name="T7" fmla="*/ 17 h 32"/>
                <a:gd name="T8" fmla="*/ 20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1628" y="250"/>
              <a:ext cx="128" cy="54"/>
            </a:xfrm>
            <a:custGeom>
              <a:avLst/>
              <a:gdLst>
                <a:gd name="T0" fmla="*/ 57 w 172"/>
                <a:gd name="T1" fmla="*/ 5 h 72"/>
                <a:gd name="T2" fmla="*/ 36 w 172"/>
                <a:gd name="T3" fmla="*/ 2 h 72"/>
                <a:gd name="T4" fmla="*/ 30 w 172"/>
                <a:gd name="T5" fmla="*/ 0 h 72"/>
                <a:gd name="T6" fmla="*/ 0 w 172"/>
                <a:gd name="T7" fmla="*/ 16 h 72"/>
                <a:gd name="T8" fmla="*/ 16 w 172"/>
                <a:gd name="T9" fmla="*/ 23 h 72"/>
                <a:gd name="T10" fmla="*/ 23 w 172"/>
                <a:gd name="T11" fmla="*/ 34 h 72"/>
                <a:gd name="T12" fmla="*/ 36 w 172"/>
                <a:gd name="T13" fmla="*/ 38 h 72"/>
                <a:gd name="T14" fmla="*/ 43 w 172"/>
                <a:gd name="T15" fmla="*/ 41 h 72"/>
                <a:gd name="T16" fmla="*/ 72 w 172"/>
                <a:gd name="T17" fmla="*/ 34 h 72"/>
                <a:gd name="T18" fmla="*/ 95 w 172"/>
                <a:gd name="T19" fmla="*/ 25 h 72"/>
                <a:gd name="T20" fmla="*/ 82 w 172"/>
                <a:gd name="T21" fmla="*/ 11 h 72"/>
                <a:gd name="T22" fmla="*/ 75 w 172"/>
                <a:gd name="T23" fmla="*/ 2 h 72"/>
                <a:gd name="T24" fmla="*/ 57 w 172"/>
                <a:gd name="T25" fmla="*/ 5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729" y="87"/>
              <a:ext cx="39" cy="24"/>
            </a:xfrm>
            <a:custGeom>
              <a:avLst/>
              <a:gdLst>
                <a:gd name="T0" fmla="*/ 20 w 52"/>
                <a:gd name="T1" fmla="*/ 0 h 32"/>
                <a:gd name="T2" fmla="*/ 5 w 52"/>
                <a:gd name="T3" fmla="*/ 11 h 32"/>
                <a:gd name="T4" fmla="*/ 14 w 52"/>
                <a:gd name="T5" fmla="*/ 18 h 32"/>
                <a:gd name="T6" fmla="*/ 24 w 52"/>
                <a:gd name="T7" fmla="*/ 17 h 32"/>
                <a:gd name="T8" fmla="*/ 20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1998" y="55"/>
              <a:ext cx="155" cy="63"/>
            </a:xfrm>
            <a:custGeom>
              <a:avLst/>
              <a:gdLst>
                <a:gd name="T0" fmla="*/ 108 w 206"/>
                <a:gd name="T1" fmla="*/ 4 h 85"/>
                <a:gd name="T2" fmla="*/ 59 w 206"/>
                <a:gd name="T3" fmla="*/ 5 h 85"/>
                <a:gd name="T4" fmla="*/ 62 w 206"/>
                <a:gd name="T5" fmla="*/ 14 h 85"/>
                <a:gd name="T6" fmla="*/ 61 w 206"/>
                <a:gd name="T7" fmla="*/ 18 h 85"/>
                <a:gd name="T8" fmla="*/ 50 w 206"/>
                <a:gd name="T9" fmla="*/ 15 h 85"/>
                <a:gd name="T10" fmla="*/ 44 w 206"/>
                <a:gd name="T11" fmla="*/ 10 h 85"/>
                <a:gd name="T12" fmla="*/ 13 w 206"/>
                <a:gd name="T13" fmla="*/ 15 h 85"/>
                <a:gd name="T14" fmla="*/ 17 w 206"/>
                <a:gd name="T15" fmla="*/ 27 h 85"/>
                <a:gd name="T16" fmla="*/ 31 w 206"/>
                <a:gd name="T17" fmla="*/ 29 h 85"/>
                <a:gd name="T18" fmla="*/ 42 w 206"/>
                <a:gd name="T19" fmla="*/ 40 h 85"/>
                <a:gd name="T20" fmla="*/ 50 w 206"/>
                <a:gd name="T21" fmla="*/ 47 h 85"/>
                <a:gd name="T22" fmla="*/ 62 w 206"/>
                <a:gd name="T23" fmla="*/ 37 h 85"/>
                <a:gd name="T24" fmla="*/ 68 w 206"/>
                <a:gd name="T25" fmla="*/ 33 h 85"/>
                <a:gd name="T26" fmla="*/ 72 w 206"/>
                <a:gd name="T27" fmla="*/ 26 h 85"/>
                <a:gd name="T28" fmla="*/ 95 w 206"/>
                <a:gd name="T29" fmla="*/ 19 h 85"/>
                <a:gd name="T30" fmla="*/ 106 w 206"/>
                <a:gd name="T31" fmla="*/ 17 h 85"/>
                <a:gd name="T32" fmla="*/ 113 w 206"/>
                <a:gd name="T33" fmla="*/ 15 h 85"/>
                <a:gd name="T34" fmla="*/ 108 w 206"/>
                <a:gd name="T35" fmla="*/ 4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2095" y="88"/>
              <a:ext cx="48" cy="21"/>
            </a:xfrm>
            <a:custGeom>
              <a:avLst/>
              <a:gdLst>
                <a:gd name="T0" fmla="*/ 20 w 64"/>
                <a:gd name="T1" fmla="*/ 4 h 28"/>
                <a:gd name="T2" fmla="*/ 5 w 64"/>
                <a:gd name="T3" fmla="*/ 2 h 28"/>
                <a:gd name="T4" fmla="*/ 14 w 64"/>
                <a:gd name="T5" fmla="*/ 16 h 28"/>
                <a:gd name="T6" fmla="*/ 31 w 64"/>
                <a:gd name="T7" fmla="*/ 8 h 28"/>
                <a:gd name="T8" fmla="*/ 20 w 64"/>
                <a:gd name="T9" fmla="*/ 4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1803" y="360"/>
              <a:ext cx="109" cy="132"/>
            </a:xfrm>
            <a:custGeom>
              <a:avLst/>
              <a:gdLst>
                <a:gd name="T0" fmla="*/ 13 w 146"/>
                <a:gd name="T1" fmla="*/ 11 h 176"/>
                <a:gd name="T2" fmla="*/ 0 w 146"/>
                <a:gd name="T3" fmla="*/ 14 h 176"/>
                <a:gd name="T4" fmla="*/ 7 w 146"/>
                <a:gd name="T5" fmla="*/ 24 h 176"/>
                <a:gd name="T6" fmla="*/ 19 w 146"/>
                <a:gd name="T7" fmla="*/ 49 h 176"/>
                <a:gd name="T8" fmla="*/ 29 w 146"/>
                <a:gd name="T9" fmla="*/ 51 h 176"/>
                <a:gd name="T10" fmla="*/ 28 w 146"/>
                <a:gd name="T11" fmla="*/ 60 h 176"/>
                <a:gd name="T12" fmla="*/ 16 w 146"/>
                <a:gd name="T13" fmla="*/ 64 h 176"/>
                <a:gd name="T14" fmla="*/ 9 w 146"/>
                <a:gd name="T15" fmla="*/ 74 h 176"/>
                <a:gd name="T16" fmla="*/ 10 w 146"/>
                <a:gd name="T17" fmla="*/ 77 h 176"/>
                <a:gd name="T18" fmla="*/ 16 w 146"/>
                <a:gd name="T19" fmla="*/ 80 h 176"/>
                <a:gd name="T20" fmla="*/ 10 w 146"/>
                <a:gd name="T21" fmla="*/ 95 h 176"/>
                <a:gd name="T22" fmla="*/ 11 w 146"/>
                <a:gd name="T23" fmla="*/ 98 h 176"/>
                <a:gd name="T24" fmla="*/ 19 w 146"/>
                <a:gd name="T25" fmla="*/ 96 h 176"/>
                <a:gd name="T26" fmla="*/ 32 w 146"/>
                <a:gd name="T27" fmla="*/ 95 h 176"/>
                <a:gd name="T28" fmla="*/ 52 w 146"/>
                <a:gd name="T29" fmla="*/ 96 h 176"/>
                <a:gd name="T30" fmla="*/ 61 w 146"/>
                <a:gd name="T31" fmla="*/ 95 h 176"/>
                <a:gd name="T32" fmla="*/ 68 w 146"/>
                <a:gd name="T33" fmla="*/ 93 h 176"/>
                <a:gd name="T34" fmla="*/ 72 w 146"/>
                <a:gd name="T35" fmla="*/ 80 h 176"/>
                <a:gd name="T36" fmla="*/ 81 w 146"/>
                <a:gd name="T37" fmla="*/ 75 h 176"/>
                <a:gd name="T38" fmla="*/ 61 w 146"/>
                <a:gd name="T39" fmla="*/ 62 h 176"/>
                <a:gd name="T40" fmla="*/ 49 w 146"/>
                <a:gd name="T41" fmla="*/ 47 h 176"/>
                <a:gd name="T42" fmla="*/ 46 w 146"/>
                <a:gd name="T43" fmla="*/ 39 h 176"/>
                <a:gd name="T44" fmla="*/ 36 w 146"/>
                <a:gd name="T45" fmla="*/ 35 h 176"/>
                <a:gd name="T46" fmla="*/ 48 w 146"/>
                <a:gd name="T47" fmla="*/ 26 h 176"/>
                <a:gd name="T48" fmla="*/ 36 w 146"/>
                <a:gd name="T49" fmla="*/ 17 h 176"/>
                <a:gd name="T50" fmla="*/ 39 w 146"/>
                <a:gd name="T51" fmla="*/ 8 h 176"/>
                <a:gd name="T52" fmla="*/ 25 w 146"/>
                <a:gd name="T53" fmla="*/ 1 h 176"/>
                <a:gd name="T54" fmla="*/ 16 w 146"/>
                <a:gd name="T55" fmla="*/ 5 h 176"/>
                <a:gd name="T56" fmla="*/ 13 w 146"/>
                <a:gd name="T57" fmla="*/ 11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1749" y="408"/>
              <a:ext cx="69" cy="68"/>
            </a:xfrm>
            <a:custGeom>
              <a:avLst/>
              <a:gdLst>
                <a:gd name="T0" fmla="*/ 33 w 92"/>
                <a:gd name="T1" fmla="*/ 3 h 92"/>
                <a:gd name="T2" fmla="*/ 47 w 92"/>
                <a:gd name="T3" fmla="*/ 4 h 92"/>
                <a:gd name="T4" fmla="*/ 52 w 92"/>
                <a:gd name="T5" fmla="*/ 14 h 92"/>
                <a:gd name="T6" fmla="*/ 44 w 92"/>
                <a:gd name="T7" fmla="*/ 26 h 92"/>
                <a:gd name="T8" fmla="*/ 26 w 92"/>
                <a:gd name="T9" fmla="*/ 41 h 92"/>
                <a:gd name="T10" fmla="*/ 11 w 92"/>
                <a:gd name="T11" fmla="*/ 50 h 92"/>
                <a:gd name="T12" fmla="*/ 5 w 92"/>
                <a:gd name="T13" fmla="*/ 39 h 92"/>
                <a:gd name="T14" fmla="*/ 11 w 92"/>
                <a:gd name="T15" fmla="*/ 35 h 92"/>
                <a:gd name="T16" fmla="*/ 8 w 92"/>
                <a:gd name="T17" fmla="*/ 25 h 92"/>
                <a:gd name="T18" fmla="*/ 23 w 92"/>
                <a:gd name="T19" fmla="*/ 16 h 92"/>
                <a:gd name="T20" fmla="*/ 33 w 92"/>
                <a:gd name="T21" fmla="*/ 3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3435" y="1551"/>
              <a:ext cx="474" cy="495"/>
            </a:xfrm>
            <a:custGeom>
              <a:avLst/>
              <a:gdLst>
                <a:gd name="T0" fmla="*/ 119 w 633"/>
                <a:gd name="T1" fmla="*/ 6 h 660"/>
                <a:gd name="T2" fmla="*/ 99 w 633"/>
                <a:gd name="T3" fmla="*/ 11 h 660"/>
                <a:gd name="T4" fmla="*/ 81 w 633"/>
                <a:gd name="T5" fmla="*/ 29 h 660"/>
                <a:gd name="T6" fmla="*/ 58 w 633"/>
                <a:gd name="T7" fmla="*/ 33 h 660"/>
                <a:gd name="T8" fmla="*/ 47 w 633"/>
                <a:gd name="T9" fmla="*/ 42 h 660"/>
                <a:gd name="T10" fmla="*/ 38 w 633"/>
                <a:gd name="T11" fmla="*/ 65 h 660"/>
                <a:gd name="T12" fmla="*/ 20 w 633"/>
                <a:gd name="T13" fmla="*/ 94 h 660"/>
                <a:gd name="T14" fmla="*/ 0 w 633"/>
                <a:gd name="T15" fmla="*/ 101 h 660"/>
                <a:gd name="T16" fmla="*/ 40 w 633"/>
                <a:gd name="T17" fmla="*/ 182 h 660"/>
                <a:gd name="T18" fmla="*/ 67 w 633"/>
                <a:gd name="T19" fmla="*/ 240 h 660"/>
                <a:gd name="T20" fmla="*/ 81 w 633"/>
                <a:gd name="T21" fmla="*/ 249 h 660"/>
                <a:gd name="T22" fmla="*/ 94 w 633"/>
                <a:gd name="T23" fmla="*/ 254 h 660"/>
                <a:gd name="T24" fmla="*/ 128 w 633"/>
                <a:gd name="T25" fmla="*/ 242 h 660"/>
                <a:gd name="T26" fmla="*/ 142 w 633"/>
                <a:gd name="T27" fmla="*/ 238 h 660"/>
                <a:gd name="T28" fmla="*/ 168 w 633"/>
                <a:gd name="T29" fmla="*/ 254 h 660"/>
                <a:gd name="T30" fmla="*/ 182 w 633"/>
                <a:gd name="T31" fmla="*/ 296 h 660"/>
                <a:gd name="T32" fmla="*/ 189 w 633"/>
                <a:gd name="T33" fmla="*/ 294 h 660"/>
                <a:gd name="T34" fmla="*/ 193 w 633"/>
                <a:gd name="T35" fmla="*/ 287 h 660"/>
                <a:gd name="T36" fmla="*/ 207 w 633"/>
                <a:gd name="T37" fmla="*/ 308 h 660"/>
                <a:gd name="T38" fmla="*/ 227 w 633"/>
                <a:gd name="T39" fmla="*/ 321 h 660"/>
                <a:gd name="T40" fmla="*/ 244 w 633"/>
                <a:gd name="T41" fmla="*/ 339 h 660"/>
                <a:gd name="T42" fmla="*/ 249 w 633"/>
                <a:gd name="T43" fmla="*/ 346 h 660"/>
                <a:gd name="T44" fmla="*/ 255 w 633"/>
                <a:gd name="T45" fmla="*/ 350 h 660"/>
                <a:gd name="T46" fmla="*/ 271 w 633"/>
                <a:gd name="T47" fmla="*/ 368 h 660"/>
                <a:gd name="T48" fmla="*/ 276 w 633"/>
                <a:gd name="T49" fmla="*/ 355 h 660"/>
                <a:gd name="T50" fmla="*/ 303 w 633"/>
                <a:gd name="T51" fmla="*/ 371 h 660"/>
                <a:gd name="T52" fmla="*/ 329 w 633"/>
                <a:gd name="T53" fmla="*/ 368 h 660"/>
                <a:gd name="T54" fmla="*/ 345 w 633"/>
                <a:gd name="T55" fmla="*/ 299 h 660"/>
                <a:gd name="T56" fmla="*/ 354 w 633"/>
                <a:gd name="T57" fmla="*/ 260 h 660"/>
                <a:gd name="T58" fmla="*/ 347 w 633"/>
                <a:gd name="T59" fmla="*/ 206 h 660"/>
                <a:gd name="T60" fmla="*/ 300 w 633"/>
                <a:gd name="T61" fmla="*/ 152 h 660"/>
                <a:gd name="T62" fmla="*/ 296 w 633"/>
                <a:gd name="T63" fmla="*/ 132 h 660"/>
                <a:gd name="T64" fmla="*/ 258 w 633"/>
                <a:gd name="T65" fmla="*/ 101 h 660"/>
                <a:gd name="T66" fmla="*/ 264 w 633"/>
                <a:gd name="T67" fmla="*/ 87 h 660"/>
                <a:gd name="T68" fmla="*/ 255 w 633"/>
                <a:gd name="T69" fmla="*/ 74 h 660"/>
                <a:gd name="T70" fmla="*/ 234 w 633"/>
                <a:gd name="T71" fmla="*/ 44 h 660"/>
                <a:gd name="T72" fmla="*/ 220 w 633"/>
                <a:gd name="T73" fmla="*/ 17 h 660"/>
                <a:gd name="T74" fmla="*/ 218 w 633"/>
                <a:gd name="T75" fmla="*/ 11 h 660"/>
                <a:gd name="T76" fmla="*/ 204 w 633"/>
                <a:gd name="T77" fmla="*/ 85 h 660"/>
                <a:gd name="T78" fmla="*/ 182 w 633"/>
                <a:gd name="T79" fmla="*/ 65 h 660"/>
                <a:gd name="T80" fmla="*/ 164 w 633"/>
                <a:gd name="T81" fmla="*/ 62 h 660"/>
                <a:gd name="T82" fmla="*/ 153 w 633"/>
                <a:gd name="T83" fmla="*/ 49 h 660"/>
                <a:gd name="T84" fmla="*/ 148 w 633"/>
                <a:gd name="T85" fmla="*/ 35 h 660"/>
                <a:gd name="T86" fmla="*/ 155 w 633"/>
                <a:gd name="T87" fmla="*/ 31 h 660"/>
                <a:gd name="T88" fmla="*/ 135 w 633"/>
                <a:gd name="T89" fmla="*/ 11 h 660"/>
                <a:gd name="T90" fmla="*/ 121 w 633"/>
                <a:gd name="T91" fmla="*/ 6 h 660"/>
                <a:gd name="T92" fmla="*/ 115 w 633"/>
                <a:gd name="T93" fmla="*/ 4 h 660"/>
                <a:gd name="T94" fmla="*/ 119 w 633"/>
                <a:gd name="T95" fmla="*/ 6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3582" y="1290"/>
              <a:ext cx="319" cy="210"/>
            </a:xfrm>
            <a:custGeom>
              <a:avLst/>
              <a:gdLst>
                <a:gd name="T0" fmla="*/ 47 w 426"/>
                <a:gd name="T1" fmla="*/ 34 h 280"/>
                <a:gd name="T2" fmla="*/ 38 w 426"/>
                <a:gd name="T3" fmla="*/ 20 h 280"/>
                <a:gd name="T4" fmla="*/ 36 w 426"/>
                <a:gd name="T5" fmla="*/ 9 h 280"/>
                <a:gd name="T6" fmla="*/ 29 w 426"/>
                <a:gd name="T7" fmla="*/ 7 h 280"/>
                <a:gd name="T8" fmla="*/ 9 w 426"/>
                <a:gd name="T9" fmla="*/ 9 h 280"/>
                <a:gd name="T10" fmla="*/ 25 w 426"/>
                <a:gd name="T11" fmla="*/ 23 h 280"/>
                <a:gd name="T12" fmla="*/ 27 w 426"/>
                <a:gd name="T13" fmla="*/ 29 h 280"/>
                <a:gd name="T14" fmla="*/ 13 w 426"/>
                <a:gd name="T15" fmla="*/ 38 h 280"/>
                <a:gd name="T16" fmla="*/ 49 w 426"/>
                <a:gd name="T17" fmla="*/ 52 h 280"/>
                <a:gd name="T18" fmla="*/ 70 w 426"/>
                <a:gd name="T19" fmla="*/ 63 h 280"/>
                <a:gd name="T20" fmla="*/ 72 w 426"/>
                <a:gd name="T21" fmla="*/ 70 h 280"/>
                <a:gd name="T22" fmla="*/ 79 w 426"/>
                <a:gd name="T23" fmla="*/ 74 h 280"/>
                <a:gd name="T24" fmla="*/ 83 w 426"/>
                <a:gd name="T25" fmla="*/ 88 h 280"/>
                <a:gd name="T26" fmla="*/ 74 w 426"/>
                <a:gd name="T27" fmla="*/ 110 h 280"/>
                <a:gd name="T28" fmla="*/ 101 w 426"/>
                <a:gd name="T29" fmla="*/ 106 h 280"/>
                <a:gd name="T30" fmla="*/ 108 w 426"/>
                <a:gd name="T31" fmla="*/ 122 h 280"/>
                <a:gd name="T32" fmla="*/ 121 w 426"/>
                <a:gd name="T33" fmla="*/ 126 h 280"/>
                <a:gd name="T34" fmla="*/ 128 w 426"/>
                <a:gd name="T35" fmla="*/ 128 h 280"/>
                <a:gd name="T36" fmla="*/ 142 w 426"/>
                <a:gd name="T37" fmla="*/ 126 h 280"/>
                <a:gd name="T38" fmla="*/ 155 w 426"/>
                <a:gd name="T39" fmla="*/ 110 h 280"/>
                <a:gd name="T40" fmla="*/ 189 w 426"/>
                <a:gd name="T41" fmla="*/ 142 h 280"/>
                <a:gd name="T42" fmla="*/ 204 w 426"/>
                <a:gd name="T43" fmla="*/ 158 h 280"/>
                <a:gd name="T44" fmla="*/ 202 w 426"/>
                <a:gd name="T45" fmla="*/ 126 h 280"/>
                <a:gd name="T46" fmla="*/ 189 w 426"/>
                <a:gd name="T47" fmla="*/ 113 h 280"/>
                <a:gd name="T48" fmla="*/ 209 w 426"/>
                <a:gd name="T49" fmla="*/ 95 h 280"/>
                <a:gd name="T50" fmla="*/ 229 w 426"/>
                <a:gd name="T51" fmla="*/ 88 h 280"/>
                <a:gd name="T52" fmla="*/ 236 w 426"/>
                <a:gd name="T53" fmla="*/ 86 h 280"/>
                <a:gd name="T54" fmla="*/ 238 w 426"/>
                <a:gd name="T55" fmla="*/ 79 h 280"/>
                <a:gd name="T56" fmla="*/ 200 w 426"/>
                <a:gd name="T57" fmla="*/ 83 h 280"/>
                <a:gd name="T58" fmla="*/ 171 w 426"/>
                <a:gd name="T59" fmla="*/ 79 h 280"/>
                <a:gd name="T60" fmla="*/ 168 w 426"/>
                <a:gd name="T61" fmla="*/ 72 h 280"/>
                <a:gd name="T62" fmla="*/ 164 w 426"/>
                <a:gd name="T63" fmla="*/ 65 h 280"/>
                <a:gd name="T64" fmla="*/ 124 w 426"/>
                <a:gd name="T65" fmla="*/ 45 h 280"/>
                <a:gd name="T66" fmla="*/ 90 w 426"/>
                <a:gd name="T67" fmla="*/ 34 h 280"/>
                <a:gd name="T68" fmla="*/ 76 w 426"/>
                <a:gd name="T69" fmla="*/ 29 h 280"/>
                <a:gd name="T70" fmla="*/ 45 w 426"/>
                <a:gd name="T71" fmla="*/ 29 h 280"/>
                <a:gd name="T72" fmla="*/ 38 w 426"/>
                <a:gd name="T73" fmla="*/ 18 h 280"/>
                <a:gd name="T74" fmla="*/ 38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3591" y="1292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11 w 416"/>
                <a:gd name="T3" fmla="*/ 21 h 282"/>
                <a:gd name="T4" fmla="*/ 16 w 416"/>
                <a:gd name="T5" fmla="*/ 28 h 282"/>
                <a:gd name="T6" fmla="*/ 47 w 416"/>
                <a:gd name="T7" fmla="*/ 50 h 282"/>
                <a:gd name="T8" fmla="*/ 67 w 416"/>
                <a:gd name="T9" fmla="*/ 64 h 282"/>
                <a:gd name="T10" fmla="*/ 74 w 416"/>
                <a:gd name="T11" fmla="*/ 68 h 282"/>
                <a:gd name="T12" fmla="*/ 76 w 416"/>
                <a:gd name="T13" fmla="*/ 94 h 282"/>
                <a:gd name="T14" fmla="*/ 65 w 416"/>
                <a:gd name="T15" fmla="*/ 112 h 282"/>
                <a:gd name="T16" fmla="*/ 76 w 416"/>
                <a:gd name="T17" fmla="*/ 110 h 282"/>
                <a:gd name="T18" fmla="*/ 83 w 416"/>
                <a:gd name="T19" fmla="*/ 106 h 282"/>
                <a:gd name="T20" fmla="*/ 90 w 416"/>
                <a:gd name="T21" fmla="*/ 112 h 282"/>
                <a:gd name="T22" fmla="*/ 103 w 416"/>
                <a:gd name="T23" fmla="*/ 121 h 282"/>
                <a:gd name="T24" fmla="*/ 117 w 416"/>
                <a:gd name="T25" fmla="*/ 130 h 282"/>
                <a:gd name="T26" fmla="*/ 134 w 416"/>
                <a:gd name="T27" fmla="*/ 123 h 282"/>
                <a:gd name="T28" fmla="*/ 138 w 416"/>
                <a:gd name="T29" fmla="*/ 110 h 282"/>
                <a:gd name="T30" fmla="*/ 150 w 416"/>
                <a:gd name="T31" fmla="*/ 112 h 282"/>
                <a:gd name="T32" fmla="*/ 163 w 416"/>
                <a:gd name="T33" fmla="*/ 117 h 282"/>
                <a:gd name="T34" fmla="*/ 190 w 416"/>
                <a:gd name="T35" fmla="*/ 157 h 282"/>
                <a:gd name="T36" fmla="*/ 199 w 416"/>
                <a:gd name="T37" fmla="*/ 155 h 282"/>
                <a:gd name="T38" fmla="*/ 197 w 416"/>
                <a:gd name="T39" fmla="*/ 141 h 282"/>
                <a:gd name="T40" fmla="*/ 176 w 416"/>
                <a:gd name="T41" fmla="*/ 110 h 282"/>
                <a:gd name="T42" fmla="*/ 201 w 416"/>
                <a:gd name="T43" fmla="*/ 97 h 282"/>
                <a:gd name="T44" fmla="*/ 228 w 416"/>
                <a:gd name="T45" fmla="*/ 81 h 282"/>
                <a:gd name="T46" fmla="*/ 229 w 416"/>
                <a:gd name="T47" fmla="*/ 67 h 282"/>
                <a:gd name="T48" fmla="*/ 205 w 416"/>
                <a:gd name="T49" fmla="*/ 77 h 282"/>
                <a:gd name="T50" fmla="*/ 172 w 416"/>
                <a:gd name="T51" fmla="*/ 77 h 282"/>
                <a:gd name="T52" fmla="*/ 147 w 416"/>
                <a:gd name="T53" fmla="*/ 55 h 282"/>
                <a:gd name="T54" fmla="*/ 101 w 416"/>
                <a:gd name="T55" fmla="*/ 34 h 282"/>
                <a:gd name="T56" fmla="*/ 74 w 416"/>
                <a:gd name="T57" fmla="*/ 19 h 282"/>
                <a:gd name="T58" fmla="*/ 52 w 416"/>
                <a:gd name="T59" fmla="*/ 23 h 282"/>
                <a:gd name="T60" fmla="*/ 43 w 416"/>
                <a:gd name="T61" fmla="*/ 32 h 282"/>
                <a:gd name="T62" fmla="*/ 31 w 416"/>
                <a:gd name="T63" fmla="*/ 10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3821" y="2062"/>
              <a:ext cx="45" cy="58"/>
            </a:xfrm>
            <a:custGeom>
              <a:avLst/>
              <a:gdLst>
                <a:gd name="T0" fmla="*/ 18 w 60"/>
                <a:gd name="T1" fmla="*/ 10 h 78"/>
                <a:gd name="T2" fmla="*/ 0 w 60"/>
                <a:gd name="T3" fmla="*/ 10 h 78"/>
                <a:gd name="T4" fmla="*/ 11 w 60"/>
                <a:gd name="T5" fmla="*/ 23 h 78"/>
                <a:gd name="T6" fmla="*/ 16 w 60"/>
                <a:gd name="T7" fmla="*/ 36 h 78"/>
                <a:gd name="T8" fmla="*/ 18 w 60"/>
                <a:gd name="T9" fmla="*/ 43 h 78"/>
                <a:gd name="T10" fmla="*/ 34 w 60"/>
                <a:gd name="T11" fmla="*/ 28 h 78"/>
                <a:gd name="T12" fmla="*/ 18 w 60"/>
                <a:gd name="T13" fmla="*/ 1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3957" y="1972"/>
              <a:ext cx="164" cy="85"/>
            </a:xfrm>
            <a:custGeom>
              <a:avLst/>
              <a:gdLst>
                <a:gd name="T0" fmla="*/ 26 w 219"/>
                <a:gd name="T1" fmla="*/ 41 h 113"/>
                <a:gd name="T2" fmla="*/ 22 w 219"/>
                <a:gd name="T3" fmla="*/ 35 h 113"/>
                <a:gd name="T4" fmla="*/ 8 w 219"/>
                <a:gd name="T5" fmla="*/ 39 h 113"/>
                <a:gd name="T6" fmla="*/ 22 w 219"/>
                <a:gd name="T7" fmla="*/ 64 h 113"/>
                <a:gd name="T8" fmla="*/ 69 w 219"/>
                <a:gd name="T9" fmla="*/ 50 h 113"/>
                <a:gd name="T10" fmla="*/ 82 w 219"/>
                <a:gd name="T11" fmla="*/ 41 h 113"/>
                <a:gd name="T12" fmla="*/ 96 w 219"/>
                <a:gd name="T13" fmla="*/ 37 h 113"/>
                <a:gd name="T14" fmla="*/ 123 w 219"/>
                <a:gd name="T15" fmla="*/ 11 h 113"/>
                <a:gd name="T16" fmla="*/ 118 w 219"/>
                <a:gd name="T17" fmla="*/ 0 h 113"/>
                <a:gd name="T18" fmla="*/ 100 w 219"/>
                <a:gd name="T19" fmla="*/ 10 h 113"/>
                <a:gd name="T20" fmla="*/ 60 w 219"/>
                <a:gd name="T21" fmla="*/ 23 h 113"/>
                <a:gd name="T22" fmla="*/ 46 w 219"/>
                <a:gd name="T23" fmla="*/ 26 h 113"/>
                <a:gd name="T24" fmla="*/ 33 w 219"/>
                <a:gd name="T25" fmla="*/ 30 h 113"/>
                <a:gd name="T26" fmla="*/ 26 w 219"/>
                <a:gd name="T27" fmla="*/ 41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4127" y="1922"/>
              <a:ext cx="104" cy="92"/>
            </a:xfrm>
            <a:custGeom>
              <a:avLst/>
              <a:gdLst>
                <a:gd name="T0" fmla="*/ 7 w 139"/>
                <a:gd name="T1" fmla="*/ 34 h 122"/>
                <a:gd name="T2" fmla="*/ 4 w 139"/>
                <a:gd name="T3" fmla="*/ 48 h 122"/>
                <a:gd name="T4" fmla="*/ 0 w 139"/>
                <a:gd name="T5" fmla="*/ 61 h 122"/>
                <a:gd name="T6" fmla="*/ 20 w 139"/>
                <a:gd name="T7" fmla="*/ 66 h 122"/>
                <a:gd name="T8" fmla="*/ 29 w 139"/>
                <a:gd name="T9" fmla="*/ 54 h 122"/>
                <a:gd name="T10" fmla="*/ 70 w 139"/>
                <a:gd name="T11" fmla="*/ 38 h 122"/>
                <a:gd name="T12" fmla="*/ 76 w 139"/>
                <a:gd name="T13" fmla="*/ 25 h 122"/>
                <a:gd name="T14" fmla="*/ 63 w 139"/>
                <a:gd name="T15" fmla="*/ 16 h 122"/>
                <a:gd name="T16" fmla="*/ 56 w 139"/>
                <a:gd name="T17" fmla="*/ 11 h 122"/>
                <a:gd name="T18" fmla="*/ 36 w 139"/>
                <a:gd name="T19" fmla="*/ 7 h 122"/>
                <a:gd name="T20" fmla="*/ 29 w 139"/>
                <a:gd name="T21" fmla="*/ 20 h 122"/>
                <a:gd name="T22" fmla="*/ 7 w 139"/>
                <a:gd name="T23" fmla="*/ 34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4182" y="1881"/>
              <a:ext cx="37" cy="26"/>
            </a:xfrm>
            <a:custGeom>
              <a:avLst/>
              <a:gdLst>
                <a:gd name="T0" fmla="*/ 17 w 49"/>
                <a:gd name="T1" fmla="*/ 0 h 35"/>
                <a:gd name="T2" fmla="*/ 5 w 49"/>
                <a:gd name="T3" fmla="*/ 6 h 35"/>
                <a:gd name="T4" fmla="*/ 14 w 49"/>
                <a:gd name="T5" fmla="*/ 19 h 35"/>
                <a:gd name="T6" fmla="*/ 22 w 49"/>
                <a:gd name="T7" fmla="*/ 14 h 35"/>
                <a:gd name="T8" fmla="*/ 17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2459" y="1395"/>
              <a:ext cx="123" cy="201"/>
            </a:xfrm>
            <a:custGeom>
              <a:avLst/>
              <a:gdLst>
                <a:gd name="T0" fmla="*/ 72 w 164"/>
                <a:gd name="T1" fmla="*/ 0 h 268"/>
                <a:gd name="T2" fmla="*/ 59 w 164"/>
                <a:gd name="T3" fmla="*/ 16 h 268"/>
                <a:gd name="T4" fmla="*/ 50 w 164"/>
                <a:gd name="T5" fmla="*/ 36 h 268"/>
                <a:gd name="T6" fmla="*/ 20 w 164"/>
                <a:gd name="T7" fmla="*/ 47 h 268"/>
                <a:gd name="T8" fmla="*/ 16 w 164"/>
                <a:gd name="T9" fmla="*/ 54 h 268"/>
                <a:gd name="T10" fmla="*/ 9 w 164"/>
                <a:gd name="T11" fmla="*/ 56 h 268"/>
                <a:gd name="T12" fmla="*/ 11 w 164"/>
                <a:gd name="T13" fmla="*/ 74 h 268"/>
                <a:gd name="T14" fmla="*/ 16 w 164"/>
                <a:gd name="T15" fmla="*/ 88 h 268"/>
                <a:gd name="T16" fmla="*/ 0 w 164"/>
                <a:gd name="T17" fmla="*/ 113 h 268"/>
                <a:gd name="T18" fmla="*/ 16 w 164"/>
                <a:gd name="T19" fmla="*/ 146 h 268"/>
                <a:gd name="T20" fmla="*/ 29 w 164"/>
                <a:gd name="T21" fmla="*/ 151 h 268"/>
                <a:gd name="T22" fmla="*/ 50 w 164"/>
                <a:gd name="T23" fmla="*/ 122 h 268"/>
                <a:gd name="T24" fmla="*/ 59 w 164"/>
                <a:gd name="T25" fmla="*/ 108 h 268"/>
                <a:gd name="T26" fmla="*/ 72 w 164"/>
                <a:gd name="T27" fmla="*/ 65 h 268"/>
                <a:gd name="T28" fmla="*/ 79 w 164"/>
                <a:gd name="T29" fmla="*/ 43 h 268"/>
                <a:gd name="T30" fmla="*/ 92 w 164"/>
                <a:gd name="T31" fmla="*/ 41 h 268"/>
                <a:gd name="T32" fmla="*/ 72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2991" y="1083"/>
              <a:ext cx="49" cy="61"/>
            </a:xfrm>
            <a:custGeom>
              <a:avLst/>
              <a:gdLst>
                <a:gd name="T0" fmla="*/ 16 w 66"/>
                <a:gd name="T1" fmla="*/ 0 h 81"/>
                <a:gd name="T2" fmla="*/ 14 w 66"/>
                <a:gd name="T3" fmla="*/ 34 h 81"/>
                <a:gd name="T4" fmla="*/ 16 w 66"/>
                <a:gd name="T5" fmla="*/ 43 h 81"/>
                <a:gd name="T6" fmla="*/ 22 w 66"/>
                <a:gd name="T7" fmla="*/ 45 h 81"/>
                <a:gd name="T8" fmla="*/ 31 w 66"/>
                <a:gd name="T9" fmla="*/ 43 h 81"/>
                <a:gd name="T10" fmla="*/ 16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3324" y="1149"/>
              <a:ext cx="111" cy="183"/>
            </a:xfrm>
            <a:custGeom>
              <a:avLst/>
              <a:gdLst>
                <a:gd name="T0" fmla="*/ 54 w 148"/>
                <a:gd name="T1" fmla="*/ 0 h 244"/>
                <a:gd name="T2" fmla="*/ 34 w 148"/>
                <a:gd name="T3" fmla="*/ 47 h 244"/>
                <a:gd name="T4" fmla="*/ 20 w 148"/>
                <a:gd name="T5" fmla="*/ 52 h 244"/>
                <a:gd name="T6" fmla="*/ 7 w 148"/>
                <a:gd name="T7" fmla="*/ 61 h 244"/>
                <a:gd name="T8" fmla="*/ 23 w 148"/>
                <a:gd name="T9" fmla="*/ 106 h 244"/>
                <a:gd name="T10" fmla="*/ 29 w 148"/>
                <a:gd name="T11" fmla="*/ 126 h 244"/>
                <a:gd name="T12" fmla="*/ 34 w 148"/>
                <a:gd name="T13" fmla="*/ 133 h 244"/>
                <a:gd name="T14" fmla="*/ 47 w 148"/>
                <a:gd name="T15" fmla="*/ 137 h 244"/>
                <a:gd name="T16" fmla="*/ 54 w 148"/>
                <a:gd name="T17" fmla="*/ 110 h 244"/>
                <a:gd name="T18" fmla="*/ 70 w 148"/>
                <a:gd name="T19" fmla="*/ 95 h 244"/>
                <a:gd name="T20" fmla="*/ 63 w 148"/>
                <a:gd name="T21" fmla="*/ 38 h 244"/>
                <a:gd name="T22" fmla="*/ 79 w 148"/>
                <a:gd name="T23" fmla="*/ 27 h 244"/>
                <a:gd name="T24" fmla="*/ 63 w 148"/>
                <a:gd name="T25" fmla="*/ 11 h 244"/>
                <a:gd name="T26" fmla="*/ 54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3230" y="1092"/>
              <a:ext cx="72" cy="137"/>
            </a:xfrm>
            <a:custGeom>
              <a:avLst/>
              <a:gdLst>
                <a:gd name="T0" fmla="*/ 27 w 96"/>
                <a:gd name="T1" fmla="*/ 1 h 183"/>
                <a:gd name="T2" fmla="*/ 29 w 96"/>
                <a:gd name="T3" fmla="*/ 19 h 183"/>
                <a:gd name="T4" fmla="*/ 34 w 96"/>
                <a:gd name="T5" fmla="*/ 34 h 183"/>
                <a:gd name="T6" fmla="*/ 35 w 96"/>
                <a:gd name="T7" fmla="*/ 52 h 183"/>
                <a:gd name="T8" fmla="*/ 38 w 96"/>
                <a:gd name="T9" fmla="*/ 59 h 183"/>
                <a:gd name="T10" fmla="*/ 40 w 96"/>
                <a:gd name="T11" fmla="*/ 70 h 183"/>
                <a:gd name="T12" fmla="*/ 32 w 96"/>
                <a:gd name="T13" fmla="*/ 52 h 183"/>
                <a:gd name="T14" fmla="*/ 20 w 96"/>
                <a:gd name="T15" fmla="*/ 43 h 183"/>
                <a:gd name="T16" fmla="*/ 3 w 96"/>
                <a:gd name="T17" fmla="*/ 46 h 183"/>
                <a:gd name="T18" fmla="*/ 5 w 96"/>
                <a:gd name="T19" fmla="*/ 57 h 183"/>
                <a:gd name="T20" fmla="*/ 23 w 96"/>
                <a:gd name="T21" fmla="*/ 64 h 183"/>
                <a:gd name="T22" fmla="*/ 32 w 96"/>
                <a:gd name="T23" fmla="*/ 76 h 183"/>
                <a:gd name="T24" fmla="*/ 40 w 96"/>
                <a:gd name="T25" fmla="*/ 76 h 183"/>
                <a:gd name="T26" fmla="*/ 44 w 96"/>
                <a:gd name="T27" fmla="*/ 84 h 183"/>
                <a:gd name="T28" fmla="*/ 54 w 96"/>
                <a:gd name="T29" fmla="*/ 100 h 183"/>
                <a:gd name="T30" fmla="*/ 46 w 96"/>
                <a:gd name="T31" fmla="*/ 70 h 183"/>
                <a:gd name="T32" fmla="*/ 45 w 96"/>
                <a:gd name="T33" fmla="*/ 52 h 183"/>
                <a:gd name="T34" fmla="*/ 40 w 96"/>
                <a:gd name="T35" fmla="*/ 35 h 183"/>
                <a:gd name="T36" fmla="*/ 35 w 96"/>
                <a:gd name="T37" fmla="*/ 23 h 183"/>
                <a:gd name="T38" fmla="*/ 32 w 96"/>
                <a:gd name="T39" fmla="*/ 11 h 183"/>
                <a:gd name="T40" fmla="*/ 27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3279" y="1202"/>
              <a:ext cx="40" cy="131"/>
            </a:xfrm>
            <a:custGeom>
              <a:avLst/>
              <a:gdLst>
                <a:gd name="T0" fmla="*/ 3 w 54"/>
                <a:gd name="T1" fmla="*/ 0 h 175"/>
                <a:gd name="T2" fmla="*/ 0 w 54"/>
                <a:gd name="T3" fmla="*/ 14 h 175"/>
                <a:gd name="T4" fmla="*/ 5 w 54"/>
                <a:gd name="T5" fmla="*/ 30 h 175"/>
                <a:gd name="T6" fmla="*/ 10 w 54"/>
                <a:gd name="T7" fmla="*/ 52 h 175"/>
                <a:gd name="T8" fmla="*/ 19 w 54"/>
                <a:gd name="T9" fmla="*/ 73 h 175"/>
                <a:gd name="T10" fmla="*/ 30 w 54"/>
                <a:gd name="T11" fmla="*/ 98 h 175"/>
                <a:gd name="T12" fmla="*/ 22 w 54"/>
                <a:gd name="T13" fmla="*/ 64 h 175"/>
                <a:gd name="T14" fmla="*/ 19 w 54"/>
                <a:gd name="T15" fmla="*/ 52 h 175"/>
                <a:gd name="T16" fmla="*/ 16 w 54"/>
                <a:gd name="T17" fmla="*/ 34 h 175"/>
                <a:gd name="T18" fmla="*/ 14 w 54"/>
                <a:gd name="T19" fmla="*/ 25 h 175"/>
                <a:gd name="T20" fmla="*/ 9 w 54"/>
                <a:gd name="T21" fmla="*/ 21 h 175"/>
                <a:gd name="T22" fmla="*/ 3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3324" y="1339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5 w 86"/>
                <a:gd name="T3" fmla="*/ 18 h 73"/>
                <a:gd name="T4" fmla="*/ 13 w 86"/>
                <a:gd name="T5" fmla="*/ 24 h 73"/>
                <a:gd name="T6" fmla="*/ 27 w 86"/>
                <a:gd name="T7" fmla="*/ 27 h 73"/>
                <a:gd name="T8" fmla="*/ 36 w 86"/>
                <a:gd name="T9" fmla="*/ 31 h 73"/>
                <a:gd name="T10" fmla="*/ 42 w 86"/>
                <a:gd name="T11" fmla="*/ 36 h 73"/>
                <a:gd name="T12" fmla="*/ 49 w 86"/>
                <a:gd name="T13" fmla="*/ 38 h 73"/>
                <a:gd name="T14" fmla="*/ 41 w 86"/>
                <a:gd name="T15" fmla="*/ 21 h 73"/>
                <a:gd name="T16" fmla="*/ 36 w 86"/>
                <a:gd name="T17" fmla="*/ 12 h 73"/>
                <a:gd name="T18" fmla="*/ 20 w 86"/>
                <a:gd name="T19" fmla="*/ 13 h 73"/>
                <a:gd name="T20" fmla="*/ 14 w 86"/>
                <a:gd name="T21" fmla="*/ 10 h 73"/>
                <a:gd name="T22" fmla="*/ 4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2" name="未知"/>
            <p:cNvSpPr>
              <a:spLocks/>
            </p:cNvSpPr>
            <p:nvPr/>
          </p:nvSpPr>
          <p:spPr bwMode="auto">
            <a:xfrm>
              <a:off x="3428" y="1244"/>
              <a:ext cx="83" cy="117"/>
            </a:xfrm>
            <a:custGeom>
              <a:avLst/>
              <a:gdLst>
                <a:gd name="T0" fmla="*/ 55 w 111"/>
                <a:gd name="T1" fmla="*/ 0 h 156"/>
                <a:gd name="T2" fmla="*/ 42 w 111"/>
                <a:gd name="T3" fmla="*/ 6 h 156"/>
                <a:gd name="T4" fmla="*/ 13 w 111"/>
                <a:gd name="T5" fmla="*/ 8 h 156"/>
                <a:gd name="T6" fmla="*/ 7 w 111"/>
                <a:gd name="T7" fmla="*/ 19 h 156"/>
                <a:gd name="T8" fmla="*/ 6 w 111"/>
                <a:gd name="T9" fmla="*/ 35 h 156"/>
                <a:gd name="T10" fmla="*/ 7 w 111"/>
                <a:gd name="T11" fmla="*/ 42 h 156"/>
                <a:gd name="T12" fmla="*/ 1 w 111"/>
                <a:gd name="T13" fmla="*/ 50 h 156"/>
                <a:gd name="T14" fmla="*/ 7 w 111"/>
                <a:gd name="T15" fmla="*/ 62 h 156"/>
                <a:gd name="T16" fmla="*/ 13 w 111"/>
                <a:gd name="T17" fmla="*/ 70 h 156"/>
                <a:gd name="T18" fmla="*/ 8 w 111"/>
                <a:gd name="T19" fmla="*/ 81 h 156"/>
                <a:gd name="T20" fmla="*/ 13 w 111"/>
                <a:gd name="T21" fmla="*/ 88 h 156"/>
                <a:gd name="T22" fmla="*/ 23 w 111"/>
                <a:gd name="T23" fmla="*/ 81 h 156"/>
                <a:gd name="T24" fmla="*/ 28 w 111"/>
                <a:gd name="T25" fmla="*/ 53 h 156"/>
                <a:gd name="T26" fmla="*/ 31 w 111"/>
                <a:gd name="T27" fmla="*/ 71 h 156"/>
                <a:gd name="T28" fmla="*/ 37 w 111"/>
                <a:gd name="T29" fmla="*/ 82 h 156"/>
                <a:gd name="T30" fmla="*/ 34 w 111"/>
                <a:gd name="T31" fmla="*/ 63 h 156"/>
                <a:gd name="T32" fmla="*/ 40 w 111"/>
                <a:gd name="T33" fmla="*/ 41 h 156"/>
                <a:gd name="T34" fmla="*/ 39 w 111"/>
                <a:gd name="T35" fmla="*/ 29 h 156"/>
                <a:gd name="T36" fmla="*/ 30 w 111"/>
                <a:gd name="T37" fmla="*/ 34 h 156"/>
                <a:gd name="T38" fmla="*/ 19 w 111"/>
                <a:gd name="T39" fmla="*/ 31 h 156"/>
                <a:gd name="T40" fmla="*/ 23 w 111"/>
                <a:gd name="T41" fmla="*/ 20 h 156"/>
                <a:gd name="T42" fmla="*/ 34 w 111"/>
                <a:gd name="T43" fmla="*/ 20 h 156"/>
                <a:gd name="T44" fmla="*/ 43 w 111"/>
                <a:gd name="T45" fmla="*/ 22 h 156"/>
                <a:gd name="T46" fmla="*/ 55 w 111"/>
                <a:gd name="T47" fmla="*/ 17 h 156"/>
                <a:gd name="T48" fmla="*/ 62 w 111"/>
                <a:gd name="T49" fmla="*/ 8 h 156"/>
                <a:gd name="T50" fmla="*/ 55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3" name="未知"/>
            <p:cNvSpPr>
              <a:spLocks/>
            </p:cNvSpPr>
            <p:nvPr/>
          </p:nvSpPr>
          <p:spPr bwMode="auto">
            <a:xfrm>
              <a:off x="3400" y="826"/>
              <a:ext cx="22" cy="71"/>
            </a:xfrm>
            <a:custGeom>
              <a:avLst/>
              <a:gdLst>
                <a:gd name="T0" fmla="*/ 7 w 30"/>
                <a:gd name="T1" fmla="*/ 0 h 94"/>
                <a:gd name="T2" fmla="*/ 0 w 30"/>
                <a:gd name="T3" fmla="*/ 9 h 94"/>
                <a:gd name="T4" fmla="*/ 3 w 30"/>
                <a:gd name="T5" fmla="*/ 21 h 94"/>
                <a:gd name="T6" fmla="*/ 1 w 30"/>
                <a:gd name="T7" fmla="*/ 35 h 94"/>
                <a:gd name="T8" fmla="*/ 9 w 30"/>
                <a:gd name="T9" fmla="*/ 54 h 94"/>
                <a:gd name="T10" fmla="*/ 16 w 30"/>
                <a:gd name="T11" fmla="*/ 47 h 94"/>
                <a:gd name="T12" fmla="*/ 12 w 30"/>
                <a:gd name="T13" fmla="*/ 35 h 94"/>
                <a:gd name="T14" fmla="*/ 7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3414" y="945"/>
              <a:ext cx="61" cy="118"/>
            </a:xfrm>
            <a:custGeom>
              <a:avLst/>
              <a:gdLst>
                <a:gd name="T0" fmla="*/ 7 w 81"/>
                <a:gd name="T1" fmla="*/ 1 h 158"/>
                <a:gd name="T2" fmla="*/ 0 w 81"/>
                <a:gd name="T3" fmla="*/ 11 h 158"/>
                <a:gd name="T4" fmla="*/ 5 w 81"/>
                <a:gd name="T5" fmla="*/ 28 h 158"/>
                <a:gd name="T6" fmla="*/ 4 w 81"/>
                <a:gd name="T7" fmla="*/ 60 h 158"/>
                <a:gd name="T8" fmla="*/ 10 w 81"/>
                <a:gd name="T9" fmla="*/ 58 h 158"/>
                <a:gd name="T10" fmla="*/ 11 w 81"/>
                <a:gd name="T11" fmla="*/ 64 h 158"/>
                <a:gd name="T12" fmla="*/ 17 w 81"/>
                <a:gd name="T13" fmla="*/ 68 h 158"/>
                <a:gd name="T14" fmla="*/ 22 w 81"/>
                <a:gd name="T15" fmla="*/ 78 h 158"/>
                <a:gd name="T16" fmla="*/ 27 w 81"/>
                <a:gd name="T17" fmla="*/ 72 h 158"/>
                <a:gd name="T18" fmla="*/ 37 w 81"/>
                <a:gd name="T19" fmla="*/ 75 h 158"/>
                <a:gd name="T20" fmla="*/ 35 w 81"/>
                <a:gd name="T21" fmla="*/ 60 h 158"/>
                <a:gd name="T22" fmla="*/ 27 w 81"/>
                <a:gd name="T23" fmla="*/ 58 h 158"/>
                <a:gd name="T24" fmla="*/ 22 w 81"/>
                <a:gd name="T25" fmla="*/ 51 h 158"/>
                <a:gd name="T26" fmla="*/ 19 w 81"/>
                <a:gd name="T27" fmla="*/ 41 h 158"/>
                <a:gd name="T28" fmla="*/ 23 w 81"/>
                <a:gd name="T29" fmla="*/ 30 h 158"/>
                <a:gd name="T30" fmla="*/ 20 w 81"/>
                <a:gd name="T31" fmla="*/ 19 h 158"/>
                <a:gd name="T32" fmla="*/ 24 w 81"/>
                <a:gd name="T33" fmla="*/ 11 h 158"/>
                <a:gd name="T34" fmla="*/ 17 w 81"/>
                <a:gd name="T35" fmla="*/ 2 h 158"/>
                <a:gd name="T36" fmla="*/ 11 w 81"/>
                <a:gd name="T37" fmla="*/ 4 h 158"/>
                <a:gd name="T38" fmla="*/ 7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3457" y="1101"/>
              <a:ext cx="64" cy="79"/>
            </a:xfrm>
            <a:custGeom>
              <a:avLst/>
              <a:gdLst>
                <a:gd name="T0" fmla="*/ 29 w 85"/>
                <a:gd name="T1" fmla="*/ 0 h 105"/>
                <a:gd name="T2" fmla="*/ 25 w 85"/>
                <a:gd name="T3" fmla="*/ 11 h 105"/>
                <a:gd name="T4" fmla="*/ 18 w 85"/>
                <a:gd name="T5" fmla="*/ 17 h 105"/>
                <a:gd name="T6" fmla="*/ 9 w 85"/>
                <a:gd name="T7" fmla="*/ 20 h 105"/>
                <a:gd name="T8" fmla="*/ 5 w 85"/>
                <a:gd name="T9" fmla="*/ 27 h 105"/>
                <a:gd name="T10" fmla="*/ 2 w 85"/>
                <a:gd name="T11" fmla="*/ 42 h 105"/>
                <a:gd name="T12" fmla="*/ 8 w 85"/>
                <a:gd name="T13" fmla="*/ 40 h 105"/>
                <a:gd name="T14" fmla="*/ 14 w 85"/>
                <a:gd name="T15" fmla="*/ 35 h 105"/>
                <a:gd name="T16" fmla="*/ 20 w 85"/>
                <a:gd name="T17" fmla="*/ 39 h 105"/>
                <a:gd name="T18" fmla="*/ 33 w 85"/>
                <a:gd name="T19" fmla="*/ 56 h 105"/>
                <a:gd name="T20" fmla="*/ 40 w 85"/>
                <a:gd name="T21" fmla="*/ 41 h 105"/>
                <a:gd name="T22" fmla="*/ 48 w 85"/>
                <a:gd name="T23" fmla="*/ 38 h 105"/>
                <a:gd name="T24" fmla="*/ 42 w 85"/>
                <a:gd name="T25" fmla="*/ 22 h 105"/>
                <a:gd name="T26" fmla="*/ 29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3533" y="1242"/>
              <a:ext cx="29" cy="49"/>
            </a:xfrm>
            <a:custGeom>
              <a:avLst/>
              <a:gdLst>
                <a:gd name="T0" fmla="*/ 4 w 38"/>
                <a:gd name="T1" fmla="*/ 15 h 66"/>
                <a:gd name="T2" fmla="*/ 15 w 38"/>
                <a:gd name="T3" fmla="*/ 36 h 66"/>
                <a:gd name="T4" fmla="*/ 18 w 38"/>
                <a:gd name="T5" fmla="*/ 29 h 66"/>
                <a:gd name="T6" fmla="*/ 22 w 38"/>
                <a:gd name="T7" fmla="*/ 22 h 66"/>
                <a:gd name="T8" fmla="*/ 18 w 38"/>
                <a:gd name="T9" fmla="*/ 14 h 66"/>
                <a:gd name="T10" fmla="*/ 11 w 38"/>
                <a:gd name="T11" fmla="*/ 7 h 66"/>
                <a:gd name="T12" fmla="*/ 6 w 38"/>
                <a:gd name="T13" fmla="*/ 1 h 66"/>
                <a:gd name="T14" fmla="*/ 2 w 38"/>
                <a:gd name="T15" fmla="*/ 7 h 66"/>
                <a:gd name="T16" fmla="*/ 4 w 38"/>
                <a:gd name="T17" fmla="*/ 15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3517" y="1324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4 w 24"/>
                <a:gd name="T3" fmla="*/ 13 h 23"/>
                <a:gd name="T4" fmla="*/ 14 w 24"/>
                <a:gd name="T5" fmla="*/ 6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3544" y="1314"/>
              <a:ext cx="45" cy="37"/>
            </a:xfrm>
            <a:custGeom>
              <a:avLst/>
              <a:gdLst>
                <a:gd name="T0" fmla="*/ 5 w 60"/>
                <a:gd name="T1" fmla="*/ 0 h 49"/>
                <a:gd name="T2" fmla="*/ 0 w 60"/>
                <a:gd name="T3" fmla="*/ 11 h 49"/>
                <a:gd name="T4" fmla="*/ 16 w 60"/>
                <a:gd name="T5" fmla="*/ 19 h 49"/>
                <a:gd name="T6" fmla="*/ 24 w 60"/>
                <a:gd name="T7" fmla="*/ 26 h 49"/>
                <a:gd name="T8" fmla="*/ 34 w 60"/>
                <a:gd name="T9" fmla="*/ 24 h 49"/>
                <a:gd name="T10" fmla="*/ 28 w 60"/>
                <a:gd name="T11" fmla="*/ 14 h 49"/>
                <a:gd name="T12" fmla="*/ 16 w 60"/>
                <a:gd name="T13" fmla="*/ 2 h 49"/>
                <a:gd name="T14" fmla="*/ 11 w 60"/>
                <a:gd name="T15" fmla="*/ 9 h 49"/>
                <a:gd name="T16" fmla="*/ 5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3613" y="1384"/>
              <a:ext cx="24" cy="33"/>
            </a:xfrm>
            <a:custGeom>
              <a:avLst/>
              <a:gdLst>
                <a:gd name="T0" fmla="*/ 16 w 32"/>
                <a:gd name="T1" fmla="*/ 0 h 44"/>
                <a:gd name="T2" fmla="*/ 6 w 32"/>
                <a:gd name="T3" fmla="*/ 6 h 44"/>
                <a:gd name="T4" fmla="*/ 7 w 32"/>
                <a:gd name="T5" fmla="*/ 18 h 44"/>
                <a:gd name="T6" fmla="*/ 14 w 32"/>
                <a:gd name="T7" fmla="*/ 20 h 44"/>
                <a:gd name="T8" fmla="*/ 16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3880" y="1342"/>
              <a:ext cx="46" cy="47"/>
            </a:xfrm>
            <a:custGeom>
              <a:avLst/>
              <a:gdLst>
                <a:gd name="T0" fmla="*/ 4 w 61"/>
                <a:gd name="T1" fmla="*/ 0 h 63"/>
                <a:gd name="T2" fmla="*/ 0 w 61"/>
                <a:gd name="T3" fmla="*/ 7 h 63"/>
                <a:gd name="T4" fmla="*/ 14 w 61"/>
                <a:gd name="T5" fmla="*/ 19 h 63"/>
                <a:gd name="T6" fmla="*/ 20 w 61"/>
                <a:gd name="T7" fmla="*/ 30 h 63"/>
                <a:gd name="T8" fmla="*/ 26 w 61"/>
                <a:gd name="T9" fmla="*/ 35 h 63"/>
                <a:gd name="T10" fmla="*/ 35 w 61"/>
                <a:gd name="T11" fmla="*/ 31 h 63"/>
                <a:gd name="T12" fmla="*/ 19 w 61"/>
                <a:gd name="T13" fmla="*/ 10 h 63"/>
                <a:gd name="T14" fmla="*/ 4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3483" y="1401"/>
              <a:ext cx="46" cy="50"/>
            </a:xfrm>
            <a:custGeom>
              <a:avLst/>
              <a:gdLst>
                <a:gd name="T0" fmla="*/ 16 w 61"/>
                <a:gd name="T1" fmla="*/ 4 h 67"/>
                <a:gd name="T2" fmla="*/ 17 w 61"/>
                <a:gd name="T3" fmla="*/ 19 h 67"/>
                <a:gd name="T4" fmla="*/ 9 w 61"/>
                <a:gd name="T5" fmla="*/ 24 h 67"/>
                <a:gd name="T6" fmla="*/ 13 w 61"/>
                <a:gd name="T7" fmla="*/ 37 h 67"/>
                <a:gd name="T8" fmla="*/ 27 w 61"/>
                <a:gd name="T9" fmla="*/ 32 h 67"/>
                <a:gd name="T10" fmla="*/ 34 w 61"/>
                <a:gd name="T11" fmla="*/ 26 h 67"/>
                <a:gd name="T12" fmla="*/ 29 w 61"/>
                <a:gd name="T13" fmla="*/ 16 h 67"/>
                <a:gd name="T14" fmla="*/ 32 w 61"/>
                <a:gd name="T15" fmla="*/ 7 h 67"/>
                <a:gd name="T16" fmla="*/ 31 w 61"/>
                <a:gd name="T17" fmla="*/ 1 h 67"/>
                <a:gd name="T18" fmla="*/ 26 w 61"/>
                <a:gd name="T19" fmla="*/ 2 h 67"/>
                <a:gd name="T20" fmla="*/ 29 w 61"/>
                <a:gd name="T21" fmla="*/ 3 h 67"/>
                <a:gd name="T22" fmla="*/ 28 w 61"/>
                <a:gd name="T23" fmla="*/ 9 h 67"/>
                <a:gd name="T24" fmla="*/ 24 w 61"/>
                <a:gd name="T25" fmla="*/ 13 h 67"/>
                <a:gd name="T26" fmla="*/ 16 w 61"/>
                <a:gd name="T27" fmla="*/ 4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3434" y="1420"/>
              <a:ext cx="32" cy="27"/>
            </a:xfrm>
            <a:custGeom>
              <a:avLst/>
              <a:gdLst>
                <a:gd name="T0" fmla="*/ 12 w 43"/>
                <a:gd name="T1" fmla="*/ 2 h 36"/>
                <a:gd name="T2" fmla="*/ 3 w 43"/>
                <a:gd name="T3" fmla="*/ 4 h 36"/>
                <a:gd name="T4" fmla="*/ 19 w 43"/>
                <a:gd name="T5" fmla="*/ 20 h 36"/>
                <a:gd name="T6" fmla="*/ 23 w 43"/>
                <a:gd name="T7" fmla="*/ 17 h 36"/>
                <a:gd name="T8" fmla="*/ 12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3413" y="1391"/>
              <a:ext cx="24" cy="31"/>
            </a:xfrm>
            <a:custGeom>
              <a:avLst/>
              <a:gdLst>
                <a:gd name="T0" fmla="*/ 12 w 32"/>
                <a:gd name="T1" fmla="*/ 0 h 41"/>
                <a:gd name="T2" fmla="*/ 0 w 32"/>
                <a:gd name="T3" fmla="*/ 15 h 41"/>
                <a:gd name="T4" fmla="*/ 9 w 32"/>
                <a:gd name="T5" fmla="*/ 14 h 41"/>
                <a:gd name="T6" fmla="*/ 11 w 32"/>
                <a:gd name="T7" fmla="*/ 17 h 41"/>
                <a:gd name="T8" fmla="*/ 9 w 32"/>
                <a:gd name="T9" fmla="*/ 20 h 41"/>
                <a:gd name="T10" fmla="*/ 17 w 32"/>
                <a:gd name="T11" fmla="*/ 12 h 41"/>
                <a:gd name="T12" fmla="*/ 14 w 32"/>
                <a:gd name="T13" fmla="*/ 5 h 41"/>
                <a:gd name="T14" fmla="*/ 1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4" name="未知"/>
            <p:cNvSpPr>
              <a:spLocks/>
            </p:cNvSpPr>
            <p:nvPr/>
          </p:nvSpPr>
          <p:spPr bwMode="auto">
            <a:xfrm>
              <a:off x="3447" y="1402"/>
              <a:ext cx="34" cy="24"/>
            </a:xfrm>
            <a:custGeom>
              <a:avLst/>
              <a:gdLst>
                <a:gd name="T0" fmla="*/ 12 w 45"/>
                <a:gd name="T1" fmla="*/ 0 h 32"/>
                <a:gd name="T2" fmla="*/ 0 w 45"/>
                <a:gd name="T3" fmla="*/ 4 h 32"/>
                <a:gd name="T4" fmla="*/ 15 w 45"/>
                <a:gd name="T5" fmla="*/ 17 h 32"/>
                <a:gd name="T6" fmla="*/ 26 w 45"/>
                <a:gd name="T7" fmla="*/ 14 h 32"/>
                <a:gd name="T8" fmla="*/ 13 w 45"/>
                <a:gd name="T9" fmla="*/ 6 h 32"/>
                <a:gd name="T10" fmla="*/ 12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5" name="未知"/>
            <p:cNvSpPr>
              <a:spLocks/>
            </p:cNvSpPr>
            <p:nvPr/>
          </p:nvSpPr>
          <p:spPr bwMode="auto">
            <a:xfrm>
              <a:off x="3398" y="1070"/>
              <a:ext cx="27" cy="55"/>
            </a:xfrm>
            <a:custGeom>
              <a:avLst/>
              <a:gdLst>
                <a:gd name="T0" fmla="*/ 18 w 35"/>
                <a:gd name="T1" fmla="*/ 0 h 74"/>
                <a:gd name="T2" fmla="*/ 12 w 35"/>
                <a:gd name="T3" fmla="*/ 8 h 74"/>
                <a:gd name="T4" fmla="*/ 5 w 35"/>
                <a:gd name="T5" fmla="*/ 20 h 74"/>
                <a:gd name="T6" fmla="*/ 0 w 35"/>
                <a:gd name="T7" fmla="*/ 33 h 74"/>
                <a:gd name="T8" fmla="*/ 5 w 35"/>
                <a:gd name="T9" fmla="*/ 41 h 74"/>
                <a:gd name="T10" fmla="*/ 12 w 35"/>
                <a:gd name="T11" fmla="*/ 33 h 74"/>
                <a:gd name="T12" fmla="*/ 21 w 35"/>
                <a:gd name="T13" fmla="*/ 18 h 74"/>
                <a:gd name="T14" fmla="*/ 18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3449" y="1061"/>
              <a:ext cx="19" cy="55"/>
            </a:xfrm>
            <a:custGeom>
              <a:avLst/>
              <a:gdLst>
                <a:gd name="T0" fmla="*/ 8 w 25"/>
                <a:gd name="T1" fmla="*/ 4 h 73"/>
                <a:gd name="T2" fmla="*/ 2 w 25"/>
                <a:gd name="T3" fmla="*/ 5 h 73"/>
                <a:gd name="T4" fmla="*/ 0 w 25"/>
                <a:gd name="T5" fmla="*/ 13 h 73"/>
                <a:gd name="T6" fmla="*/ 8 w 25"/>
                <a:gd name="T7" fmla="*/ 23 h 73"/>
                <a:gd name="T8" fmla="*/ 14 w 25"/>
                <a:gd name="T9" fmla="*/ 32 h 73"/>
                <a:gd name="T10" fmla="*/ 9 w 25"/>
                <a:gd name="T11" fmla="*/ 11 h 73"/>
                <a:gd name="T12" fmla="*/ 8 w 25"/>
                <a:gd name="T13" fmla="*/ 4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3471" y="1044"/>
              <a:ext cx="10" cy="25"/>
            </a:xfrm>
            <a:custGeom>
              <a:avLst/>
              <a:gdLst>
                <a:gd name="T0" fmla="*/ 6 w 14"/>
                <a:gd name="T1" fmla="*/ 0 h 33"/>
                <a:gd name="T2" fmla="*/ 1 w 14"/>
                <a:gd name="T3" fmla="*/ 6 h 33"/>
                <a:gd name="T4" fmla="*/ 6 w 14"/>
                <a:gd name="T5" fmla="*/ 14 h 33"/>
                <a:gd name="T6" fmla="*/ 6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3481" y="1056"/>
              <a:ext cx="21" cy="48"/>
            </a:xfrm>
            <a:custGeom>
              <a:avLst/>
              <a:gdLst>
                <a:gd name="T0" fmla="*/ 3 w 28"/>
                <a:gd name="T1" fmla="*/ 0 h 64"/>
                <a:gd name="T2" fmla="*/ 6 w 28"/>
                <a:gd name="T3" fmla="*/ 8 h 64"/>
                <a:gd name="T4" fmla="*/ 11 w 28"/>
                <a:gd name="T5" fmla="*/ 12 h 64"/>
                <a:gd name="T6" fmla="*/ 5 w 28"/>
                <a:gd name="T7" fmla="*/ 22 h 64"/>
                <a:gd name="T8" fmla="*/ 0 w 28"/>
                <a:gd name="T9" fmla="*/ 32 h 64"/>
                <a:gd name="T10" fmla="*/ 6 w 28"/>
                <a:gd name="T11" fmla="*/ 32 h 64"/>
                <a:gd name="T12" fmla="*/ 15 w 28"/>
                <a:gd name="T13" fmla="*/ 15 h 64"/>
                <a:gd name="T14" fmla="*/ 3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3212" y="1125"/>
              <a:ext cx="12" cy="27"/>
            </a:xfrm>
            <a:custGeom>
              <a:avLst/>
              <a:gdLst>
                <a:gd name="T0" fmla="*/ 8 w 16"/>
                <a:gd name="T1" fmla="*/ 2 h 36"/>
                <a:gd name="T2" fmla="*/ 0 w 16"/>
                <a:gd name="T3" fmla="*/ 4 h 36"/>
                <a:gd name="T4" fmla="*/ 5 w 16"/>
                <a:gd name="T5" fmla="*/ 13 h 36"/>
                <a:gd name="T6" fmla="*/ 8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3202" y="1102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3198" y="1084"/>
              <a:ext cx="12" cy="14"/>
            </a:xfrm>
            <a:custGeom>
              <a:avLst/>
              <a:gdLst>
                <a:gd name="T0" fmla="*/ 6 w 16"/>
                <a:gd name="T1" fmla="*/ 3 h 19"/>
                <a:gd name="T2" fmla="*/ 0 w 16"/>
                <a:gd name="T3" fmla="*/ 5 h 19"/>
                <a:gd name="T4" fmla="*/ 7 w 16"/>
                <a:gd name="T5" fmla="*/ 10 h 19"/>
                <a:gd name="T6" fmla="*/ 6 w 16"/>
                <a:gd name="T7" fmla="*/ 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3186" y="1044"/>
              <a:ext cx="11" cy="19"/>
            </a:xfrm>
            <a:custGeom>
              <a:avLst/>
              <a:gdLst>
                <a:gd name="T0" fmla="*/ 4 w 14"/>
                <a:gd name="T1" fmla="*/ 0 h 25"/>
                <a:gd name="T2" fmla="*/ 0 w 14"/>
                <a:gd name="T3" fmla="*/ 8 h 25"/>
                <a:gd name="T4" fmla="*/ 7 w 14"/>
                <a:gd name="T5" fmla="*/ 14 h 25"/>
                <a:gd name="T6" fmla="*/ 4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3188" y="1069"/>
              <a:ext cx="16" cy="13"/>
            </a:xfrm>
            <a:custGeom>
              <a:avLst/>
              <a:gdLst>
                <a:gd name="T0" fmla="*/ 7 w 22"/>
                <a:gd name="T1" fmla="*/ 0 h 18"/>
                <a:gd name="T2" fmla="*/ 10 w 22"/>
                <a:gd name="T3" fmla="*/ 9 h 18"/>
                <a:gd name="T4" fmla="*/ 7 w 22"/>
                <a:gd name="T5" fmla="*/ 3 h 18"/>
                <a:gd name="T6" fmla="*/ 7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4024" y="1692"/>
              <a:ext cx="45" cy="60"/>
            </a:xfrm>
            <a:custGeom>
              <a:avLst/>
              <a:gdLst>
                <a:gd name="T0" fmla="*/ 6 w 60"/>
                <a:gd name="T1" fmla="*/ 4 h 81"/>
                <a:gd name="T2" fmla="*/ 2 w 60"/>
                <a:gd name="T3" fmla="*/ 10 h 81"/>
                <a:gd name="T4" fmla="*/ 8 w 60"/>
                <a:gd name="T5" fmla="*/ 21 h 81"/>
                <a:gd name="T6" fmla="*/ 15 w 60"/>
                <a:gd name="T7" fmla="*/ 30 h 81"/>
                <a:gd name="T8" fmla="*/ 23 w 60"/>
                <a:gd name="T9" fmla="*/ 35 h 81"/>
                <a:gd name="T10" fmla="*/ 29 w 60"/>
                <a:gd name="T11" fmla="*/ 44 h 81"/>
                <a:gd name="T12" fmla="*/ 29 w 60"/>
                <a:gd name="T13" fmla="*/ 31 h 81"/>
                <a:gd name="T14" fmla="*/ 24 w 60"/>
                <a:gd name="T15" fmla="*/ 20 h 81"/>
                <a:gd name="T16" fmla="*/ 14 w 60"/>
                <a:gd name="T17" fmla="*/ 10 h 81"/>
                <a:gd name="T18" fmla="*/ 6 w 60"/>
                <a:gd name="T19" fmla="*/ 4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4255" y="1643"/>
              <a:ext cx="53" cy="46"/>
            </a:xfrm>
            <a:custGeom>
              <a:avLst/>
              <a:gdLst>
                <a:gd name="T0" fmla="*/ 16 w 71"/>
                <a:gd name="T1" fmla="*/ 13 h 61"/>
                <a:gd name="T2" fmla="*/ 7 w 71"/>
                <a:gd name="T3" fmla="*/ 18 h 61"/>
                <a:gd name="T4" fmla="*/ 1 w 71"/>
                <a:gd name="T5" fmla="*/ 25 h 61"/>
                <a:gd name="T6" fmla="*/ 7 w 71"/>
                <a:gd name="T7" fmla="*/ 33 h 61"/>
                <a:gd name="T8" fmla="*/ 16 w 71"/>
                <a:gd name="T9" fmla="*/ 25 h 61"/>
                <a:gd name="T10" fmla="*/ 22 w 71"/>
                <a:gd name="T11" fmla="*/ 13 h 61"/>
                <a:gd name="T12" fmla="*/ 31 w 71"/>
                <a:gd name="T13" fmla="*/ 0 h 61"/>
                <a:gd name="T14" fmla="*/ 40 w 71"/>
                <a:gd name="T15" fmla="*/ 6 h 61"/>
                <a:gd name="T16" fmla="*/ 19 w 71"/>
                <a:gd name="T17" fmla="*/ 13 h 61"/>
                <a:gd name="T18" fmla="*/ 16 w 71"/>
                <a:gd name="T19" fmla="*/ 13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6" name="未知"/>
            <p:cNvSpPr>
              <a:spLocks/>
            </p:cNvSpPr>
            <p:nvPr/>
          </p:nvSpPr>
          <p:spPr bwMode="auto">
            <a:xfrm>
              <a:off x="4095" y="1618"/>
              <a:ext cx="17" cy="23"/>
            </a:xfrm>
            <a:custGeom>
              <a:avLst/>
              <a:gdLst>
                <a:gd name="T0" fmla="*/ 5 w 23"/>
                <a:gd name="T1" fmla="*/ 0 h 30"/>
                <a:gd name="T2" fmla="*/ 0 w 23"/>
                <a:gd name="T3" fmla="*/ 8 h 30"/>
                <a:gd name="T4" fmla="*/ 7 w 23"/>
                <a:gd name="T5" fmla="*/ 18 h 30"/>
                <a:gd name="T6" fmla="*/ 5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7" name="未知"/>
            <p:cNvSpPr>
              <a:spLocks/>
            </p:cNvSpPr>
            <p:nvPr/>
          </p:nvSpPr>
          <p:spPr bwMode="auto">
            <a:xfrm>
              <a:off x="4087" y="1596"/>
              <a:ext cx="20" cy="17"/>
            </a:xfrm>
            <a:custGeom>
              <a:avLst/>
              <a:gdLst>
                <a:gd name="T0" fmla="*/ 12 w 26"/>
                <a:gd name="T1" fmla="*/ 0 h 23"/>
                <a:gd name="T2" fmla="*/ 0 w 26"/>
                <a:gd name="T3" fmla="*/ 7 h 23"/>
                <a:gd name="T4" fmla="*/ 12 w 26"/>
                <a:gd name="T5" fmla="*/ 11 h 23"/>
                <a:gd name="T6" fmla="*/ 12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3934" y="1402"/>
              <a:ext cx="24" cy="33"/>
            </a:xfrm>
            <a:custGeom>
              <a:avLst/>
              <a:gdLst>
                <a:gd name="T0" fmla="*/ 16 w 32"/>
                <a:gd name="T1" fmla="*/ 0 h 44"/>
                <a:gd name="T2" fmla="*/ 6 w 32"/>
                <a:gd name="T3" fmla="*/ 6 h 44"/>
                <a:gd name="T4" fmla="*/ 7 w 32"/>
                <a:gd name="T5" fmla="*/ 18 h 44"/>
                <a:gd name="T6" fmla="*/ 14 w 32"/>
                <a:gd name="T7" fmla="*/ 20 h 44"/>
                <a:gd name="T8" fmla="*/ 16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3968" y="1445"/>
              <a:ext cx="26" cy="33"/>
            </a:xfrm>
            <a:custGeom>
              <a:avLst/>
              <a:gdLst>
                <a:gd name="T0" fmla="*/ 18 w 34"/>
                <a:gd name="T1" fmla="*/ 0 h 44"/>
                <a:gd name="T2" fmla="*/ 6 w 34"/>
                <a:gd name="T3" fmla="*/ 5 h 44"/>
                <a:gd name="T4" fmla="*/ 8 w 34"/>
                <a:gd name="T5" fmla="*/ 18 h 44"/>
                <a:gd name="T6" fmla="*/ 15 w 34"/>
                <a:gd name="T7" fmla="*/ 20 h 44"/>
                <a:gd name="T8" fmla="*/ 18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3995" y="1508"/>
              <a:ext cx="28" cy="28"/>
            </a:xfrm>
            <a:custGeom>
              <a:avLst/>
              <a:gdLst>
                <a:gd name="T0" fmla="*/ 18 w 38"/>
                <a:gd name="T1" fmla="*/ 2 h 37"/>
                <a:gd name="T2" fmla="*/ 5 w 38"/>
                <a:gd name="T3" fmla="*/ 2 h 37"/>
                <a:gd name="T4" fmla="*/ 7 w 38"/>
                <a:gd name="T5" fmla="*/ 14 h 37"/>
                <a:gd name="T6" fmla="*/ 14 w 38"/>
                <a:gd name="T7" fmla="*/ 17 h 37"/>
                <a:gd name="T8" fmla="*/ 18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4029" y="1498"/>
              <a:ext cx="28" cy="26"/>
            </a:xfrm>
            <a:custGeom>
              <a:avLst/>
              <a:gdLst>
                <a:gd name="T0" fmla="*/ 18 w 38"/>
                <a:gd name="T1" fmla="*/ 2 h 34"/>
                <a:gd name="T2" fmla="*/ 5 w 38"/>
                <a:gd name="T3" fmla="*/ 2 h 34"/>
                <a:gd name="T4" fmla="*/ 9 w 38"/>
                <a:gd name="T5" fmla="*/ 13 h 34"/>
                <a:gd name="T6" fmla="*/ 15 w 38"/>
                <a:gd name="T7" fmla="*/ 13 h 34"/>
                <a:gd name="T8" fmla="*/ 18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4019" y="1462"/>
              <a:ext cx="26" cy="20"/>
            </a:xfrm>
            <a:custGeom>
              <a:avLst/>
              <a:gdLst>
                <a:gd name="T0" fmla="*/ 17 w 35"/>
                <a:gd name="T1" fmla="*/ 1 h 27"/>
                <a:gd name="T2" fmla="*/ 5 w 35"/>
                <a:gd name="T3" fmla="*/ 1 h 27"/>
                <a:gd name="T4" fmla="*/ 7 w 35"/>
                <a:gd name="T5" fmla="*/ 8 h 27"/>
                <a:gd name="T6" fmla="*/ 14 w 35"/>
                <a:gd name="T7" fmla="*/ 10 h 27"/>
                <a:gd name="T8" fmla="*/ 17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3993" y="1437"/>
              <a:ext cx="26" cy="35"/>
            </a:xfrm>
            <a:custGeom>
              <a:avLst/>
              <a:gdLst>
                <a:gd name="T0" fmla="*/ 16 w 35"/>
                <a:gd name="T1" fmla="*/ 9 h 47"/>
                <a:gd name="T2" fmla="*/ 10 w 35"/>
                <a:gd name="T3" fmla="*/ 1 h 47"/>
                <a:gd name="T4" fmla="*/ 5 w 35"/>
                <a:gd name="T5" fmla="*/ 14 h 47"/>
                <a:gd name="T6" fmla="*/ 10 w 35"/>
                <a:gd name="T7" fmla="*/ 19 h 47"/>
                <a:gd name="T8" fmla="*/ 15 w 35"/>
                <a:gd name="T9" fmla="*/ 16 h 47"/>
                <a:gd name="T10" fmla="*/ 16 w 35"/>
                <a:gd name="T11" fmla="*/ 9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3961" y="1421"/>
              <a:ext cx="24" cy="26"/>
            </a:xfrm>
            <a:custGeom>
              <a:avLst/>
              <a:gdLst>
                <a:gd name="T0" fmla="*/ 13 w 32"/>
                <a:gd name="T1" fmla="*/ 5 h 35"/>
                <a:gd name="T2" fmla="*/ 6 w 32"/>
                <a:gd name="T3" fmla="*/ 1 h 35"/>
                <a:gd name="T4" fmla="*/ 7 w 32"/>
                <a:gd name="T5" fmla="*/ 13 h 35"/>
                <a:gd name="T6" fmla="*/ 14 w 32"/>
                <a:gd name="T7" fmla="*/ 15 h 35"/>
                <a:gd name="T8" fmla="*/ 13 w 32"/>
                <a:gd name="T9" fmla="*/ 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4001" y="1474"/>
              <a:ext cx="24" cy="26"/>
            </a:xfrm>
            <a:custGeom>
              <a:avLst/>
              <a:gdLst>
                <a:gd name="T0" fmla="*/ 13 w 32"/>
                <a:gd name="T1" fmla="*/ 5 h 35"/>
                <a:gd name="T2" fmla="*/ 6 w 32"/>
                <a:gd name="T3" fmla="*/ 1 h 35"/>
                <a:gd name="T4" fmla="*/ 7 w 32"/>
                <a:gd name="T5" fmla="*/ 13 h 35"/>
                <a:gd name="T6" fmla="*/ 14 w 32"/>
                <a:gd name="T7" fmla="*/ 15 h 35"/>
                <a:gd name="T8" fmla="*/ 13 w 32"/>
                <a:gd name="T9" fmla="*/ 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391" y="100"/>
              <a:ext cx="141" cy="108"/>
            </a:xfrm>
            <a:custGeom>
              <a:avLst/>
              <a:gdLst>
                <a:gd name="T0" fmla="*/ 95 w 189"/>
                <a:gd name="T1" fmla="*/ 2 h 144"/>
                <a:gd name="T2" fmla="*/ 103 w 189"/>
                <a:gd name="T3" fmla="*/ 2 h 144"/>
                <a:gd name="T4" fmla="*/ 105 w 189"/>
                <a:gd name="T5" fmla="*/ 9 h 144"/>
                <a:gd name="T6" fmla="*/ 104 w 189"/>
                <a:gd name="T7" fmla="*/ 14 h 144"/>
                <a:gd name="T8" fmla="*/ 73 w 189"/>
                <a:gd name="T9" fmla="*/ 25 h 144"/>
                <a:gd name="T10" fmla="*/ 60 w 189"/>
                <a:gd name="T11" fmla="*/ 33 h 144"/>
                <a:gd name="T12" fmla="*/ 54 w 189"/>
                <a:gd name="T13" fmla="*/ 35 h 144"/>
                <a:gd name="T14" fmla="*/ 40 w 189"/>
                <a:gd name="T15" fmla="*/ 47 h 144"/>
                <a:gd name="T16" fmla="*/ 42 w 189"/>
                <a:gd name="T17" fmla="*/ 52 h 144"/>
                <a:gd name="T18" fmla="*/ 46 w 189"/>
                <a:gd name="T19" fmla="*/ 65 h 144"/>
                <a:gd name="T20" fmla="*/ 60 w 189"/>
                <a:gd name="T21" fmla="*/ 71 h 144"/>
                <a:gd name="T22" fmla="*/ 51 w 189"/>
                <a:gd name="T23" fmla="*/ 79 h 144"/>
                <a:gd name="T24" fmla="*/ 46 w 189"/>
                <a:gd name="T25" fmla="*/ 74 h 144"/>
                <a:gd name="T26" fmla="*/ 40 w 189"/>
                <a:gd name="T27" fmla="*/ 76 h 144"/>
                <a:gd name="T28" fmla="*/ 12 w 189"/>
                <a:gd name="T29" fmla="*/ 69 h 144"/>
                <a:gd name="T30" fmla="*/ 10 w 189"/>
                <a:gd name="T31" fmla="*/ 60 h 144"/>
                <a:gd name="T32" fmla="*/ 26 w 189"/>
                <a:gd name="T33" fmla="*/ 51 h 144"/>
                <a:gd name="T34" fmla="*/ 28 w 189"/>
                <a:gd name="T35" fmla="*/ 43 h 144"/>
                <a:gd name="T36" fmla="*/ 26 w 189"/>
                <a:gd name="T37" fmla="*/ 36 h 144"/>
                <a:gd name="T38" fmla="*/ 40 w 189"/>
                <a:gd name="T39" fmla="*/ 26 h 144"/>
                <a:gd name="T40" fmla="*/ 54 w 189"/>
                <a:gd name="T41" fmla="*/ 20 h 144"/>
                <a:gd name="T42" fmla="*/ 63 w 189"/>
                <a:gd name="T43" fmla="*/ 14 h 144"/>
                <a:gd name="T44" fmla="*/ 95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475" y="204"/>
              <a:ext cx="40" cy="12"/>
            </a:xfrm>
            <a:custGeom>
              <a:avLst/>
              <a:gdLst>
                <a:gd name="T0" fmla="*/ 14 w 53"/>
                <a:gd name="T1" fmla="*/ 0 h 17"/>
                <a:gd name="T2" fmla="*/ 7 w 53"/>
                <a:gd name="T3" fmla="*/ 1 h 17"/>
                <a:gd name="T4" fmla="*/ 18 w 53"/>
                <a:gd name="T5" fmla="*/ 8 h 17"/>
                <a:gd name="T6" fmla="*/ 25 w 53"/>
                <a:gd name="T7" fmla="*/ 7 h 17"/>
                <a:gd name="T8" fmla="*/ 1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2680" y="48"/>
              <a:ext cx="42" cy="28"/>
            </a:xfrm>
            <a:custGeom>
              <a:avLst/>
              <a:gdLst>
                <a:gd name="T0" fmla="*/ 31 w 57"/>
                <a:gd name="T1" fmla="*/ 2 h 37"/>
                <a:gd name="T2" fmla="*/ 13 w 57"/>
                <a:gd name="T3" fmla="*/ 14 h 37"/>
                <a:gd name="T4" fmla="*/ 6 w 57"/>
                <a:gd name="T5" fmla="*/ 20 h 37"/>
                <a:gd name="T6" fmla="*/ 5 w 57"/>
                <a:gd name="T7" fmla="*/ 2 h 37"/>
                <a:gd name="T8" fmla="*/ 11 w 57"/>
                <a:gd name="T9" fmla="*/ 0 h 37"/>
                <a:gd name="T10" fmla="*/ 31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89" name="未知"/>
            <p:cNvSpPr>
              <a:spLocks/>
            </p:cNvSpPr>
            <p:nvPr/>
          </p:nvSpPr>
          <p:spPr bwMode="auto">
            <a:xfrm>
              <a:off x="2710" y="61"/>
              <a:ext cx="50" cy="20"/>
            </a:xfrm>
            <a:custGeom>
              <a:avLst/>
              <a:gdLst>
                <a:gd name="T0" fmla="*/ 15 w 68"/>
                <a:gd name="T1" fmla="*/ 0 h 26"/>
                <a:gd name="T2" fmla="*/ 6 w 68"/>
                <a:gd name="T3" fmla="*/ 4 h 26"/>
                <a:gd name="T4" fmla="*/ 31 w 68"/>
                <a:gd name="T5" fmla="*/ 15 h 26"/>
                <a:gd name="T6" fmla="*/ 34 w 68"/>
                <a:gd name="T7" fmla="*/ 14 h 26"/>
                <a:gd name="T8" fmla="*/ 15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2764" y="64"/>
              <a:ext cx="50" cy="32"/>
            </a:xfrm>
            <a:custGeom>
              <a:avLst/>
              <a:gdLst>
                <a:gd name="T0" fmla="*/ 29 w 66"/>
                <a:gd name="T1" fmla="*/ 5 h 43"/>
                <a:gd name="T2" fmla="*/ 15 w 66"/>
                <a:gd name="T3" fmla="*/ 5 h 43"/>
                <a:gd name="T4" fmla="*/ 6 w 66"/>
                <a:gd name="T5" fmla="*/ 5 h 43"/>
                <a:gd name="T6" fmla="*/ 5 w 66"/>
                <a:gd name="T7" fmla="*/ 19 h 43"/>
                <a:gd name="T8" fmla="*/ 18 w 66"/>
                <a:gd name="T9" fmla="*/ 24 h 43"/>
                <a:gd name="T10" fmla="*/ 36 w 66"/>
                <a:gd name="T11" fmla="*/ 15 h 43"/>
                <a:gd name="T12" fmla="*/ 29 w 66"/>
                <a:gd name="T13" fmla="*/ 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13" y="91"/>
              <a:ext cx="88" cy="31"/>
            </a:xfrm>
            <a:custGeom>
              <a:avLst/>
              <a:gdLst>
                <a:gd name="T0" fmla="*/ 8 w 117"/>
                <a:gd name="T1" fmla="*/ 0 h 41"/>
                <a:gd name="T2" fmla="*/ 5 w 117"/>
                <a:gd name="T3" fmla="*/ 9 h 41"/>
                <a:gd name="T4" fmla="*/ 29 w 117"/>
                <a:gd name="T5" fmla="*/ 17 h 41"/>
                <a:gd name="T6" fmla="*/ 43 w 117"/>
                <a:gd name="T7" fmla="*/ 20 h 41"/>
                <a:gd name="T8" fmla="*/ 63 w 117"/>
                <a:gd name="T9" fmla="*/ 13 h 41"/>
                <a:gd name="T10" fmla="*/ 44 w 117"/>
                <a:gd name="T11" fmla="*/ 2 h 41"/>
                <a:gd name="T12" fmla="*/ 8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203" y="90"/>
              <a:ext cx="46" cy="24"/>
            </a:xfrm>
            <a:custGeom>
              <a:avLst/>
              <a:gdLst>
                <a:gd name="T0" fmla="*/ 18 w 62"/>
                <a:gd name="T1" fmla="*/ 2 h 32"/>
                <a:gd name="T2" fmla="*/ 34 w 62"/>
                <a:gd name="T3" fmla="*/ 6 h 32"/>
                <a:gd name="T4" fmla="*/ 16 w 62"/>
                <a:gd name="T5" fmla="*/ 18 h 32"/>
                <a:gd name="T6" fmla="*/ 3 w 62"/>
                <a:gd name="T7" fmla="*/ 13 h 32"/>
                <a:gd name="T8" fmla="*/ 18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82" y="119"/>
              <a:ext cx="37" cy="17"/>
            </a:xfrm>
            <a:custGeom>
              <a:avLst/>
              <a:gdLst>
                <a:gd name="T0" fmla="*/ 11 w 49"/>
                <a:gd name="T1" fmla="*/ 1 h 23"/>
                <a:gd name="T2" fmla="*/ 4 w 49"/>
                <a:gd name="T3" fmla="*/ 3 h 23"/>
                <a:gd name="T4" fmla="*/ 22 w 49"/>
                <a:gd name="T5" fmla="*/ 13 h 23"/>
                <a:gd name="T6" fmla="*/ 11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434" y="343"/>
              <a:ext cx="76" cy="114"/>
            </a:xfrm>
            <a:custGeom>
              <a:avLst/>
              <a:gdLst>
                <a:gd name="T0" fmla="*/ 3 w 102"/>
                <a:gd name="T1" fmla="*/ 0 h 152"/>
                <a:gd name="T2" fmla="*/ 0 w 102"/>
                <a:gd name="T3" fmla="*/ 11 h 152"/>
                <a:gd name="T4" fmla="*/ 7 w 102"/>
                <a:gd name="T5" fmla="*/ 24 h 152"/>
                <a:gd name="T6" fmla="*/ 18 w 102"/>
                <a:gd name="T7" fmla="*/ 41 h 152"/>
                <a:gd name="T8" fmla="*/ 20 w 102"/>
                <a:gd name="T9" fmla="*/ 59 h 152"/>
                <a:gd name="T10" fmla="*/ 45 w 102"/>
                <a:gd name="T11" fmla="*/ 86 h 152"/>
                <a:gd name="T12" fmla="*/ 48 w 102"/>
                <a:gd name="T13" fmla="*/ 70 h 152"/>
                <a:gd name="T14" fmla="*/ 41 w 102"/>
                <a:gd name="T15" fmla="*/ 58 h 152"/>
                <a:gd name="T16" fmla="*/ 34 w 102"/>
                <a:gd name="T17" fmla="*/ 52 h 152"/>
                <a:gd name="T18" fmla="*/ 29 w 102"/>
                <a:gd name="T19" fmla="*/ 42 h 152"/>
                <a:gd name="T20" fmla="*/ 23 w 102"/>
                <a:gd name="T21" fmla="*/ 25 h 152"/>
                <a:gd name="T22" fmla="*/ 2 w 102"/>
                <a:gd name="T23" fmla="*/ 7 h 152"/>
                <a:gd name="T24" fmla="*/ 3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495" y="461"/>
              <a:ext cx="55" cy="78"/>
            </a:xfrm>
            <a:custGeom>
              <a:avLst/>
              <a:gdLst>
                <a:gd name="T0" fmla="*/ 36 w 74"/>
                <a:gd name="T1" fmla="*/ 13 h 103"/>
                <a:gd name="T2" fmla="*/ 41 w 74"/>
                <a:gd name="T3" fmla="*/ 23 h 103"/>
                <a:gd name="T4" fmla="*/ 16 w 74"/>
                <a:gd name="T5" fmla="*/ 48 h 103"/>
                <a:gd name="T6" fmla="*/ 18 w 74"/>
                <a:gd name="T7" fmla="*/ 58 h 103"/>
                <a:gd name="T8" fmla="*/ 11 w 74"/>
                <a:gd name="T9" fmla="*/ 54 h 103"/>
                <a:gd name="T10" fmla="*/ 3 w 74"/>
                <a:gd name="T11" fmla="*/ 48 h 103"/>
                <a:gd name="T12" fmla="*/ 0 w 74"/>
                <a:gd name="T13" fmla="*/ 47 h 103"/>
                <a:gd name="T14" fmla="*/ 5 w 74"/>
                <a:gd name="T15" fmla="*/ 33 h 103"/>
                <a:gd name="T16" fmla="*/ 7 w 74"/>
                <a:gd name="T17" fmla="*/ 30 h 103"/>
                <a:gd name="T18" fmla="*/ 1 w 74"/>
                <a:gd name="T19" fmla="*/ 14 h 103"/>
                <a:gd name="T20" fmla="*/ 2 w 74"/>
                <a:gd name="T21" fmla="*/ 8 h 103"/>
                <a:gd name="T22" fmla="*/ 14 w 74"/>
                <a:gd name="T23" fmla="*/ 13 h 103"/>
                <a:gd name="T24" fmla="*/ 20 w 74"/>
                <a:gd name="T25" fmla="*/ 20 h 103"/>
                <a:gd name="T26" fmla="*/ 36 w 74"/>
                <a:gd name="T27" fmla="*/ 13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459" y="541"/>
              <a:ext cx="109" cy="189"/>
            </a:xfrm>
            <a:custGeom>
              <a:avLst/>
              <a:gdLst>
                <a:gd name="T0" fmla="*/ 46 w 146"/>
                <a:gd name="T1" fmla="*/ 56 h 252"/>
                <a:gd name="T2" fmla="*/ 37 w 146"/>
                <a:gd name="T3" fmla="*/ 60 h 252"/>
                <a:gd name="T4" fmla="*/ 36 w 146"/>
                <a:gd name="T5" fmla="*/ 74 h 252"/>
                <a:gd name="T6" fmla="*/ 12 w 146"/>
                <a:gd name="T7" fmla="*/ 83 h 252"/>
                <a:gd name="T8" fmla="*/ 4 w 146"/>
                <a:gd name="T9" fmla="*/ 95 h 252"/>
                <a:gd name="T10" fmla="*/ 11 w 146"/>
                <a:gd name="T11" fmla="*/ 103 h 252"/>
                <a:gd name="T12" fmla="*/ 4 w 146"/>
                <a:gd name="T13" fmla="*/ 112 h 252"/>
                <a:gd name="T14" fmla="*/ 13 w 146"/>
                <a:gd name="T15" fmla="*/ 142 h 252"/>
                <a:gd name="T16" fmla="*/ 16 w 146"/>
                <a:gd name="T17" fmla="*/ 121 h 252"/>
                <a:gd name="T18" fmla="*/ 12 w 146"/>
                <a:gd name="T19" fmla="*/ 108 h 252"/>
                <a:gd name="T20" fmla="*/ 23 w 146"/>
                <a:gd name="T21" fmla="*/ 99 h 252"/>
                <a:gd name="T22" fmla="*/ 29 w 146"/>
                <a:gd name="T23" fmla="*/ 89 h 252"/>
                <a:gd name="T24" fmla="*/ 37 w 146"/>
                <a:gd name="T25" fmla="*/ 98 h 252"/>
                <a:gd name="T26" fmla="*/ 25 w 146"/>
                <a:gd name="T27" fmla="*/ 107 h 252"/>
                <a:gd name="T28" fmla="*/ 31 w 146"/>
                <a:gd name="T29" fmla="*/ 113 h 252"/>
                <a:gd name="T30" fmla="*/ 38 w 146"/>
                <a:gd name="T31" fmla="*/ 101 h 252"/>
                <a:gd name="T32" fmla="*/ 47 w 146"/>
                <a:gd name="T33" fmla="*/ 104 h 252"/>
                <a:gd name="T34" fmla="*/ 58 w 146"/>
                <a:gd name="T35" fmla="*/ 83 h 252"/>
                <a:gd name="T36" fmla="*/ 63 w 146"/>
                <a:gd name="T37" fmla="*/ 88 h 252"/>
                <a:gd name="T38" fmla="*/ 76 w 146"/>
                <a:gd name="T39" fmla="*/ 83 h 252"/>
                <a:gd name="T40" fmla="*/ 81 w 146"/>
                <a:gd name="T41" fmla="*/ 74 h 252"/>
                <a:gd name="T42" fmla="*/ 79 w 146"/>
                <a:gd name="T43" fmla="*/ 62 h 252"/>
                <a:gd name="T44" fmla="*/ 75 w 146"/>
                <a:gd name="T45" fmla="*/ 56 h 252"/>
                <a:gd name="T46" fmla="*/ 68 w 146"/>
                <a:gd name="T47" fmla="*/ 23 h 252"/>
                <a:gd name="T48" fmla="*/ 52 w 146"/>
                <a:gd name="T49" fmla="*/ 0 h 252"/>
                <a:gd name="T50" fmla="*/ 43 w 146"/>
                <a:gd name="T51" fmla="*/ 7 h 252"/>
                <a:gd name="T52" fmla="*/ 54 w 146"/>
                <a:gd name="T53" fmla="*/ 20 h 252"/>
                <a:gd name="T54" fmla="*/ 54 w 146"/>
                <a:gd name="T55" fmla="*/ 36 h 252"/>
                <a:gd name="T56" fmla="*/ 46 w 146"/>
                <a:gd name="T57" fmla="*/ 56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2398" y="37"/>
              <a:ext cx="52" cy="30"/>
            </a:xfrm>
            <a:custGeom>
              <a:avLst/>
              <a:gdLst>
                <a:gd name="T0" fmla="*/ 33 w 70"/>
                <a:gd name="T1" fmla="*/ 0 h 40"/>
                <a:gd name="T2" fmla="*/ 36 w 70"/>
                <a:gd name="T3" fmla="*/ 11 h 40"/>
                <a:gd name="T4" fmla="*/ 22 w 70"/>
                <a:gd name="T5" fmla="*/ 14 h 40"/>
                <a:gd name="T6" fmla="*/ 17 w 70"/>
                <a:gd name="T7" fmla="*/ 23 h 40"/>
                <a:gd name="T8" fmla="*/ 4 w 70"/>
                <a:gd name="T9" fmla="*/ 22 h 40"/>
                <a:gd name="T10" fmla="*/ 1 w 70"/>
                <a:gd name="T11" fmla="*/ 20 h 40"/>
                <a:gd name="T12" fmla="*/ 19 w 70"/>
                <a:gd name="T13" fmla="*/ 11 h 40"/>
                <a:gd name="T14" fmla="*/ 33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2291" y="46"/>
              <a:ext cx="19" cy="22"/>
            </a:xfrm>
            <a:custGeom>
              <a:avLst/>
              <a:gdLst>
                <a:gd name="T0" fmla="*/ 10 w 26"/>
                <a:gd name="T1" fmla="*/ 0 h 29"/>
                <a:gd name="T2" fmla="*/ 0 w 26"/>
                <a:gd name="T3" fmla="*/ 11 h 29"/>
                <a:gd name="T4" fmla="*/ 10 w 26"/>
                <a:gd name="T5" fmla="*/ 15 h 29"/>
                <a:gd name="T6" fmla="*/ 10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2315" y="45"/>
              <a:ext cx="37" cy="27"/>
            </a:xfrm>
            <a:custGeom>
              <a:avLst/>
              <a:gdLst>
                <a:gd name="T0" fmla="*/ 8 w 49"/>
                <a:gd name="T1" fmla="*/ 4 h 36"/>
                <a:gd name="T2" fmla="*/ 0 w 49"/>
                <a:gd name="T3" fmla="*/ 11 h 36"/>
                <a:gd name="T4" fmla="*/ 4 w 49"/>
                <a:gd name="T5" fmla="*/ 18 h 36"/>
                <a:gd name="T6" fmla="*/ 11 w 49"/>
                <a:gd name="T7" fmla="*/ 20 h 36"/>
                <a:gd name="T8" fmla="*/ 23 w 49"/>
                <a:gd name="T9" fmla="*/ 15 h 36"/>
                <a:gd name="T10" fmla="*/ 8 w 49"/>
                <a:gd name="T11" fmla="*/ 4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0" name="未知"/>
            <p:cNvSpPr>
              <a:spLocks/>
            </p:cNvSpPr>
            <p:nvPr/>
          </p:nvSpPr>
          <p:spPr bwMode="auto">
            <a:xfrm>
              <a:off x="2376" y="36"/>
              <a:ext cx="20" cy="16"/>
            </a:xfrm>
            <a:custGeom>
              <a:avLst/>
              <a:gdLst>
                <a:gd name="T0" fmla="*/ 6 w 27"/>
                <a:gd name="T1" fmla="*/ 0 h 22"/>
                <a:gd name="T2" fmla="*/ 1 w 27"/>
                <a:gd name="T3" fmla="*/ 7 h 22"/>
                <a:gd name="T4" fmla="*/ 10 w 27"/>
                <a:gd name="T5" fmla="*/ 12 h 22"/>
                <a:gd name="T6" fmla="*/ 6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358" y="54"/>
              <a:ext cx="15" cy="13"/>
            </a:xfrm>
            <a:custGeom>
              <a:avLst/>
              <a:gdLst>
                <a:gd name="T0" fmla="*/ 6 w 20"/>
                <a:gd name="T1" fmla="*/ 0 h 18"/>
                <a:gd name="T2" fmla="*/ 5 w 20"/>
                <a:gd name="T3" fmla="*/ 9 h 18"/>
                <a:gd name="T4" fmla="*/ 6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98" y="70"/>
              <a:ext cx="18" cy="33"/>
            </a:xfrm>
            <a:custGeom>
              <a:avLst/>
              <a:gdLst>
                <a:gd name="T0" fmla="*/ 14 w 24"/>
                <a:gd name="T1" fmla="*/ 0 h 44"/>
                <a:gd name="T2" fmla="*/ 5 w 24"/>
                <a:gd name="T3" fmla="*/ 9 h 44"/>
                <a:gd name="T4" fmla="*/ 0 w 24"/>
                <a:gd name="T5" fmla="*/ 20 h 44"/>
                <a:gd name="T6" fmla="*/ 9 w 24"/>
                <a:gd name="T7" fmla="*/ 23 h 44"/>
                <a:gd name="T8" fmla="*/ 1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2614" y="1522"/>
              <a:ext cx="31" cy="18"/>
            </a:xfrm>
            <a:custGeom>
              <a:avLst/>
              <a:gdLst>
                <a:gd name="T0" fmla="*/ 17 w 41"/>
                <a:gd name="T1" fmla="*/ 0 h 24"/>
                <a:gd name="T2" fmla="*/ 15 w 41"/>
                <a:gd name="T3" fmla="*/ 14 h 24"/>
                <a:gd name="T4" fmla="*/ 17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2654" y="1515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2587" y="1361"/>
              <a:ext cx="9" cy="15"/>
            </a:xfrm>
            <a:custGeom>
              <a:avLst/>
              <a:gdLst>
                <a:gd name="T0" fmla="*/ 5 w 13"/>
                <a:gd name="T1" fmla="*/ 3 h 20"/>
                <a:gd name="T2" fmla="*/ 1 w 13"/>
                <a:gd name="T3" fmla="*/ 6 h 20"/>
                <a:gd name="T4" fmla="*/ 4 w 13"/>
                <a:gd name="T5" fmla="*/ 11 h 20"/>
                <a:gd name="T6" fmla="*/ 5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2647" y="1288"/>
              <a:ext cx="11" cy="19"/>
            </a:xfrm>
            <a:custGeom>
              <a:avLst/>
              <a:gdLst>
                <a:gd name="T0" fmla="*/ 4 w 14"/>
                <a:gd name="T1" fmla="*/ 0 h 25"/>
                <a:gd name="T2" fmla="*/ 0 w 14"/>
                <a:gd name="T3" fmla="*/ 8 h 25"/>
                <a:gd name="T4" fmla="*/ 7 w 14"/>
                <a:gd name="T5" fmla="*/ 14 h 25"/>
                <a:gd name="T6" fmla="*/ 4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2623" y="1287"/>
              <a:ext cx="11" cy="19"/>
            </a:xfrm>
            <a:custGeom>
              <a:avLst/>
              <a:gdLst>
                <a:gd name="T0" fmla="*/ 4 w 14"/>
                <a:gd name="T1" fmla="*/ 0 h 25"/>
                <a:gd name="T2" fmla="*/ 0 w 14"/>
                <a:gd name="T3" fmla="*/ 8 h 25"/>
                <a:gd name="T4" fmla="*/ 7 w 14"/>
                <a:gd name="T5" fmla="*/ 14 h 25"/>
                <a:gd name="T6" fmla="*/ 4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2612" y="1309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2587" y="1343"/>
              <a:ext cx="9" cy="15"/>
            </a:xfrm>
            <a:custGeom>
              <a:avLst/>
              <a:gdLst>
                <a:gd name="T0" fmla="*/ 5 w 13"/>
                <a:gd name="T1" fmla="*/ 3 h 20"/>
                <a:gd name="T2" fmla="*/ 1 w 13"/>
                <a:gd name="T3" fmla="*/ 6 h 20"/>
                <a:gd name="T4" fmla="*/ 4 w 13"/>
                <a:gd name="T5" fmla="*/ 11 h 20"/>
                <a:gd name="T6" fmla="*/ 5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2606" y="1330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1873" y="342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12" name="未知"/>
            <p:cNvSpPr>
              <a:spLocks/>
            </p:cNvSpPr>
            <p:nvPr/>
          </p:nvSpPr>
          <p:spPr bwMode="auto">
            <a:xfrm>
              <a:off x="1812" y="308"/>
              <a:ext cx="10" cy="15"/>
            </a:xfrm>
            <a:custGeom>
              <a:avLst/>
              <a:gdLst>
                <a:gd name="T0" fmla="*/ 6 w 13"/>
                <a:gd name="T1" fmla="*/ 3 h 20"/>
                <a:gd name="T2" fmla="*/ 1 w 13"/>
                <a:gd name="T3" fmla="*/ 6 h 20"/>
                <a:gd name="T4" fmla="*/ 5 w 13"/>
                <a:gd name="T5" fmla="*/ 11 h 20"/>
                <a:gd name="T6" fmla="*/ 6 w 13"/>
                <a:gd name="T7" fmla="*/ 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113" name="未知"/>
            <p:cNvSpPr>
              <a:spLocks/>
            </p:cNvSpPr>
            <p:nvPr/>
          </p:nvSpPr>
          <p:spPr bwMode="auto">
            <a:xfrm>
              <a:off x="1574" y="91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3167063"/>
            <a:ext cx="442595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25" y="3352800"/>
            <a:ext cx="16541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895600"/>
            <a:ext cx="111283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4594225"/>
            <a:ext cx="4911725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8" y="3097213"/>
            <a:ext cx="2971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93900"/>
            <a:ext cx="15462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2862263"/>
            <a:ext cx="623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0" y="95250"/>
            <a:ext cx="18034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1968500"/>
            <a:ext cx="1079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Picture 123" descr="a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88913"/>
            <a:ext cx="26384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88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title style</a:t>
            </a:r>
          </a:p>
        </p:txBody>
      </p:sp>
      <p:sp>
        <p:nvSpPr>
          <p:cNvPr id="3189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4340225" cy="381000"/>
          </a:xfrm>
        </p:spPr>
        <p:txBody>
          <a:bodyPr/>
          <a:lstStyle>
            <a:lvl1pPr marL="0" indent="0" algn="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528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7900" y="2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3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4900" y="202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07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8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 userDrawn="1"/>
        </p:nvGrpSpPr>
        <p:grpSpPr bwMode="auto">
          <a:xfrm>
            <a:off x="257175" y="561975"/>
            <a:ext cx="3384550" cy="600075"/>
            <a:chOff x="0" y="0"/>
            <a:chExt cx="7484" cy="1474"/>
          </a:xfrm>
        </p:grpSpPr>
        <p:sp>
          <p:nvSpPr>
            <p:cNvPr id="4" name="Line 12"/>
            <p:cNvSpPr>
              <a:spLocks noChangeShapeType="1"/>
            </p:cNvSpPr>
            <p:nvPr userDrawn="1"/>
          </p:nvSpPr>
          <p:spPr bwMode="auto">
            <a:xfrm>
              <a:off x="418" y="0"/>
              <a:ext cx="1" cy="1475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  <p:sp>
          <p:nvSpPr>
            <p:cNvPr id="5" name="Line 13"/>
            <p:cNvSpPr>
              <a:spLocks noChangeShapeType="1"/>
            </p:cNvSpPr>
            <p:nvPr userDrawn="1"/>
          </p:nvSpPr>
          <p:spPr bwMode="auto">
            <a:xfrm flipV="1">
              <a:off x="0" y="1021"/>
              <a:ext cx="7485" cy="1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  <a:ea typeface="楷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103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89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  <a:ea typeface="楷体" pitchFamily="49" charset="-122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aa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title style</a:t>
            </a:r>
          </a:p>
        </p:txBody>
      </p:sp>
      <p:sp>
        <p:nvSpPr>
          <p:cNvPr id="2054" name="Text Box 6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mtClean="0">
              <a:solidFill>
                <a:srgbClr val="080808"/>
              </a:solidFill>
              <a:ea typeface="宋体" pitchFamily="2" charset="-122"/>
            </a:endParaRPr>
          </a:p>
        </p:txBody>
      </p:sp>
      <p:grpSp>
        <p:nvGrpSpPr>
          <p:cNvPr id="2055" name="Group 7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fld id="{F779792B-AC17-4EE6-9AD8-F14B0993524C}" type="datetime1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t>2015/6/18</a:t>
              </a:fld>
              <a:endParaRPr lang="zh-CN" altLang="zh-CN" sz="1200" b="1">
                <a:solidFill>
                  <a:srgbClr val="FFFFFF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fld id="{5B579AEB-0277-41E2-87E8-CA5976A5534B}" type="slidenum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algn="r" fontAlgn="base">
                  <a:spcBef>
                    <a:spcPct val="0"/>
                  </a:spcBef>
                  <a:spcAft>
                    <a:spcPct val="0"/>
                  </a:spcAft>
                </a:pPr>
                <a:t>‹#›</a:t>
              </a:fld>
              <a:r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 / 59</a:t>
              </a: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第六章 样本及抽样分布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276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6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7.wmf"/><Relationship Id="rId9" Type="http://schemas.openxmlformats.org/officeDocument/2006/relationships/image" Target="../media/image3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7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84.png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82.wmf"/><Relationship Id="rId4" Type="http://schemas.openxmlformats.org/officeDocument/2006/relationships/image" Target="../media/image85.png"/><Relationship Id="rId9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7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7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smtClean="0"/>
              <a:t>概率论与数理统计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2011-2012-2    </a:t>
            </a:r>
          </a:p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5715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mtClean="0"/>
              <a:t>第六、七章  样本 抽样分布 参数估计</a:t>
            </a:r>
          </a:p>
        </p:txBody>
      </p:sp>
      <p:sp>
        <p:nvSpPr>
          <p:cNvPr id="2" name="矩形 1"/>
          <p:cNvSpPr/>
          <p:nvPr/>
        </p:nvSpPr>
        <p:spPr>
          <a:xfrm>
            <a:off x="688206" y="1556792"/>
            <a:ext cx="5748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样本：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</a:rPr>
              <a:t>独立，与总体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</a:rPr>
              <a:t>X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</a:rPr>
              <a:t>同分布</a:t>
            </a:r>
            <a:endParaRPr lang="zh-CN" altLang="en-US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4521" y="2161943"/>
            <a:ext cx="6776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统计量：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</a:rPr>
              <a:t>样本的函数，不含未知参数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69357"/>
              </p:ext>
            </p:extLst>
          </p:nvPr>
        </p:nvGraphicFramePr>
        <p:xfrm>
          <a:off x="2931641" y="2909391"/>
          <a:ext cx="1233344" cy="581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r:id="rId3" imgW="889386" imgH="431987" progId="Equation.3">
                  <p:embed/>
                </p:oleObj>
              </mc:Choice>
              <mc:Fallback>
                <p:oleObj r:id="rId3" imgW="889386" imgH="4319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641" y="2909391"/>
                        <a:ext cx="1233344" cy="581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669999" y="2909391"/>
            <a:ext cx="2411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  <a:latin typeface="Tahoma" pitchFamily="34" charset="0"/>
                <a:ea typeface="宋体" pitchFamily="2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Tahoma" pitchFamily="34" charset="0"/>
                <a:ea typeface="宋体" pitchFamily="2" charset="-122"/>
              </a:rPr>
              <a:t>) </a:t>
            </a:r>
            <a:r>
              <a:rPr lang="zh-CN" altLang="en-US" sz="2800" b="1">
                <a:solidFill>
                  <a:srgbClr val="0000FF"/>
                </a:solidFill>
                <a:latin typeface="Tahoma" pitchFamily="34" charset="0"/>
                <a:ea typeface="宋体" pitchFamily="2" charset="-122"/>
              </a:rPr>
              <a:t>样本均值</a:t>
            </a: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463994"/>
              </p:ext>
            </p:extLst>
          </p:nvPr>
        </p:nvGraphicFramePr>
        <p:xfrm>
          <a:off x="3081411" y="3731418"/>
          <a:ext cx="2096778" cy="565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r:id="rId5" imgW="1562100" imgH="431800" progId="Equation.3">
                  <p:embed/>
                </p:oleObj>
              </mc:Choice>
              <mc:Fallback>
                <p:oleObj r:id="rId5" imgW="1562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411" y="3731418"/>
                        <a:ext cx="2096778" cy="565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586076"/>
              </p:ext>
            </p:extLst>
          </p:nvPr>
        </p:nvGraphicFramePr>
        <p:xfrm>
          <a:off x="5146552" y="3734880"/>
          <a:ext cx="1962944" cy="566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r:id="rId7" imgW="1460500" imgH="431800" progId="Equation.3">
                  <p:embed/>
                </p:oleObj>
              </mc:Choice>
              <mc:Fallback>
                <p:oleObj r:id="rId7" imgW="1460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552" y="3734880"/>
                        <a:ext cx="1962944" cy="566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690041" y="3731418"/>
            <a:ext cx="28082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33CC"/>
                </a:solidFill>
                <a:latin typeface="Tahoma" pitchFamily="34" charset="0"/>
                <a:ea typeface="宋体" pitchFamily="2" charset="-122"/>
              </a:rPr>
              <a:t>2)</a:t>
            </a:r>
            <a:r>
              <a:rPr lang="zh-CN" altLang="en-US" sz="2800" b="1" dirty="0">
                <a:solidFill>
                  <a:srgbClr val="0033CC"/>
                </a:solidFill>
                <a:latin typeface="Tahoma" pitchFamily="34" charset="0"/>
                <a:ea typeface="宋体" pitchFamily="2" charset="-122"/>
              </a:rPr>
              <a:t> 样本方差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271117"/>
              </p:ext>
            </p:extLst>
          </p:nvPr>
        </p:nvGraphicFramePr>
        <p:xfrm>
          <a:off x="3837682" y="4394274"/>
          <a:ext cx="3124100" cy="777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9" imgW="1727200" imgH="431800" progId="Equation.3">
                  <p:embed/>
                </p:oleObj>
              </mc:Choice>
              <mc:Fallback>
                <p:oleObj r:id="rId9" imgW="1727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682" y="4394274"/>
                        <a:ext cx="3124100" cy="777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90636" y="4523506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  <a:ea typeface="宋体" pitchFamily="2" charset="-122"/>
              </a:rPr>
              <a:t>4)</a:t>
            </a:r>
            <a:r>
              <a:rPr lang="zh-CN" altLang="en-US" sz="2800" b="1">
                <a:solidFill>
                  <a:srgbClr val="0033CC"/>
                </a:solidFill>
                <a:ea typeface="宋体" pitchFamily="2" charset="-122"/>
              </a:rPr>
              <a:t> 样本</a:t>
            </a:r>
            <a:r>
              <a:rPr lang="zh-CN" altLang="en-US" sz="2800" b="1" i="1">
                <a:solidFill>
                  <a:srgbClr val="0033CC"/>
                </a:solidFill>
                <a:ea typeface="宋体" pitchFamily="2" charset="-122"/>
              </a:rPr>
              <a:t>k </a:t>
            </a:r>
            <a:r>
              <a:rPr lang="zh-CN" altLang="en-US" sz="2800" b="1">
                <a:solidFill>
                  <a:srgbClr val="0033CC"/>
                </a:solidFill>
                <a:ea typeface="宋体" pitchFamily="2" charset="-122"/>
              </a:rPr>
              <a:t>阶原点矩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944535"/>
              </p:ext>
            </p:extLst>
          </p:nvPr>
        </p:nvGraphicFramePr>
        <p:xfrm>
          <a:off x="2483768" y="5373216"/>
          <a:ext cx="4506489" cy="90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r:id="rId11" imgW="2096410" imgH="419282" progId="Equation.3">
                  <p:embed/>
                </p:oleObj>
              </mc:Choice>
              <mc:Fallback>
                <p:oleObj r:id="rId11" imgW="2096410" imgH="41928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5373216"/>
                        <a:ext cx="4506489" cy="900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45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6" grpId="0" animBg="1" autoUpdateAnimBg="0"/>
      <p:bldP spid="1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01191"/>
            <a:ext cx="16764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253" y="466229"/>
            <a:ext cx="2114550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TextBox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966" y="1953716"/>
            <a:ext cx="423068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TextBox 7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03" y="2984004"/>
            <a:ext cx="400526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619672" y="4241651"/>
            <a:ext cx="34559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t</a:t>
            </a:r>
            <a:r>
              <a:rPr lang="zh-CN" altLang="en-US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分布</a:t>
            </a:r>
          </a:p>
        </p:txBody>
      </p:sp>
      <p:pic>
        <p:nvPicPr>
          <p:cNvPr id="8" name="TextBox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22" y="5013176"/>
            <a:ext cx="18780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6377459" y="4241651"/>
            <a:ext cx="34559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分布</a:t>
            </a:r>
          </a:p>
        </p:txBody>
      </p:sp>
      <p:pic>
        <p:nvPicPr>
          <p:cNvPr id="10" name="TextBox 4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28" y="5024363"/>
            <a:ext cx="204152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5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utoUpdateAnimBg="0"/>
      <p:bldP spid="9" grpId="0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1"/>
          <p:cNvSpPr txBox="1">
            <a:spLocks noChangeArrowheads="1"/>
          </p:cNvSpPr>
          <p:nvPr/>
        </p:nvSpPr>
        <p:spPr bwMode="auto">
          <a:xfrm>
            <a:off x="827088" y="765175"/>
            <a:ext cx="6840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正态总体的样本均值和样本方差分布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007885"/>
              </p:ext>
            </p:extLst>
          </p:nvPr>
        </p:nvGraphicFramePr>
        <p:xfrm>
          <a:off x="1043608" y="1628800"/>
          <a:ext cx="208756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r:id="rId3" imgW="2032000" imgH="889000" progId="Equation.3">
                  <p:embed/>
                </p:oleObj>
              </mc:Choice>
              <mc:Fallback>
                <p:oleObj r:id="rId3" imgW="2032000" imgH="889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628800"/>
                        <a:ext cx="2087563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24747"/>
              </p:ext>
            </p:extLst>
          </p:nvPr>
        </p:nvGraphicFramePr>
        <p:xfrm>
          <a:off x="683568" y="3068960"/>
          <a:ext cx="4471987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公式" r:id="rId5" imgW="1574640" imgH="431640" progId="Equation.3">
                  <p:embed/>
                </p:oleObj>
              </mc:Choice>
              <mc:Fallback>
                <p:oleObj name="公式" r:id="rId5" imgW="157464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068960"/>
                        <a:ext cx="4471987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988972"/>
              </p:ext>
            </p:extLst>
          </p:nvPr>
        </p:nvGraphicFramePr>
        <p:xfrm>
          <a:off x="5652120" y="3356992"/>
          <a:ext cx="2726347" cy="64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公式" r:id="rId7" imgW="787320" imgH="215640" progId="Equation.3">
                  <p:embed/>
                </p:oleObj>
              </mc:Choice>
              <mc:Fallback>
                <p:oleObj name="公式" r:id="rId7" imgW="78732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356992"/>
                        <a:ext cx="2726347" cy="645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95296"/>
              </p:ext>
            </p:extLst>
          </p:nvPr>
        </p:nvGraphicFramePr>
        <p:xfrm>
          <a:off x="827088" y="5013176"/>
          <a:ext cx="2746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r:id="rId9" imgW="1054100" imgH="444500" progId="Equation.3">
                  <p:embed/>
                </p:oleObj>
              </mc:Choice>
              <mc:Fallback>
                <p:oleObj r:id="rId9" imgW="10541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176"/>
                        <a:ext cx="27463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96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341010"/>
              </p:ext>
            </p:extLst>
          </p:nvPr>
        </p:nvGraphicFramePr>
        <p:xfrm>
          <a:off x="855142" y="3278783"/>
          <a:ext cx="43656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r:id="rId3" imgW="2196147" imgH="761669" progId="Equation.3">
                  <p:embed/>
                </p:oleObj>
              </mc:Choice>
              <mc:Fallback>
                <p:oleObj r:id="rId3" imgW="2196147" imgH="7616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142" y="3278783"/>
                        <a:ext cx="4365625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621020"/>
              </p:ext>
            </p:extLst>
          </p:nvPr>
        </p:nvGraphicFramePr>
        <p:xfrm>
          <a:off x="899592" y="1700808"/>
          <a:ext cx="434340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r:id="rId5" imgW="4533900" imgH="1397000" progId="Equation.3">
                  <p:embed/>
                </p:oleObj>
              </mc:Choice>
              <mc:Fallback>
                <p:oleObj r:id="rId5" imgW="4533900" imgH="139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700808"/>
                        <a:ext cx="434340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00113" y="5013325"/>
          <a:ext cx="59436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r:id="rId7" imgW="2768600" imgH="457200" progId="Equation.3">
                  <p:embed/>
                </p:oleObj>
              </mc:Choice>
              <mc:Fallback>
                <p:oleObj r:id="rId7" imgW="2768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13325"/>
                        <a:ext cx="59436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423975"/>
              </p:ext>
            </p:extLst>
          </p:nvPr>
        </p:nvGraphicFramePr>
        <p:xfrm>
          <a:off x="899592" y="332656"/>
          <a:ext cx="4573274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公式" r:id="rId9" imgW="1866600" imgH="469800" progId="Equation.3">
                  <p:embed/>
                </p:oleObj>
              </mc:Choice>
              <mc:Fallback>
                <p:oleObj name="公式" r:id="rId9" imgW="18666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32656"/>
                        <a:ext cx="4573274" cy="11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752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1"/>
          <p:cNvSpPr txBox="1">
            <a:spLocks noChangeArrowheads="1"/>
          </p:cNvSpPr>
          <p:nvPr/>
        </p:nvSpPr>
        <p:spPr bwMode="auto">
          <a:xfrm>
            <a:off x="1331913" y="908050"/>
            <a:ext cx="16557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距估计</a:t>
            </a:r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1331913" y="2268538"/>
            <a:ext cx="4895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最大似然估计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150" y="692150"/>
            <a:ext cx="43719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0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2997200"/>
            <a:ext cx="8221662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8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575956"/>
            <a:ext cx="50610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2"/>
                </a:solidFill>
                <a:latin typeface="宋体" pitchFamily="2" charset="-122"/>
              </a:rPr>
              <a:t>无偏性    有效性     相合性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190" y="476672"/>
            <a:ext cx="38908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kern="0" dirty="0">
                <a:solidFill>
                  <a:srgbClr val="080808"/>
                </a:solidFill>
                <a:latin typeface="新宋体"/>
                <a:ea typeface="新宋体"/>
                <a:cs typeface="+mj-cs"/>
                <a:sym typeface="宋体" pitchFamily="2" charset="-122"/>
              </a:rPr>
              <a:t>估计量的评选标准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759396" y="2492896"/>
                <a:ext cx="777304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800" b="1" dirty="0" smtClean="0">
                    <a:solidFill>
                      <a:srgbClr val="8F038F"/>
                    </a:solidFill>
                    <a:latin typeface="Arial" charset="0"/>
                    <a:ea typeface="宋体" pitchFamily="2" charset="-122"/>
                  </a:rPr>
                  <a:t>样本均值</a:t>
                </a:r>
                <a:r>
                  <a:rPr lang="zh-CN" altLang="en-US" sz="2800" b="1" dirty="0">
                    <a:solidFill>
                      <a:srgbClr val="080808"/>
                    </a:solidFill>
                    <a:latin typeface="Arial" charset="0"/>
                    <a:ea typeface="宋体" pitchFamily="2" charset="-122"/>
                  </a:rPr>
                  <a:t>     是总体均值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80808"/>
                        </a:solidFill>
                        <a:latin typeface="Cambria Math"/>
                        <a:ea typeface="宋体" pitchFamily="2" charset="-122"/>
                      </a:rPr>
                      <m:t>𝝁</m:t>
                    </m:r>
                  </m:oMath>
                </a14:m>
                <a:r>
                  <a:rPr lang="zh-CN" altLang="en-US" sz="2800" b="1" dirty="0" smtClean="0">
                    <a:solidFill>
                      <a:srgbClr val="080808"/>
                    </a:solidFill>
                    <a:latin typeface="Arial" charset="0"/>
                    <a:ea typeface="宋体" pitchFamily="2" charset="-122"/>
                  </a:rPr>
                  <a:t>  </a:t>
                </a:r>
                <a:r>
                  <a:rPr lang="zh-CN" altLang="en-US" sz="2800" b="1" dirty="0">
                    <a:solidFill>
                      <a:srgbClr val="080808"/>
                    </a:solidFill>
                    <a:latin typeface="Arial" charset="0"/>
                    <a:ea typeface="宋体" pitchFamily="2" charset="-122"/>
                  </a:rPr>
                  <a:t>的无偏估计</a:t>
                </a:r>
                <a:r>
                  <a:rPr lang="zh-CN" altLang="en-US" sz="2800" b="1" dirty="0" smtClean="0">
                    <a:solidFill>
                      <a:srgbClr val="080808"/>
                    </a:solidFill>
                    <a:latin typeface="Arial" charset="0"/>
                    <a:ea typeface="宋体" pitchFamily="2" charset="-122"/>
                  </a:rPr>
                  <a:t>，</a:t>
                </a:r>
                <a:endParaRPr lang="en-US" altLang="zh-CN" sz="2800" b="1" dirty="0" smtClean="0">
                  <a:solidFill>
                    <a:srgbClr val="080808"/>
                  </a:solidFill>
                  <a:latin typeface="Arial" charset="0"/>
                  <a:ea typeface="宋体" pitchFamily="2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800" b="1" dirty="0" smtClean="0">
                    <a:solidFill>
                      <a:srgbClr val="8F038F"/>
                    </a:solidFill>
                    <a:latin typeface="Arial" charset="0"/>
                    <a:ea typeface="宋体" pitchFamily="2" charset="-122"/>
                  </a:rPr>
                  <a:t>样</a:t>
                </a:r>
                <a:r>
                  <a:rPr lang="zh-CN" altLang="en-US" sz="2800" b="1" dirty="0">
                    <a:solidFill>
                      <a:srgbClr val="8F038F"/>
                    </a:solidFill>
                    <a:latin typeface="Arial" charset="0"/>
                    <a:ea typeface="宋体" pitchFamily="2" charset="-122"/>
                  </a:rPr>
                  <a:t>本方差</a:t>
                </a:r>
                <a:r>
                  <a:rPr lang="zh-CN" altLang="en-US" sz="2800" b="1" dirty="0">
                    <a:solidFill>
                      <a:srgbClr val="080808"/>
                    </a:solidFill>
                    <a:latin typeface="Arial" charset="0"/>
                    <a:ea typeface="宋体" pitchFamily="2" charset="-122"/>
                  </a:rPr>
                  <a:t>                                 是总体方差     的无偏估计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96" y="2492896"/>
                <a:ext cx="7773044" cy="2677656"/>
              </a:xfrm>
              <a:prstGeom prst="rect">
                <a:avLst/>
              </a:prstGeom>
              <a:blipFill rotWithShape="1">
                <a:blip r:embed="rId3"/>
                <a:stretch>
                  <a:fillRect l="-1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06725" y="2763563"/>
            <a:ext cx="43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70343"/>
              </p:ext>
            </p:extLst>
          </p:nvPr>
        </p:nvGraphicFramePr>
        <p:xfrm>
          <a:off x="2431505" y="3573016"/>
          <a:ext cx="30241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公式" r:id="rId5" imgW="1511280" imgH="431640" progId="Equation.3">
                  <p:embed/>
                </p:oleObj>
              </mc:Choice>
              <mc:Fallback>
                <p:oleObj name="公式" r:id="rId5" imgW="151128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505" y="3573016"/>
                        <a:ext cx="30241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643171"/>
              </p:ext>
            </p:extLst>
          </p:nvPr>
        </p:nvGraphicFramePr>
        <p:xfrm>
          <a:off x="7308304" y="3579311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公式" r:id="rId7" imgW="203040" imgH="203040" progId="Equation.3">
                  <p:embed/>
                </p:oleObj>
              </mc:Choice>
              <mc:Fallback>
                <p:oleObj name="公式" r:id="rId7" imgW="20304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3579311"/>
                        <a:ext cx="5048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763216" y="5201649"/>
            <a:ext cx="8838247" cy="793750"/>
            <a:chOff x="305753" y="5179573"/>
            <a:chExt cx="8838247" cy="793750"/>
          </a:xfrm>
        </p:grpSpPr>
        <p:pic>
          <p:nvPicPr>
            <p:cNvPr id="16" name="Object 15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005840" y="5179573"/>
              <a:ext cx="1819275" cy="793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305753" y="5261619"/>
              <a:ext cx="8838247" cy="5189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chemeClr val="accent2"/>
                  </a:solidFill>
                </a:rPr>
                <a:t>而                      不是总体方差的无偏估计。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154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Box 1"/>
          <p:cNvSpPr txBox="1">
            <a:spLocks noChangeArrowheads="1"/>
          </p:cNvSpPr>
          <p:nvPr/>
        </p:nvSpPr>
        <p:spPr bwMode="auto">
          <a:xfrm>
            <a:off x="509588" y="260350"/>
            <a:ext cx="34575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练习</a:t>
            </a:r>
          </a:p>
        </p:txBody>
      </p:sp>
      <p:sp>
        <p:nvSpPr>
          <p:cNvPr id="48131" name="TextBox 2"/>
          <p:cNvSpPr txBox="1">
            <a:spLocks noChangeArrowheads="1"/>
          </p:cNvSpPr>
          <p:nvPr/>
        </p:nvSpPr>
        <p:spPr bwMode="auto">
          <a:xfrm>
            <a:off x="395288" y="939800"/>
            <a:ext cx="4248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/>
              <a:t>1  </a:t>
            </a:r>
            <a:r>
              <a:rPr lang="zh-CN" altLang="en-US" sz="2800" b="1" i="0"/>
              <a:t>给定总体</a:t>
            </a:r>
            <a:r>
              <a:rPr lang="en-US" altLang="zh-CN" sz="2800" b="1" i="0"/>
              <a:t>X</a:t>
            </a:r>
            <a:r>
              <a:rPr lang="zh-CN" altLang="en-US" sz="2800" b="1" i="0"/>
              <a:t>的分布，则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42589" y="970733"/>
            <a:ext cx="3027046" cy="46166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8133" name="TextBox 4"/>
          <p:cNvSpPr txBox="1">
            <a:spLocks noChangeArrowheads="1"/>
          </p:cNvSpPr>
          <p:nvPr/>
        </p:nvSpPr>
        <p:spPr bwMode="auto">
          <a:xfrm>
            <a:off x="942975" y="1587500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特别的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86205" y="2281228"/>
            <a:ext cx="6593728" cy="52322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86205" y="2929300"/>
            <a:ext cx="6240747" cy="52322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8136" name="TextBox 7"/>
          <p:cNvSpPr txBox="1">
            <a:spLocks noChangeArrowheads="1"/>
          </p:cNvSpPr>
          <p:nvPr/>
        </p:nvSpPr>
        <p:spPr bwMode="auto">
          <a:xfrm>
            <a:off x="1058863" y="4546600"/>
            <a:ext cx="71294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                 ，其中    已知，    未知，则下列不能作为统计量的是   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95175" y="4548483"/>
            <a:ext cx="1816074" cy="461665"/>
          </a:xfrm>
          <a:prstGeom prst="rect">
            <a:avLst/>
          </a:prstGeom>
          <a:blipFill rotWithShape="1">
            <a:blip r:embed="rId5"/>
            <a:stretch>
              <a:fillRect r="-336" b="-1973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60890" y="4561775"/>
            <a:ext cx="446211" cy="461665"/>
          </a:xfrm>
          <a:prstGeom prst="rect">
            <a:avLst/>
          </a:prstGeom>
          <a:blipFill rotWithShape="1">
            <a:blip r:embed="rId6"/>
            <a:stretch>
              <a:fillRect b="-1052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72994" y="4546387"/>
            <a:ext cx="456663" cy="461665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3608" y="5525579"/>
            <a:ext cx="7159717" cy="783741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8141" name="TextBox 12"/>
          <p:cNvSpPr txBox="1">
            <a:spLocks noChangeArrowheads="1"/>
          </p:cNvSpPr>
          <p:nvPr/>
        </p:nvSpPr>
        <p:spPr bwMode="auto">
          <a:xfrm>
            <a:off x="1042988" y="3697288"/>
            <a:ext cx="4681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设总体                    ，求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43808" y="3711120"/>
            <a:ext cx="1816074" cy="461665"/>
          </a:xfrm>
          <a:prstGeom prst="rect">
            <a:avLst/>
          </a:prstGeom>
          <a:blipFill rotWithShape="1">
            <a:blip r:embed="rId9"/>
            <a:stretch>
              <a:fillRect r="-337" b="-1973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5" name="TextBox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64088" y="3740259"/>
            <a:ext cx="813748" cy="461665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4984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534740" y="1052736"/>
                <a:ext cx="7925692" cy="1253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设</a:t>
                </a:r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100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是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来自正态总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体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𝑁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𝜇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𝜎</m:t>
                        </m:r>
                      </m:e>
                      <m:sup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的一个简单随机样本，</a:t>
                </a:r>
                <a:r>
                  <a:rPr lang="en-US" altLang="zh-CN" sz="2800" kern="100" dirty="0">
                    <a:latin typeface="Times New Roman"/>
                  </a:rPr>
                  <a:t> 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则</a:t>
                </a:r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kern="10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kern="10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sz="2800" b="0" i="1" kern="10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kern="100" smtClean="0"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b="0" i="1" kern="10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kern="10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800" b="0" i="1" kern="100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2800" b="0" i="1" kern="100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kern="100" smtClean="0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kern="100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800" b="0" i="1" kern="100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kern="100" smtClean="0">
                                        <a:latin typeface="Cambria Math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altLang="zh-CN" sz="2800" b="0" i="1" kern="100" smtClean="0">
                                        <a:latin typeface="Cambria Math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800" b="0" i="1" kern="10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～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（</a:t>
                </a:r>
                <a:r>
                  <a:rPr lang="en-US" altLang="zh-CN" sz="2800" kern="100" dirty="0">
                    <a:latin typeface="Times New Roman"/>
                  </a:rPr>
                  <a:t>    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）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40" y="1052736"/>
                <a:ext cx="7925692" cy="1253164"/>
              </a:xfrm>
              <a:prstGeom prst="rect">
                <a:avLst/>
              </a:prstGeom>
              <a:blipFill rotWithShape="1">
                <a:blip r:embed="rId2"/>
                <a:stretch>
                  <a:fillRect l="-1615" t="-6341"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509588" y="260350"/>
            <a:ext cx="34575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83568" y="2564904"/>
                <a:ext cx="828092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设</a:t>
                </a:r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100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是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来自正态总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体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𝑁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(0,1)</m:t>
                    </m:r>
                  </m:oMath>
                </a14:m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的一个简单随机样本，</a:t>
                </a:r>
                <a:r>
                  <a:rPr lang="en-US" altLang="zh-CN" sz="2800" kern="100" dirty="0">
                    <a:latin typeface="Times New Roman"/>
                  </a:rPr>
                  <a:t> 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则</a:t>
                </a:r>
                <a:r>
                  <a:rPr lang="zh-CN" altLang="en-US" sz="2800" kern="100" dirty="0">
                    <a:latin typeface="Times New Roman"/>
                    <a:cs typeface="Times New Roman"/>
                  </a:rPr>
                  <a:t>服</a:t>
                </a:r>
                <a:r>
                  <a:rPr lang="zh-CN" altLang="en-US" sz="2800" kern="100" dirty="0" smtClean="0">
                    <a:latin typeface="Times New Roman"/>
                    <a:cs typeface="Times New Roman"/>
                  </a:rPr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𝜒</m:t>
                        </m:r>
                      </m:e>
                      <m:sup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𝑛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−1)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564904"/>
                <a:ext cx="8280920" cy="954107"/>
              </a:xfrm>
              <a:prstGeom prst="rect">
                <a:avLst/>
              </a:prstGeom>
              <a:blipFill rotWithShape="1">
                <a:blip r:embed="rId3"/>
                <a:stretch>
                  <a:fillRect l="-1472" t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691680" y="5696434"/>
                <a:ext cx="6768752" cy="929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altLang="zh-CN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𝑆</m:t>
                          </m:r>
                        </m:den>
                      </m:f>
                      <m:r>
                        <a:rPr lang="en-US" altLang="zh-CN" b="0" i="0" smtClean="0">
                          <a:solidFill>
                            <a:srgbClr val="080808"/>
                          </a:solidFill>
                          <a:latin typeface="Cambria Math"/>
                        </a:rPr>
                        <m:t>               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080808"/>
                          </a:solidFill>
                          <a:latin typeface="Cambria Math"/>
                        </a:rPr>
                        <m:t>B</m:t>
                      </m:r>
                      <m:r>
                        <a:rPr lang="en-US" altLang="zh-CN" b="0" i="0" smtClean="0">
                          <a:solidFill>
                            <a:srgbClr val="080808"/>
                          </a:solidFill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altLang="zh-CN" b="0" i="0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𝑆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                  </m:t>
                      </m:r>
                      <m:r>
                        <a:rPr lang="en-US" altLang="zh-CN" b="0" i="1" smtClean="0">
                          <a:solidFill>
                            <a:srgbClr val="080808"/>
                          </a:solidFill>
                          <a:latin typeface="Cambria Math"/>
                        </a:rPr>
                        <m:t>𝐶</m:t>
                      </m:r>
                      <m:r>
                        <a:rPr lang="en-US" altLang="zh-CN" i="1">
                          <a:solidFill>
                            <a:srgbClr val="080808"/>
                          </a:solidFill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>
                          <a:solidFill>
                            <a:srgbClr val="080808"/>
                          </a:solidFill>
                          <a:latin typeface="Cambria Math"/>
                        </a:rPr>
                        <m:t>                 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080808"/>
                          </a:solidFill>
                          <a:latin typeface="Cambria Math"/>
                        </a:rPr>
                        <m:t>B</m:t>
                      </m:r>
                      <m:r>
                        <a:rPr lang="en-US" altLang="zh-CN">
                          <a:solidFill>
                            <a:srgbClr val="080808"/>
                          </a:solidFill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80808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696434"/>
                <a:ext cx="6768752" cy="929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797910" y="3583247"/>
                <a:ext cx="6115777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𝐴</m:t>
                      </m:r>
                      <m:r>
                        <a:rPr lang="en-US" altLang="zh-CN" b="0" i="1" smtClean="0">
                          <a:latin typeface="Cambria Math"/>
                        </a:rPr>
                        <m:t>   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b="0" i="0" smtClean="0">
                          <a:latin typeface="Cambria Math"/>
                        </a:rPr>
                        <m:t>          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</a:rPr>
                        <m:t>B</m:t>
                      </m:r>
                      <m:r>
                        <a:rPr lang="en-US" altLang="zh-CN" b="0" i="0" smtClean="0">
                          <a:latin typeface="Cambria Math"/>
                        </a:rPr>
                        <m:t>  </m:t>
                      </m:r>
                      <m:sSup>
                        <m:sSupPr>
                          <m:ctrlPr>
                            <a:rPr lang="en-US" altLang="zh-CN" b="0" i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S</m:t>
                          </m:r>
                        </m:e>
                        <m:sup>
                          <m:r>
                            <a:rPr lang="en-US" altLang="zh-CN" b="0" i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/>
                        </a:rPr>
                        <m:t>       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</a:rPr>
                        <m:t>C</m:t>
                      </m:r>
                      <m:r>
                        <a:rPr lang="en-US" altLang="zh-CN" b="0" i="0" smtClean="0">
                          <a:latin typeface="Cambria Math"/>
                        </a:rPr>
                        <m:t>    </m:t>
                      </m:r>
                      <m:d>
                        <m:dPr>
                          <m:ctrlPr>
                            <a:rPr lang="en-US" altLang="zh-CN" b="0" i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n</m:t>
                          </m:r>
                          <m:r>
                            <a:rPr lang="en-US" altLang="zh-CN" b="0" i="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/>
                        </a:rPr>
                        <m:t>          </m:t>
                      </m:r>
                      <m:r>
                        <a:rPr lang="en-US" altLang="zh-CN" b="0" i="1" smtClean="0">
                          <a:latin typeface="Cambria Math"/>
                        </a:rPr>
                        <m:t>𝐷</m:t>
                      </m:r>
                      <m:r>
                        <a:rPr lang="en-US" altLang="zh-CN" b="0" i="1" smtClean="0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10" y="3583247"/>
                <a:ext cx="6115777" cy="84856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683567" y="4725144"/>
                <a:ext cx="828092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设</a:t>
                </a:r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100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sz="2800" b="0" i="1" kern="10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kern="10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是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来自正态总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体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𝑁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(0,</m:t>
                    </m:r>
                    <m:sSup>
                      <m:sSupPr>
                        <m:ctrlP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𝜎</m:t>
                        </m:r>
                      </m:e>
                      <m:sup>
                        <m:r>
                          <a:rPr lang="en-US" altLang="zh-CN" sz="2800" b="0" i="1" kern="100" smtClean="0">
                            <a:latin typeface="Cambria Math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altLang="zh-CN" sz="2800" kern="100" dirty="0" smtClean="0">
                    <a:latin typeface="Times New Roman"/>
                  </a:rPr>
                  <a:t> </a:t>
                </a:r>
                <a:r>
                  <a:rPr lang="zh-CN" altLang="zh-CN" sz="2800" kern="100" dirty="0">
                    <a:latin typeface="Times New Roman"/>
                    <a:cs typeface="Times New Roman"/>
                  </a:rPr>
                  <a:t>的一个简单随机样本，</a:t>
                </a:r>
                <a:r>
                  <a:rPr lang="en-US" altLang="zh-CN" sz="2800" kern="100" dirty="0">
                    <a:latin typeface="Times New Roman"/>
                  </a:rPr>
                  <a:t> </a:t>
                </a:r>
                <a:r>
                  <a:rPr lang="zh-CN" altLang="zh-CN" sz="2800" kern="100" dirty="0" smtClean="0">
                    <a:latin typeface="Times New Roman"/>
                    <a:cs typeface="Times New Roman"/>
                  </a:rPr>
                  <a:t>则</a:t>
                </a:r>
                <a:r>
                  <a:rPr lang="zh-CN" altLang="en-US" sz="2800" kern="100" dirty="0">
                    <a:latin typeface="Times New Roman"/>
                    <a:cs typeface="Times New Roman"/>
                  </a:rPr>
                  <a:t>服</a:t>
                </a:r>
                <a:r>
                  <a:rPr lang="zh-CN" altLang="en-US" sz="2800" kern="100" dirty="0" smtClean="0">
                    <a:latin typeface="Times New Roman"/>
                    <a:cs typeface="Times New Roman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𝑛</m:t>
                    </m:r>
                    <m:r>
                      <a:rPr lang="en-US" altLang="zh-CN" sz="2800" b="0" i="1" kern="100" smtClean="0">
                        <a:latin typeface="Cambria Math"/>
                        <a:cs typeface="Times New Roman"/>
                      </a:rPr>
                      <m:t>−1)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4725144"/>
                <a:ext cx="8280920" cy="954107"/>
              </a:xfrm>
              <a:prstGeom prst="rect">
                <a:avLst/>
              </a:prstGeom>
              <a:blipFill rotWithShape="1">
                <a:blip r:embed="rId6"/>
                <a:stretch>
                  <a:fillRect l="-1472" t="-8280" b="-14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480172" y="1679318"/>
                <a:ext cx="1222258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𝝌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172" y="1679318"/>
                <a:ext cx="1222258" cy="53296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8349136" y="3745920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D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79624" y="5668934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A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2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11560" y="476672"/>
            <a:ext cx="76328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800" dirty="0"/>
              <a:t>设</a:t>
            </a:r>
            <a:r>
              <a:rPr lang="en-US" altLang="zh-CN" sz="2800" dirty="0"/>
              <a:t> </a:t>
            </a:r>
            <a:r>
              <a:rPr lang="zh-CN" altLang="zh-CN" sz="2800" dirty="0"/>
              <a:t>是来自总体</a:t>
            </a:r>
            <a:r>
              <a:rPr lang="en-US" altLang="zh-CN" sz="2800" dirty="0"/>
              <a:t>X</a:t>
            </a:r>
            <a:r>
              <a:rPr lang="zh-CN" altLang="zh-CN" sz="2800" dirty="0"/>
              <a:t>的样本，</a:t>
            </a:r>
            <a:r>
              <a:rPr lang="en-US" altLang="zh-CN" sz="2800" dirty="0"/>
              <a:t>E(X)= μ</a:t>
            </a:r>
            <a:r>
              <a:rPr lang="zh-CN" altLang="zh-CN" sz="2800" dirty="0"/>
              <a:t>，</a:t>
            </a:r>
            <a:r>
              <a:rPr lang="en-US" altLang="zh-CN" sz="2800" dirty="0"/>
              <a:t>D(X)=σ</a:t>
            </a:r>
            <a:r>
              <a:rPr lang="en-US" altLang="zh-CN" sz="2800" baseline="30000" dirty="0"/>
              <a:t>2</a:t>
            </a:r>
            <a:r>
              <a:rPr lang="zh-CN" altLang="zh-CN" sz="2800" dirty="0"/>
              <a:t>，则可以作为</a:t>
            </a:r>
            <a:r>
              <a:rPr lang="en-US" altLang="zh-CN" sz="2800" dirty="0"/>
              <a:t>σ</a:t>
            </a:r>
            <a:r>
              <a:rPr lang="en-US" altLang="zh-CN" sz="2800" baseline="30000" dirty="0"/>
              <a:t>2</a:t>
            </a:r>
            <a:r>
              <a:rPr lang="zh-CN" altLang="zh-CN" sz="2800" dirty="0"/>
              <a:t>的无偏估计量的是（</a:t>
            </a:r>
            <a:r>
              <a:rPr lang="en-US" altLang="zh-CN" sz="2800" dirty="0"/>
              <a:t>    </a:t>
            </a:r>
            <a:r>
              <a:rPr lang="zh-CN" altLang="zh-CN" sz="2800" dirty="0"/>
              <a:t>）。</a:t>
            </a:r>
          </a:p>
          <a:p>
            <a:pPr>
              <a:lnSpc>
                <a:spcPct val="200000"/>
              </a:lnSpc>
            </a:pPr>
            <a:r>
              <a:rPr lang="zh-CN" altLang="zh-CN" sz="2800" dirty="0"/>
              <a:t>（</a:t>
            </a:r>
            <a:r>
              <a:rPr lang="en-US" altLang="zh-CN" sz="2800" dirty="0"/>
              <a:t>A</a:t>
            </a:r>
            <a:r>
              <a:rPr lang="zh-CN" altLang="zh-CN" sz="2800" dirty="0"/>
              <a:t>）当</a:t>
            </a:r>
            <a:r>
              <a:rPr lang="en-US" altLang="zh-CN" sz="2800" dirty="0"/>
              <a:t>μ</a:t>
            </a:r>
            <a:r>
              <a:rPr lang="zh-CN" altLang="zh-CN" sz="2800" dirty="0"/>
              <a:t>为已知时，</a:t>
            </a:r>
            <a:r>
              <a:rPr lang="en-US" altLang="zh-CN" sz="2800" dirty="0"/>
              <a:t> 	  </a:t>
            </a:r>
            <a:endParaRPr lang="en-US" altLang="zh-CN" sz="2800" dirty="0" smtClean="0"/>
          </a:p>
          <a:p>
            <a:pPr>
              <a:lnSpc>
                <a:spcPct val="200000"/>
              </a:lnSpc>
            </a:pPr>
            <a:r>
              <a:rPr lang="zh-CN" altLang="zh-CN" sz="2800" dirty="0" smtClean="0"/>
              <a:t>（</a:t>
            </a:r>
            <a:r>
              <a:rPr lang="en-US" altLang="zh-CN" sz="2800" dirty="0"/>
              <a:t>B</a:t>
            </a:r>
            <a:r>
              <a:rPr lang="zh-CN" altLang="zh-CN" sz="2800" dirty="0"/>
              <a:t>）当</a:t>
            </a:r>
            <a:r>
              <a:rPr lang="en-US" altLang="zh-CN" sz="2800" dirty="0"/>
              <a:t>μ</a:t>
            </a:r>
            <a:r>
              <a:rPr lang="zh-CN" altLang="zh-CN" sz="2800" dirty="0"/>
              <a:t>为已知时，</a:t>
            </a:r>
            <a:r>
              <a:rPr lang="en-US" altLang="zh-CN" sz="2800" dirty="0"/>
              <a:t> </a:t>
            </a:r>
            <a:endParaRPr lang="zh-CN" altLang="zh-CN" sz="2800" dirty="0"/>
          </a:p>
          <a:p>
            <a:pPr>
              <a:lnSpc>
                <a:spcPct val="200000"/>
              </a:lnSpc>
            </a:pPr>
            <a:r>
              <a:rPr lang="zh-CN" altLang="zh-CN" sz="2800" dirty="0"/>
              <a:t>（</a:t>
            </a:r>
            <a:r>
              <a:rPr lang="en-US" altLang="zh-CN" sz="2800" dirty="0"/>
              <a:t>C</a:t>
            </a:r>
            <a:r>
              <a:rPr lang="zh-CN" altLang="zh-CN" sz="2800" dirty="0"/>
              <a:t>）当</a:t>
            </a:r>
            <a:r>
              <a:rPr lang="en-US" altLang="zh-CN" sz="2800" dirty="0"/>
              <a:t>μ</a:t>
            </a:r>
            <a:r>
              <a:rPr lang="zh-CN" altLang="zh-CN" sz="2800" dirty="0"/>
              <a:t>为未知时，</a:t>
            </a:r>
            <a:r>
              <a:rPr lang="en-US" altLang="zh-CN" sz="2800" dirty="0"/>
              <a:t> </a:t>
            </a:r>
            <a:endParaRPr lang="en-US" altLang="zh-CN" sz="2800" dirty="0" smtClean="0"/>
          </a:p>
          <a:p>
            <a:pPr>
              <a:lnSpc>
                <a:spcPct val="200000"/>
              </a:lnSpc>
            </a:pPr>
            <a:r>
              <a:rPr lang="en-US" altLang="zh-CN" sz="2800" dirty="0" smtClean="0"/>
              <a:t>   </a:t>
            </a:r>
            <a:r>
              <a:rPr lang="zh-CN" altLang="zh-CN" sz="2800" dirty="0"/>
              <a:t>（</a:t>
            </a:r>
            <a:r>
              <a:rPr lang="en-US" altLang="zh-CN" sz="2800" dirty="0"/>
              <a:t>D</a:t>
            </a:r>
            <a:r>
              <a:rPr lang="zh-CN" altLang="zh-CN" sz="2800" dirty="0"/>
              <a:t>）当</a:t>
            </a:r>
            <a:r>
              <a:rPr lang="en-US" altLang="zh-CN" sz="2800" dirty="0"/>
              <a:t>μ</a:t>
            </a:r>
            <a:r>
              <a:rPr lang="zh-CN" altLang="zh-CN" sz="2800" dirty="0"/>
              <a:t>为未知时，</a:t>
            </a:r>
            <a:r>
              <a:rPr lang="en-US" altLang="zh-CN" sz="2800" dirty="0"/>
              <a:t> </a:t>
            </a:r>
            <a:endParaRPr lang="zh-CN" altLang="zh-CN" sz="2800" dirty="0"/>
          </a:p>
          <a:p>
            <a:pPr>
              <a:lnSpc>
                <a:spcPct val="200000"/>
              </a:lnSpc>
            </a:pPr>
            <a:endParaRPr lang="zh-CN" altLang="en-US" sz="2800" dirty="0"/>
          </a:p>
        </p:txBody>
      </p:sp>
      <p:pic>
        <p:nvPicPr>
          <p:cNvPr id="7190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326356"/>
            <a:ext cx="151216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1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608" y="4149080"/>
            <a:ext cx="15113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2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672" y="3199817"/>
            <a:ext cx="1624963" cy="843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3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190" y="4941243"/>
            <a:ext cx="1627187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7524328" y="3098264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A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3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1"/>
          <p:cNvSpPr txBox="1">
            <a:spLocks noChangeArrowheads="1"/>
          </p:cNvSpPr>
          <p:nvPr/>
        </p:nvSpPr>
        <p:spPr bwMode="auto">
          <a:xfrm>
            <a:off x="755650" y="574675"/>
            <a:ext cx="792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/>
              <a:t>2  </a:t>
            </a:r>
            <a:r>
              <a:rPr lang="zh-CN" altLang="en-US" sz="2800" b="1" i="0"/>
              <a:t>设总体</a:t>
            </a:r>
            <a:r>
              <a:rPr lang="en-US" altLang="zh-CN" sz="2800" b="1" i="0"/>
              <a:t>X~N(0,1)</a:t>
            </a:r>
            <a:r>
              <a:rPr lang="zh-CN" altLang="en-US" sz="2800" b="1" i="0"/>
              <a:t>，            为一样本，则  </a:t>
            </a:r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95736" y="1222807"/>
            <a:ext cx="4463722" cy="461665"/>
          </a:xfrm>
          <a:prstGeom prst="rect">
            <a:avLst/>
          </a:prstGeom>
          <a:blipFill rotWithShape="1">
            <a:blip r:embed="rId2"/>
            <a:stretch>
              <a:fillRect b="-21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23928" y="598264"/>
            <a:ext cx="1366080" cy="461665"/>
          </a:xfrm>
          <a:prstGeom prst="rect">
            <a:avLst/>
          </a:prstGeom>
          <a:blipFill rotWithShape="1">
            <a:blip r:embed="rId3"/>
            <a:stretch>
              <a:fillRect b="-263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95736" y="1769254"/>
            <a:ext cx="4684103" cy="1100558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9158" name="TextBox 5"/>
          <p:cNvSpPr txBox="1">
            <a:spLocks noChangeArrowheads="1"/>
          </p:cNvSpPr>
          <p:nvPr/>
        </p:nvSpPr>
        <p:spPr bwMode="auto">
          <a:xfrm>
            <a:off x="1192213" y="2951163"/>
            <a:ext cx="70564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                            </a:t>
            </a:r>
            <a:r>
              <a:rPr lang="en-US" altLang="zh-CN" sz="2800" b="1" i="0"/>
              <a:t>,</a:t>
            </a:r>
            <a:r>
              <a:rPr lang="zh-CN" altLang="en-US" sz="2800" b="1" i="0"/>
              <a:t>且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独立，则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99977" y="2972908"/>
            <a:ext cx="2850076" cy="461665"/>
          </a:xfrm>
          <a:prstGeom prst="rect">
            <a:avLst/>
          </a:prstGeom>
          <a:blipFill rotWithShape="1">
            <a:blip r:embed="rId5"/>
            <a:stretch>
              <a:fillRect b="-21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51932" y="3474219"/>
            <a:ext cx="1760610" cy="85594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9161" name="TextBox 8"/>
          <p:cNvSpPr txBox="1">
            <a:spLocks noChangeArrowheads="1"/>
          </p:cNvSpPr>
          <p:nvPr/>
        </p:nvSpPr>
        <p:spPr bwMode="auto">
          <a:xfrm>
            <a:off x="1187450" y="4346575"/>
            <a:ext cx="7056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                            </a:t>
            </a:r>
            <a:r>
              <a:rPr lang="en-US" altLang="zh-CN" sz="2800" b="1" i="0"/>
              <a:t>,</a:t>
            </a:r>
            <a:r>
              <a:rPr lang="zh-CN" altLang="en-US" sz="2800" b="1" i="0"/>
              <a:t>且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独立，则服从</a:t>
            </a:r>
            <a:r>
              <a:rPr lang="en-US" altLang="zh-CN" sz="2800" b="1" i="0"/>
              <a:t>t(n)</a:t>
            </a:r>
            <a:r>
              <a:rPr lang="zh-CN" altLang="en-US" sz="2800" b="1" i="0"/>
              <a:t>分布的为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99977" y="4365104"/>
            <a:ext cx="2886688" cy="461665"/>
          </a:xfrm>
          <a:prstGeom prst="rect">
            <a:avLst/>
          </a:prstGeom>
          <a:blipFill rotWithShape="1">
            <a:blip r:embed="rId7"/>
            <a:stretch>
              <a:fillRect b="-1973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72307" y="5301208"/>
            <a:ext cx="5459764" cy="1183529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512" y="171564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C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1629" y="3640579"/>
            <a:ext cx="1282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F(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m,n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9028" y="531278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D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1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Box 1"/>
          <p:cNvSpPr txBox="1">
            <a:spLocks noChangeArrowheads="1"/>
          </p:cNvSpPr>
          <p:nvPr/>
        </p:nvSpPr>
        <p:spPr bwMode="auto">
          <a:xfrm>
            <a:off x="1331913" y="765175"/>
            <a:ext cx="611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X~t(n)</a:t>
            </a:r>
            <a:r>
              <a:rPr lang="zh-CN" altLang="en-US" sz="2800" b="1" i="0"/>
              <a:t>，              </a:t>
            </a:r>
            <a:r>
              <a:rPr lang="en-US" altLang="zh-CN" sz="2800" b="1" i="0"/>
              <a:t>,</a:t>
            </a:r>
            <a:r>
              <a:rPr lang="zh-CN" altLang="en-US" sz="2800" b="1" i="0"/>
              <a:t>则</a:t>
            </a:r>
            <a:r>
              <a:rPr lang="en-US" altLang="zh-CN" sz="2800" b="1" i="0"/>
              <a:t>Y~(   )</a:t>
            </a:r>
            <a:endParaRPr lang="zh-CN" altLang="en-US" sz="2800" b="1" i="0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35896" y="634412"/>
            <a:ext cx="1219373" cy="78380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0180" name="TextBox 3"/>
          <p:cNvSpPr txBox="1">
            <a:spLocks noChangeArrowheads="1"/>
          </p:cNvSpPr>
          <p:nvPr/>
        </p:nvSpPr>
        <p:spPr bwMode="auto">
          <a:xfrm>
            <a:off x="1331913" y="1484313"/>
            <a:ext cx="6119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X~t(n)</a:t>
            </a:r>
            <a:r>
              <a:rPr lang="zh-CN" altLang="en-US" sz="2800" b="1" i="0"/>
              <a:t>，              </a:t>
            </a:r>
            <a:r>
              <a:rPr lang="en-US" altLang="zh-CN" sz="2800" b="1" i="0"/>
              <a:t>,</a:t>
            </a:r>
            <a:r>
              <a:rPr lang="zh-CN" altLang="en-US" sz="2800" b="1" i="0"/>
              <a:t>则</a:t>
            </a:r>
            <a:r>
              <a:rPr lang="en-US" altLang="zh-CN" sz="2800" b="1" i="0"/>
              <a:t>Y~(   )</a:t>
            </a:r>
            <a:endParaRPr lang="zh-CN" altLang="en-US" sz="2800" b="1" i="0"/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35896" y="1515561"/>
            <a:ext cx="1219373" cy="46166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0182" name="TextBox 5"/>
          <p:cNvSpPr txBox="1">
            <a:spLocks noChangeArrowheads="1"/>
          </p:cNvSpPr>
          <p:nvPr/>
        </p:nvSpPr>
        <p:spPr bwMode="auto">
          <a:xfrm>
            <a:off x="1331913" y="2276475"/>
            <a:ext cx="3522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</a:t>
            </a:r>
            <a:r>
              <a:rPr lang="en-US" altLang="zh-CN" sz="2800" b="1" i="0"/>
              <a:t>X~N(0,9)</a:t>
            </a:r>
            <a:r>
              <a:rPr lang="zh-CN" altLang="en-US" sz="2800" b="1" i="0"/>
              <a:t>，则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34985" y="2276872"/>
            <a:ext cx="2845972" cy="932884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0184" name="TextBox 7"/>
          <p:cNvSpPr txBox="1">
            <a:spLocks noChangeArrowheads="1"/>
          </p:cNvSpPr>
          <p:nvPr/>
        </p:nvSpPr>
        <p:spPr bwMode="auto">
          <a:xfrm>
            <a:off x="1331913" y="3500438"/>
            <a:ext cx="3522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</a:t>
            </a:r>
            <a:r>
              <a:rPr lang="en-US" altLang="zh-CN" sz="2800" b="1" i="0"/>
              <a:t>X~N(0,1)</a:t>
            </a:r>
            <a:r>
              <a:rPr lang="zh-CN" altLang="en-US" sz="2800" b="1" i="0"/>
              <a:t>，则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34985" y="3501008"/>
            <a:ext cx="2038315" cy="921406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0186" name="TextBox 9"/>
          <p:cNvSpPr txBox="1">
            <a:spLocks noChangeArrowheads="1"/>
          </p:cNvSpPr>
          <p:nvPr/>
        </p:nvSpPr>
        <p:spPr bwMode="auto">
          <a:xfrm>
            <a:off x="1331913" y="4883150"/>
            <a:ext cx="3522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 </a:t>
            </a:r>
            <a:r>
              <a:rPr lang="en-US" altLang="zh-CN" sz="2800" b="1" i="0"/>
              <a:t>X~N(0,1)</a:t>
            </a:r>
            <a:r>
              <a:rPr lang="zh-CN" altLang="en-US" sz="2800" b="1" i="0"/>
              <a:t>，则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34985" y="4883858"/>
            <a:ext cx="1849802" cy="1243097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4784" y="634412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F(n,1)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76268" y="1418216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F(1,n)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3645" y="2481704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F(10,5)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22733" y="3700101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F(1,1)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93083" y="4985361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t(2)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24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610434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设总体</a:t>
            </a:r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的密度为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835696" y="1174830"/>
                <a:ext cx="5079916" cy="1285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zh-CN" sz="2800" b="1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𝜽</m:t>
                                    </m:r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𝜽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&lt;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&lt;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𝒐𝒕𝒉𝒆𝒓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b="1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174830"/>
                <a:ext cx="5079916" cy="12858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87624" y="2852936"/>
                <a:ext cx="712879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/>
                  <a:t> 为样本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/>
                  <a:t>的样本观测值，求未知参数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800" b="1" i="1" smtClean="0">
                        <a:latin typeface="Cambria Math"/>
                      </a:rPr>
                      <m:t>𝜽</m:t>
                    </m:r>
                  </m:oMath>
                </a14:m>
                <a:r>
                  <a:rPr lang="zh-CN" altLang="en-US" sz="2800" b="1" dirty="0" smtClean="0"/>
                  <a:t> 的矩估计值和最大似然估计值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852936"/>
                <a:ext cx="7128792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1796" b="-4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62310" y="4725144"/>
                <a:ext cx="5819542" cy="10545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</m:den>
                      </m:f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                   −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CN" sz="2800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𝐧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800" b="1" i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𝐥𝐧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310" y="4725144"/>
                <a:ext cx="5819542" cy="105458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2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1"/>
          <p:cNvSpPr txBox="1">
            <a:spLocks noChangeArrowheads="1"/>
          </p:cNvSpPr>
          <p:nvPr/>
        </p:nvSpPr>
        <p:spPr bwMode="auto">
          <a:xfrm>
            <a:off x="684213" y="404813"/>
            <a:ext cx="41036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/>
              <a:t>3 </a:t>
            </a:r>
            <a:r>
              <a:rPr lang="zh-CN" altLang="en-US" sz="2800" b="1" i="0"/>
              <a:t>设总体</a:t>
            </a:r>
            <a:r>
              <a:rPr lang="en-US" altLang="zh-CN" sz="2800" b="1" i="0"/>
              <a:t>X</a:t>
            </a:r>
            <a:r>
              <a:rPr lang="zh-CN" altLang="en-US" sz="2800" b="1" i="0"/>
              <a:t>的分布为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99592" y="1052736"/>
          <a:ext cx="6792415" cy="1239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483"/>
                <a:gridCol w="1358483"/>
                <a:gridCol w="1358483"/>
                <a:gridCol w="1358483"/>
                <a:gridCol w="1358483"/>
              </a:tblGrid>
              <a:tr h="61995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95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100448" t="-105941" r="-299552" b="-99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201351" t="-105941" r="-200901" b="-99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300000" t="-105941" r="-100000" b="-99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400000" t="-105941" b="-990"/>
                      </a:stretch>
                    </a:blipFill>
                  </a:tcPr>
                </a:tc>
              </a:tr>
            </a:tbl>
          </a:graphicData>
        </a:graphic>
      </p:graphicFrame>
      <p:sp>
        <p:nvSpPr>
          <p:cNvPr id="51204" name="TextBox 3"/>
          <p:cNvSpPr txBox="1">
            <a:spLocks noChangeArrowheads="1"/>
          </p:cNvSpPr>
          <p:nvPr/>
        </p:nvSpPr>
        <p:spPr bwMode="auto">
          <a:xfrm>
            <a:off x="827088" y="2687638"/>
            <a:ext cx="69135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利用</a:t>
            </a:r>
            <a:r>
              <a:rPr lang="en-US" altLang="zh-CN" sz="2800" b="1" i="0"/>
              <a:t>X</a:t>
            </a:r>
            <a:r>
              <a:rPr lang="zh-CN" altLang="en-US" sz="2800" b="1" i="0"/>
              <a:t>的如下样本值：</a:t>
            </a:r>
            <a:r>
              <a:rPr lang="en-US" altLang="zh-CN" sz="2800" b="1" i="0"/>
              <a:t>3,1,3,0,3,1,2,3</a:t>
            </a:r>
            <a:r>
              <a:rPr lang="zh-CN" altLang="en-US" sz="2800" b="1" i="0"/>
              <a:t>，求参数的矩估计值和最大似然估计值</a:t>
            </a:r>
          </a:p>
        </p:txBody>
      </p:sp>
      <p:sp>
        <p:nvSpPr>
          <p:cNvPr id="51205" name="TextBox 4"/>
          <p:cNvSpPr txBox="1">
            <a:spLocks noChangeArrowheads="1"/>
          </p:cNvSpPr>
          <p:nvPr/>
        </p:nvSpPr>
        <p:spPr bwMode="auto">
          <a:xfrm>
            <a:off x="1042988" y="3860800"/>
            <a:ext cx="1225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56186" y="3861048"/>
            <a:ext cx="1305294" cy="461665"/>
          </a:xfrm>
          <a:prstGeom prst="rect">
            <a:avLst/>
          </a:prstGeom>
          <a:blipFill rotWithShape="1">
            <a:blip r:embed="rId3"/>
            <a:stretch>
              <a:fillRect r="-467" b="-1973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1207" name="TextBox 6"/>
          <p:cNvSpPr txBox="1">
            <a:spLocks noChangeArrowheads="1"/>
          </p:cNvSpPr>
          <p:nvPr/>
        </p:nvSpPr>
        <p:spPr bwMode="auto">
          <a:xfrm>
            <a:off x="3203575" y="3860800"/>
            <a:ext cx="496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，求参数的最大似然估计量。</a:t>
            </a:r>
          </a:p>
        </p:txBody>
      </p:sp>
      <p:sp>
        <p:nvSpPr>
          <p:cNvPr id="51208" name="TextBox 7"/>
          <p:cNvSpPr txBox="1">
            <a:spLocks noChangeArrowheads="1"/>
          </p:cNvSpPr>
          <p:nvPr/>
        </p:nvSpPr>
        <p:spPr bwMode="auto">
          <a:xfrm>
            <a:off x="1042988" y="4508500"/>
            <a:ext cx="2808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 </a:t>
            </a:r>
            <a:r>
              <a:rPr lang="zh-CN" altLang="en-US" sz="2800" b="1" i="0"/>
              <a:t>的密度为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39985" y="4509120"/>
            <a:ext cx="3496277" cy="1271438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51210" name="TextBox 10"/>
          <p:cNvSpPr txBox="1">
            <a:spLocks noChangeArrowheads="1"/>
          </p:cNvSpPr>
          <p:nvPr/>
        </p:nvSpPr>
        <p:spPr bwMode="auto">
          <a:xfrm>
            <a:off x="1684338" y="5807075"/>
            <a:ext cx="496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求参数的最大似然估计量。</a:t>
            </a:r>
          </a:p>
        </p:txBody>
      </p:sp>
    </p:spTree>
    <p:extLst>
      <p:ext uri="{BB962C8B-B14F-4D97-AF65-F5344CB8AC3E}">
        <p14:creationId xmlns:p14="http://schemas.microsoft.com/office/powerpoint/2010/main" val="186679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mtClean="0"/>
              <a:t>第一章 概率论的基本概念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6912" y="1412776"/>
            <a:ext cx="8229600" cy="622300"/>
          </a:xfrm>
        </p:spPr>
        <p:txBody>
          <a:bodyPr/>
          <a:lstStyle/>
          <a:p>
            <a:pPr eaLnBrk="1" hangingPunct="1"/>
            <a:r>
              <a:rPr lang="zh-CN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基本概念 </a:t>
            </a:r>
            <a:r>
              <a:rPr lang="zh-CN" sz="2800" dirty="0" smtClean="0">
                <a:latin typeface="宋体" pitchFamily="2" charset="-122"/>
              </a:rPr>
              <a:t> </a:t>
            </a:r>
            <a:r>
              <a:rPr lang="zh-CN" sz="2800" b="1" dirty="0" smtClean="0">
                <a:latin typeface="宋体" pitchFamily="2" charset="-122"/>
              </a:rPr>
              <a:t>样本空间、事件、概率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Text Box 4"/>
              <p:cNvSpPr txBox="1">
                <a:spLocks noChangeArrowheads="1"/>
              </p:cNvSpPr>
              <p:nvPr/>
            </p:nvSpPr>
            <p:spPr bwMode="auto">
              <a:xfrm>
                <a:off x="560387" y="2205038"/>
                <a:ext cx="7373937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b="1" i="0" dirty="0" smtClean="0">
                    <a:solidFill>
                      <a:schemeClr val="accent2"/>
                    </a:solidFill>
                    <a:latin typeface="宋体" pitchFamily="2" charset="-122"/>
                    <a:ea typeface="黑体" pitchFamily="49" charset="-122"/>
                  </a:rPr>
                  <a:t>事件的运算</a:t>
                </a:r>
                <a:r>
                  <a:rPr lang="zh-CN" altLang="en-US" sz="2800" i="0" dirty="0">
                    <a:latin typeface="宋体" pitchFamily="2" charset="-122"/>
                  </a:rPr>
                  <a:t>     </a:t>
                </a:r>
                <a:r>
                  <a:rPr lang="zh-CN" altLang="en-US" sz="2800" b="1" i="0" dirty="0">
                    <a:latin typeface="宋体" pitchFamily="2" charset="-122"/>
                  </a:rPr>
                  <a:t>和、积、</a:t>
                </a:r>
                <a:r>
                  <a:rPr lang="zh-CN" altLang="en-US" sz="2800" b="1" i="0" dirty="0" smtClean="0">
                    <a:latin typeface="宋体" pitchFamily="2" charset="-122"/>
                  </a:rPr>
                  <a:t>差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sz="2800" b="1" i="0" dirty="0" smtClean="0">
                    <a:solidFill>
                      <a:srgbClr val="FF0000"/>
                    </a:solidFill>
                    <a:latin typeface="宋体" pitchFamily="2" charset="-122"/>
                  </a:rPr>
                  <a:t> </a:t>
                </a:r>
                <a:endParaRPr lang="zh-CN" altLang="en-US" sz="2800" b="1" i="0" dirty="0">
                  <a:solidFill>
                    <a:srgbClr val="FF0000"/>
                  </a:solidFill>
                  <a:latin typeface="宋体" pitchFamily="2" charset="-122"/>
                </a:endParaRPr>
              </a:p>
            </p:txBody>
          </p:sp>
        </mc:Choice>
        <mc:Fallback>
          <p:sp>
            <p:nvSpPr>
              <p:cNvPr id="614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387" y="2205038"/>
                <a:ext cx="7373937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2149" t="-15625" b="-31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539750" y="2997200"/>
            <a:ext cx="87852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chemeClr val="accent2"/>
                </a:solidFill>
                <a:latin typeface="宋体" pitchFamily="2" charset="-122"/>
                <a:ea typeface="黑体" pitchFamily="49" charset="-122"/>
              </a:rPr>
              <a:t>事件的关系</a:t>
            </a:r>
            <a:r>
              <a:rPr lang="zh-CN" altLang="en-US" sz="2800" b="1" i="0" dirty="0">
                <a:latin typeface="宋体" pitchFamily="2" charset="-122"/>
              </a:rPr>
              <a:t>  </a:t>
            </a:r>
          </a:p>
          <a:p>
            <a:pPr eaLnBrk="1" hangingPunct="1"/>
            <a:r>
              <a:rPr lang="zh-CN" altLang="en-US" sz="2800" b="1" i="0" dirty="0">
                <a:latin typeface="宋体" pitchFamily="2" charset="-122"/>
              </a:rPr>
              <a:t>      包含、相等、互斥（互不相容）、对立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39750" y="4292600"/>
            <a:ext cx="7394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chemeClr val="accent2"/>
                </a:solidFill>
                <a:ea typeface="黑体" pitchFamily="49" charset="-122"/>
              </a:rPr>
              <a:t>概率的性质</a:t>
            </a:r>
            <a:r>
              <a:rPr lang="zh-CN" altLang="en-US" dirty="0"/>
              <a:t>      </a:t>
            </a:r>
            <a:r>
              <a:rPr lang="zh-CN" altLang="en-US" sz="2800" b="1" i="0" dirty="0">
                <a:latin typeface="宋体" pitchFamily="2" charset="-122"/>
              </a:rPr>
              <a:t>对立事件的概率、加法公式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339975" y="4999038"/>
            <a:ext cx="59039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 dirty="0"/>
              <a:t>乘法公式、全概率公式、贝叶斯公式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609600" y="5564188"/>
            <a:ext cx="4106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chemeClr val="accent2"/>
                </a:solidFill>
                <a:ea typeface="黑体" pitchFamily="49" charset="-122"/>
              </a:rPr>
              <a:t>事件的独立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3203575" y="5661025"/>
            <a:ext cx="54530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P(AB)=P(A)P(B)</a:t>
            </a:r>
          </a:p>
        </p:txBody>
      </p:sp>
    </p:spTree>
    <p:extLst>
      <p:ext uri="{BB962C8B-B14F-4D97-AF65-F5344CB8AC3E}">
        <p14:creationId xmlns:p14="http://schemas.microsoft.com/office/powerpoint/2010/main" val="13533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887523"/>
              </p:ext>
            </p:extLst>
          </p:nvPr>
        </p:nvGraphicFramePr>
        <p:xfrm>
          <a:off x="899592" y="908720"/>
          <a:ext cx="61261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公式" r:id="rId3" imgW="2476440" imgH="203040" progId="Equation.3">
                  <p:embed/>
                </p:oleObj>
              </mc:Choice>
              <mc:Fallback>
                <p:oleObj name="公式" r:id="rId3" imgW="247644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908720"/>
                        <a:ext cx="61261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501133"/>
              </p:ext>
            </p:extLst>
          </p:nvPr>
        </p:nvGraphicFramePr>
        <p:xfrm>
          <a:off x="899592" y="1700808"/>
          <a:ext cx="46942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公式" r:id="rId5" imgW="1828800" imgH="190440" progId="Equation.3">
                  <p:embed/>
                </p:oleObj>
              </mc:Choice>
              <mc:Fallback>
                <p:oleObj name="公式" r:id="rId5" imgW="1828800" imgH="1904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700808"/>
                        <a:ext cx="46942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971070"/>
              </p:ext>
            </p:extLst>
          </p:nvPr>
        </p:nvGraphicFramePr>
        <p:xfrm>
          <a:off x="2712343" y="4732659"/>
          <a:ext cx="5588000" cy="108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公式" r:id="rId7" imgW="2235200" imgH="431800" progId="Equation.3">
                  <p:embed/>
                </p:oleObj>
              </mc:Choice>
              <mc:Fallback>
                <p:oleObj name="公式" r:id="rId7" imgW="2235200" imgH="4318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343" y="4732659"/>
                        <a:ext cx="5588000" cy="1080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12191" y="3722812"/>
            <a:ext cx="45704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 dirty="0">
                <a:solidFill>
                  <a:schemeClr val="accent2"/>
                </a:solidFill>
                <a:ea typeface="黑体" pitchFamily="49" charset="-122"/>
              </a:rPr>
              <a:t>古典概型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96368" y="3645024"/>
            <a:ext cx="69961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 dirty="0">
                <a:solidFill>
                  <a:srgbClr val="0000CC"/>
                </a:solidFill>
                <a:latin typeface="宋体" pitchFamily="2" charset="-122"/>
              </a:rPr>
              <a:t> </a:t>
            </a:r>
            <a:r>
              <a:rPr lang="zh-CN" altLang="en-US" sz="2800" b="1" i="0" dirty="0" smtClean="0">
                <a:solidFill>
                  <a:srgbClr val="0000CC"/>
                </a:solidFill>
                <a:latin typeface="宋体" pitchFamily="2" charset="-122"/>
              </a:rPr>
              <a:t>   </a:t>
            </a:r>
            <a:r>
              <a:rPr lang="zh-CN" altLang="en-US" sz="2800" b="1" i="0" dirty="0" smtClean="0">
                <a:latin typeface="宋体" pitchFamily="2" charset="-122"/>
              </a:rPr>
              <a:t>   </a:t>
            </a:r>
            <a:r>
              <a:rPr lang="zh-CN" altLang="en-US" sz="2800" b="1" i="0" dirty="0">
                <a:latin typeface="宋体" pitchFamily="2" charset="-122"/>
              </a:rPr>
              <a:t>样本点个数有限</a:t>
            </a:r>
          </a:p>
          <a:p>
            <a:pPr eaLnBrk="1" hangingPunct="1"/>
            <a:r>
              <a:rPr lang="zh-CN" altLang="en-US" sz="2800" b="1" i="0" dirty="0">
                <a:latin typeface="宋体" pitchFamily="2" charset="-122"/>
              </a:rPr>
              <a:t>       每个基本事件发生的概率相同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05098" y="5013176"/>
            <a:ext cx="378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 dirty="0">
                <a:solidFill>
                  <a:srgbClr val="0000CC"/>
                </a:solidFill>
              </a:rPr>
              <a:t>概率公式</a:t>
            </a:r>
          </a:p>
        </p:txBody>
      </p:sp>
    </p:spTree>
    <p:extLst>
      <p:ext uri="{BB962C8B-B14F-4D97-AF65-F5344CB8AC3E}">
        <p14:creationId xmlns:p14="http://schemas.microsoft.com/office/powerpoint/2010/main" val="33830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6672"/>
            <a:ext cx="309562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2204864"/>
            <a:ext cx="470535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106091"/>
              </p:ext>
            </p:extLst>
          </p:nvPr>
        </p:nvGraphicFramePr>
        <p:xfrm>
          <a:off x="839416" y="3140968"/>
          <a:ext cx="403542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公式" r:id="rId5" imgW="1638000" imgH="444240" progId="Equation.3">
                  <p:embed/>
                </p:oleObj>
              </mc:Choice>
              <mc:Fallback>
                <p:oleObj name="公式" r:id="rId5" imgW="16380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3140968"/>
                        <a:ext cx="4035425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975637"/>
              </p:ext>
            </p:extLst>
          </p:nvPr>
        </p:nvGraphicFramePr>
        <p:xfrm>
          <a:off x="859210" y="4769643"/>
          <a:ext cx="18557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公式" r:id="rId7" imgW="813823" imgH="279960" progId="Equation.3">
                  <p:embed/>
                </p:oleObj>
              </mc:Choice>
              <mc:Fallback>
                <p:oleObj name="公式" r:id="rId7" imgW="813823" imgH="279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10" y="4769643"/>
                        <a:ext cx="1855788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005530"/>
              </p:ext>
            </p:extLst>
          </p:nvPr>
        </p:nvGraphicFramePr>
        <p:xfrm>
          <a:off x="2764210" y="4445793"/>
          <a:ext cx="14478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公式" r:id="rId9" imgW="634680" imgH="482400" progId="Equation.3">
                  <p:embed/>
                </p:oleObj>
              </mc:Choice>
              <mc:Fallback>
                <p:oleObj name="公式" r:id="rId9" imgW="63468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210" y="4445793"/>
                        <a:ext cx="14478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761180"/>
              </p:ext>
            </p:extLst>
          </p:nvPr>
        </p:nvGraphicFramePr>
        <p:xfrm>
          <a:off x="4139952" y="4437112"/>
          <a:ext cx="5715000" cy="181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公式" r:id="rId11" imgW="2527200" imgH="787320" progId="Equation.3">
                  <p:embed/>
                </p:oleObj>
              </mc:Choice>
              <mc:Fallback>
                <p:oleObj name="公式" r:id="rId11" imgW="2527200" imgH="787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437112"/>
                        <a:ext cx="5715000" cy="181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032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723900" y="694531"/>
            <a:ext cx="3810000" cy="6270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9pPr>
          </a:lstStyle>
          <a:p>
            <a:pPr eaLnBrk="1" hangingPunct="1"/>
            <a:r>
              <a:rPr lang="zh-CN" sz="3200" b="0">
                <a:solidFill>
                  <a:srgbClr val="FF0066"/>
                </a:solidFill>
                <a:latin typeface="宋体" pitchFamily="2" charset="-122"/>
              </a:rPr>
              <a:t>全概率公式的使用</a:t>
            </a:r>
          </a:p>
        </p:txBody>
      </p:sp>
      <p:sp>
        <p:nvSpPr>
          <p:cNvPr id="3" name="Rectangle 3" descr="Rectangle: Click to edit Master text styles&#10;Second level&#10;Third level&#10;Fourth level&#10;Fifth level"/>
          <p:cNvSpPr>
            <a:spLocks noGrp="1" noChangeArrowheads="1"/>
          </p:cNvSpPr>
          <p:nvPr/>
        </p:nvSpPr>
        <p:spPr bwMode="auto">
          <a:xfrm>
            <a:off x="1384300" y="1532731"/>
            <a:ext cx="7112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itchFamily="2" charset="2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marL="0" indent="0" eaLnBrk="1" hangingPunct="1"/>
            <a:r>
              <a:rPr lang="zh-CN" altLang="en-US" sz="2800" b="1"/>
              <a:t>我们把事件</a:t>
            </a:r>
            <a:r>
              <a:rPr lang="en-US" sz="2800" b="1" i="1">
                <a:latin typeface="Times New Roman" pitchFamily="18" charset="0"/>
              </a:rPr>
              <a:t>B </a:t>
            </a:r>
            <a:r>
              <a:rPr lang="zh-CN" altLang="en-US" sz="2800" b="1"/>
              <a:t>看作某一过程的结果，</a:t>
            </a:r>
          </a:p>
        </p:txBody>
      </p:sp>
      <p:pic>
        <p:nvPicPr>
          <p:cNvPr id="4" name="Object 2" descr="Rectangle: Click to edit Master text styles&#10;Second level&#10;Third level&#10;Fourth level&#10;Fifth leve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025" y="2142331"/>
            <a:ext cx="7712075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47700" y="2751931"/>
            <a:ext cx="718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根据历史资料，每一原因发生的概率已知，</a:t>
            </a:r>
          </a:p>
        </p:txBody>
      </p:sp>
      <p:pic>
        <p:nvPicPr>
          <p:cNvPr id="6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4500" y="3361531"/>
            <a:ext cx="2668588" cy="55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60700" y="4428331"/>
            <a:ext cx="3005138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47700" y="3894931"/>
            <a:ext cx="650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而且每一原因对结果的影响程度已知，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98500" y="5037931"/>
            <a:ext cx="7721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则我们可用全概率公式计算结果发生的概率．</a:t>
            </a:r>
          </a:p>
        </p:txBody>
      </p:sp>
      <p:pic>
        <p:nvPicPr>
          <p:cNvPr id="10" name="Object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67063" y="5647531"/>
            <a:ext cx="2146300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533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rrowheads="1"/>
          </p:cNvSpPr>
          <p:nvPr/>
        </p:nvSpPr>
        <p:spPr bwMode="auto">
          <a:xfrm>
            <a:off x="545306" y="438944"/>
            <a:ext cx="8053388" cy="593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itchFamily="2" charset="2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marL="0" indent="0" eaLnBrk="1" hangingPunct="1"/>
            <a:r>
              <a:rPr lang="zh-CN" altLang="zh-CN" sz="2800">
                <a:latin typeface="宋体" pitchFamily="2" charset="-122"/>
              </a:rPr>
              <a:t>  </a:t>
            </a:r>
            <a:r>
              <a:rPr lang="zh-CN" sz="2800" b="1">
                <a:solidFill>
                  <a:schemeClr val="accent2"/>
                </a:solidFill>
                <a:latin typeface="宋体" pitchFamily="2" charset="-122"/>
              </a:rPr>
              <a:t>全概率公式</a:t>
            </a:r>
            <a:r>
              <a:rPr lang="zh-CN" sz="2800">
                <a:latin typeface="宋体" pitchFamily="2" charset="-122"/>
              </a:rPr>
              <a:t>可由以下框图表示：</a:t>
            </a:r>
          </a:p>
          <a:p>
            <a:pPr marL="0" indent="0" eaLnBrk="1" hangingPunct="1"/>
            <a:r>
              <a:rPr lang="zh-CN" sz="2800">
                <a:latin typeface="宋体" pitchFamily="2" charset="-122"/>
              </a:rPr>
              <a:t>	设 </a:t>
            </a:r>
            <a:r>
              <a:rPr lang="zh-CN" altLang="zh-CN" sz="2800">
                <a:latin typeface="宋体" pitchFamily="2" charset="-122"/>
              </a:rPr>
              <a:t>P(B</a:t>
            </a:r>
            <a:r>
              <a:rPr lang="zh-CN" altLang="zh-CN" sz="2800" baseline="-25000">
                <a:latin typeface="宋体" pitchFamily="2" charset="-122"/>
              </a:rPr>
              <a:t>j</a:t>
            </a:r>
            <a:r>
              <a:rPr lang="zh-CN" altLang="zh-CN" sz="2800">
                <a:latin typeface="宋体" pitchFamily="2" charset="-122"/>
              </a:rPr>
              <a:t>)=p</a:t>
            </a:r>
            <a:r>
              <a:rPr lang="zh-CN" altLang="zh-CN" sz="2800" baseline="-25000">
                <a:latin typeface="宋体" pitchFamily="2" charset="-122"/>
              </a:rPr>
              <a:t>j</a:t>
            </a:r>
            <a:r>
              <a:rPr lang="zh-CN" altLang="zh-CN" sz="2800">
                <a:latin typeface="宋体" pitchFamily="2" charset="-122"/>
              </a:rPr>
              <a:t>, P(A|B</a:t>
            </a:r>
            <a:r>
              <a:rPr lang="zh-CN" altLang="zh-CN" sz="2800" baseline="-25000">
                <a:latin typeface="宋体" pitchFamily="2" charset="-122"/>
              </a:rPr>
              <a:t>j</a:t>
            </a:r>
            <a:r>
              <a:rPr lang="zh-CN" altLang="zh-CN" sz="2800">
                <a:latin typeface="宋体" pitchFamily="2" charset="-122"/>
              </a:rPr>
              <a:t>)=q</a:t>
            </a:r>
            <a:r>
              <a:rPr lang="zh-CN" altLang="zh-CN" sz="2800" baseline="-25000">
                <a:latin typeface="宋体" pitchFamily="2" charset="-122"/>
              </a:rPr>
              <a:t>j</a:t>
            </a:r>
            <a:r>
              <a:rPr lang="zh-CN" altLang="zh-CN" sz="2800">
                <a:latin typeface="宋体" pitchFamily="2" charset="-122"/>
              </a:rPr>
              <a:t>, j=1,2,…,n</a:t>
            </a:r>
          </a:p>
          <a:p>
            <a:pPr marL="0" indent="0" eaLnBrk="1" hangingPunct="1"/>
            <a:r>
              <a:rPr lang="zh-CN" altLang="zh-CN" sz="2800">
                <a:latin typeface="宋体" pitchFamily="2" charset="-122"/>
              </a:rPr>
              <a:t>	</a:t>
            </a:r>
            <a:r>
              <a:rPr lang="zh-CN" sz="2800">
                <a:latin typeface="宋体" pitchFamily="2" charset="-122"/>
              </a:rPr>
              <a:t>易知：</a:t>
            </a:r>
          </a:p>
        </p:txBody>
      </p:sp>
      <p:pic>
        <p:nvPicPr>
          <p:cNvPr id="3" name="Object 2"/>
          <p:cNvPicPr>
            <a:picLocks noRot="1"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4081" y="1562894"/>
            <a:ext cx="1524000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769519" y="3196432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endParaRPr lang="zh-CN" altLang="en-US" b="1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907256" y="3923507"/>
            <a:ext cx="647700" cy="647700"/>
          </a:xfrm>
          <a:prstGeom prst="ellipse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400" b="1">
                <a:solidFill>
                  <a:srgbClr val="FF0066"/>
                </a:solidFill>
              </a:rPr>
              <a:t>S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1554956" y="3490119"/>
            <a:ext cx="1079500" cy="649288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rot="324500">
            <a:off x="1554956" y="4283869"/>
            <a:ext cx="1081088" cy="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rot="481589">
            <a:off x="1410494" y="4499769"/>
            <a:ext cx="1368425" cy="107950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632869" y="3274219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chemeClr val="folHlink"/>
                </a:solidFill>
              </a:rPr>
              <a:t>P</a:t>
            </a:r>
            <a:r>
              <a:rPr lang="zh-CN" altLang="en-US" sz="2000" b="1" baseline="-25000">
                <a:solidFill>
                  <a:schemeClr val="folHlink"/>
                </a:solidFill>
              </a:rPr>
              <a:t>1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620169" y="4102894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chemeClr val="folHlink"/>
                </a:solidFill>
              </a:rPr>
              <a:t>P</a:t>
            </a:r>
            <a:r>
              <a:rPr lang="zh-CN" altLang="en-US" sz="2000" b="1" baseline="-25000">
                <a:solidFill>
                  <a:schemeClr val="folHlink"/>
                </a:solidFill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683669" y="5479257"/>
            <a:ext cx="455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chemeClr val="folHlink"/>
                </a:solidFill>
              </a:rPr>
              <a:t>P</a:t>
            </a:r>
            <a:r>
              <a:rPr lang="zh-CN" altLang="en-US" sz="2000" b="1" baseline="-25000">
                <a:solidFill>
                  <a:schemeClr val="folHlink"/>
                </a:solidFill>
              </a:rPr>
              <a:t>n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666206" y="4255294"/>
            <a:ext cx="257175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400">
                <a:solidFill>
                  <a:srgbClr val="FF0066"/>
                </a:solidFill>
              </a:rPr>
              <a:t>.</a:t>
            </a:r>
          </a:p>
          <a:p>
            <a:pPr algn="ctr" fontAlgn="t"/>
            <a:r>
              <a:rPr lang="zh-CN" altLang="en-US" sz="2400">
                <a:solidFill>
                  <a:srgbClr val="FF0066"/>
                </a:solidFill>
              </a:rPr>
              <a:t>.</a:t>
            </a:r>
          </a:p>
          <a:p>
            <a:pPr algn="ctr" fontAlgn="t"/>
            <a:r>
              <a:rPr lang="zh-CN" altLang="en-US" sz="2400">
                <a:solidFill>
                  <a:srgbClr val="FF0066"/>
                </a:solidFill>
              </a:rPr>
              <a:t>.</a:t>
            </a:r>
          </a:p>
          <a:p>
            <a:pPr algn="ctr" fontAlgn="t"/>
            <a:endParaRPr lang="zh-CN" altLang="en-US" sz="1800">
              <a:solidFill>
                <a:srgbClr val="FF0066"/>
              </a:solidFill>
            </a:endParaRPr>
          </a:p>
          <a:p>
            <a:pPr algn="ctr" fontAlgn="t"/>
            <a:endParaRPr lang="zh-CN" altLang="en-US" sz="1800">
              <a:solidFill>
                <a:srgbClr val="FF0066"/>
              </a:solidFill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210719" y="4139407"/>
            <a:ext cx="460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rgbClr val="003366"/>
                </a:solidFill>
              </a:rPr>
              <a:t>B</a:t>
            </a:r>
            <a:r>
              <a:rPr lang="zh-CN" altLang="en-US" sz="2000" b="1" baseline="-25000">
                <a:solidFill>
                  <a:srgbClr val="003366"/>
                </a:solidFill>
              </a:rPr>
              <a:t>2</a:t>
            </a: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3210719" y="3317082"/>
            <a:ext cx="531813" cy="2738438"/>
            <a:chOff x="0" y="0"/>
            <a:chExt cx="335" cy="1725"/>
          </a:xfrm>
        </p:grpSpPr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fontAlgn="t"/>
              <a:r>
                <a:rPr lang="zh-CN" altLang="en-US" sz="2000" b="1">
                  <a:solidFill>
                    <a:srgbClr val="003366"/>
                  </a:solidFill>
                </a:rPr>
                <a:t>B</a:t>
              </a:r>
              <a:r>
                <a:rPr lang="zh-CN" altLang="en-US" sz="2000" b="1" baseline="-25000">
                  <a:solidFill>
                    <a:srgbClr val="003366"/>
                  </a:solidFill>
                </a:rPr>
                <a:t>1</a:t>
              </a:r>
            </a:p>
          </p:txBody>
        </p:sp>
        <p:sp>
          <p:nvSpPr>
            <p:cNvPr id="29" name="Text Box 16"/>
            <p:cNvSpPr txBox="1">
              <a:spLocks noChangeArrowheads="1"/>
            </p:cNvSpPr>
            <p:nvPr/>
          </p:nvSpPr>
          <p:spPr bwMode="auto">
            <a:xfrm>
              <a:off x="39" y="1315"/>
              <a:ext cx="2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fontAlgn="t"/>
              <a:r>
                <a:rPr lang="zh-CN" altLang="en-US" sz="2000" b="1">
                  <a:solidFill>
                    <a:srgbClr val="003366"/>
                  </a:solidFill>
                </a:rPr>
                <a:t>B</a:t>
              </a:r>
              <a:r>
                <a:rPr lang="zh-CN" altLang="en-US" sz="2000" b="1" baseline="-25000">
                  <a:solidFill>
                    <a:srgbClr val="003366"/>
                  </a:solidFill>
                </a:rPr>
                <a:t>n</a:t>
              </a:r>
            </a:p>
          </p:txBody>
        </p:sp>
        <p:sp>
          <p:nvSpPr>
            <p:cNvPr id="30" name="Text Box 17"/>
            <p:cNvSpPr txBox="1">
              <a:spLocks noChangeArrowheads="1"/>
            </p:cNvSpPr>
            <p:nvPr/>
          </p:nvSpPr>
          <p:spPr bwMode="auto">
            <a:xfrm>
              <a:off x="82" y="631"/>
              <a:ext cx="162" cy="1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fontAlgn="t"/>
              <a:r>
                <a:rPr lang="zh-CN" altLang="en-US" sz="2400">
                  <a:solidFill>
                    <a:srgbClr val="FF0066"/>
                  </a:solidFill>
                </a:rPr>
                <a:t>.</a:t>
              </a:r>
            </a:p>
            <a:p>
              <a:pPr algn="ctr" fontAlgn="t"/>
              <a:r>
                <a:rPr lang="zh-CN" altLang="en-US" sz="2400">
                  <a:solidFill>
                    <a:srgbClr val="FF0066"/>
                  </a:solidFill>
                </a:rPr>
                <a:t>.</a:t>
              </a:r>
            </a:p>
            <a:p>
              <a:pPr algn="ctr" fontAlgn="t"/>
              <a:r>
                <a:rPr lang="zh-CN" altLang="en-US" sz="2400">
                  <a:solidFill>
                    <a:srgbClr val="FF0066"/>
                  </a:solidFill>
                </a:rPr>
                <a:t>.</a:t>
              </a:r>
            </a:p>
            <a:p>
              <a:pPr algn="ctr" fontAlgn="t"/>
              <a:endParaRPr lang="zh-CN" altLang="en-US" sz="1800">
                <a:solidFill>
                  <a:srgbClr val="FF0066"/>
                </a:solidFill>
              </a:endParaRPr>
            </a:p>
            <a:p>
              <a:pPr algn="ctr" fontAlgn="t"/>
              <a:endParaRPr lang="zh-CN" altLang="en-US" sz="1800">
                <a:solidFill>
                  <a:srgbClr val="FF0066"/>
                </a:solidFill>
              </a:endParaRPr>
            </a:p>
          </p:txBody>
        </p:sp>
      </p:grp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3571081" y="3491707"/>
            <a:ext cx="2879725" cy="936625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rot="217039">
            <a:off x="3642519" y="4428332"/>
            <a:ext cx="2736850" cy="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flipV="1">
            <a:off x="3642519" y="4572794"/>
            <a:ext cx="2808287" cy="936625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4579144" y="4067969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rgbClr val="003366"/>
                </a:solidFill>
              </a:rPr>
              <a:t>q</a:t>
            </a:r>
            <a:r>
              <a:rPr lang="zh-CN" altLang="en-US" sz="2000" b="1" baseline="-50000">
                <a:solidFill>
                  <a:srgbClr val="003366"/>
                </a:solidFill>
              </a:rPr>
              <a:t>2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579144" y="3528219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rgbClr val="003366"/>
                </a:solidFill>
              </a:rPr>
              <a:t>q</a:t>
            </a:r>
            <a:r>
              <a:rPr lang="zh-CN" altLang="en-US" sz="2000" b="1" baseline="-50000">
                <a:solidFill>
                  <a:srgbClr val="003366"/>
                </a:solidFill>
              </a:rPr>
              <a:t>1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4579144" y="5004594"/>
            <a:ext cx="441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fontAlgn="t"/>
            <a:r>
              <a:rPr lang="zh-CN" altLang="en-US" sz="2000" b="1">
                <a:solidFill>
                  <a:srgbClr val="003366"/>
                </a:solidFill>
              </a:rPr>
              <a:t>q</a:t>
            </a:r>
            <a:r>
              <a:rPr lang="zh-CN" altLang="en-US" sz="2000" b="1" baseline="-50000">
                <a:solidFill>
                  <a:srgbClr val="003366"/>
                </a:solidFill>
              </a:rPr>
              <a:t>n</a:t>
            </a:r>
          </a:p>
          <a:p>
            <a:pPr algn="ctr" fontAlgn="t"/>
            <a:endParaRPr lang="zh-CN" altLang="en-US" sz="1800" baseline="-50000">
              <a:solidFill>
                <a:srgbClr val="FF0066"/>
              </a:solidFill>
            </a:endParaRPr>
          </a:p>
        </p:txBody>
      </p:sp>
      <p:grpSp>
        <p:nvGrpSpPr>
          <p:cNvPr id="21" name="Group 24"/>
          <p:cNvGrpSpPr>
            <a:grpSpLocks/>
          </p:cNvGrpSpPr>
          <p:nvPr/>
        </p:nvGrpSpPr>
        <p:grpSpPr bwMode="auto">
          <a:xfrm>
            <a:off x="6595269" y="4255295"/>
            <a:ext cx="576263" cy="457200"/>
            <a:chOff x="0" y="0"/>
            <a:chExt cx="363" cy="288"/>
          </a:xfrm>
        </p:grpSpPr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0" y="91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fontAlgn="t"/>
              <a:endParaRPr lang="zh-CN" altLang="en-US" sz="1800">
                <a:solidFill>
                  <a:srgbClr val="FF0066"/>
                </a:solidFill>
              </a:endParaRP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108" y="0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fontAlgn="t"/>
              <a:r>
                <a:rPr lang="zh-CN" altLang="en-US" sz="2400" b="1">
                  <a:solidFill>
                    <a:srgbClr val="FF0066"/>
                  </a:solidFill>
                </a:rPr>
                <a:t>A</a:t>
              </a:r>
            </a:p>
          </p:txBody>
        </p:sp>
      </p:grpSp>
      <p:sp>
        <p:nvSpPr>
          <p:cNvPr id="22" name="Oval 27"/>
          <p:cNvSpPr>
            <a:spLocks noChangeArrowheads="1"/>
          </p:cNvSpPr>
          <p:nvPr/>
        </p:nvSpPr>
        <p:spPr bwMode="auto">
          <a:xfrm>
            <a:off x="3066256" y="3418682"/>
            <a:ext cx="73025" cy="73025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3" name="Oval 28"/>
          <p:cNvSpPr>
            <a:spLocks noChangeArrowheads="1"/>
          </p:cNvSpPr>
          <p:nvPr/>
        </p:nvSpPr>
        <p:spPr bwMode="auto">
          <a:xfrm>
            <a:off x="3067844" y="4283869"/>
            <a:ext cx="73025" cy="73025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Oval 29"/>
          <p:cNvSpPr>
            <a:spLocks noChangeArrowheads="1"/>
          </p:cNvSpPr>
          <p:nvPr/>
        </p:nvSpPr>
        <p:spPr bwMode="auto">
          <a:xfrm>
            <a:off x="3139281" y="5579269"/>
            <a:ext cx="73025" cy="73025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25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4094" y="5549107"/>
            <a:ext cx="3455987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997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711200" y="738187"/>
            <a:ext cx="3883025" cy="504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9pPr>
          </a:lstStyle>
          <a:p>
            <a:pPr eaLnBrk="1" hangingPunct="1"/>
            <a:r>
              <a:rPr lang="zh-CN" sz="3200" b="0">
                <a:solidFill>
                  <a:srgbClr val="FF0066"/>
                </a:solidFill>
                <a:latin typeface="宋体" pitchFamily="2" charset="-122"/>
              </a:rPr>
              <a:t>贝叶斯公式的使用</a:t>
            </a:r>
          </a:p>
        </p:txBody>
      </p:sp>
      <p:sp>
        <p:nvSpPr>
          <p:cNvPr id="3" name="Rectangle 3" descr="Rectangle: Click to edit Master text styles&#10;Second level&#10;Third level&#10;Fourth level&#10;Fifth level"/>
          <p:cNvSpPr>
            <a:spLocks noGrp="1" noChangeArrowheads="1"/>
          </p:cNvSpPr>
          <p:nvPr/>
        </p:nvSpPr>
        <p:spPr bwMode="auto">
          <a:xfrm>
            <a:off x="1371600" y="1371600"/>
            <a:ext cx="6197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itchFamily="2" charset="2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marL="0" indent="0" eaLnBrk="1" hangingPunct="1"/>
            <a:r>
              <a:rPr lang="zh-CN" altLang="en-US" sz="2800" b="1">
                <a:latin typeface="Times New Roman" pitchFamily="18" charset="0"/>
              </a:rPr>
              <a:t>我们把事件</a:t>
            </a:r>
            <a:r>
              <a:rPr lang="en-US" sz="2800" b="1" i="1">
                <a:latin typeface="Times New Roman" pitchFamily="18" charset="0"/>
              </a:rPr>
              <a:t>B </a:t>
            </a:r>
            <a:r>
              <a:rPr lang="zh-CN" altLang="en-US" sz="2800" b="1">
                <a:latin typeface="Times New Roman" pitchFamily="18" charset="0"/>
              </a:rPr>
              <a:t>看作某一过程的结果，</a:t>
            </a:r>
          </a:p>
        </p:txBody>
      </p:sp>
      <p:pic>
        <p:nvPicPr>
          <p:cNvPr id="4" name="Object 2" descr="Rectangle: Click to edit Master text styles&#10;Second level&#10;Third level&#10;Fourth level&#10;Fifth leve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1914525"/>
            <a:ext cx="7848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35000" y="2520950"/>
            <a:ext cx="7035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根据历史资料，每一原因发生的概率已知，</a:t>
            </a:r>
          </a:p>
        </p:txBody>
      </p:sp>
      <p:pic>
        <p:nvPicPr>
          <p:cNvPr id="6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3206750"/>
            <a:ext cx="2667000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4368800"/>
            <a:ext cx="300355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85800" y="3711575"/>
            <a:ext cx="756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而且每一原因对结果的影响程度已知，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82600" y="5054600"/>
            <a:ext cx="8178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b="1"/>
              <a:t>    如果已知事件</a:t>
            </a:r>
            <a:r>
              <a:rPr lang="en-US" b="1" i="1"/>
              <a:t>B</a:t>
            </a:r>
            <a:r>
              <a:rPr lang="zh-CN" altLang="en-US" b="1"/>
              <a:t>已经发生，要求此时是由第 </a:t>
            </a:r>
            <a:r>
              <a:rPr lang="en-US" b="1" i="1"/>
              <a:t>i </a:t>
            </a:r>
            <a:r>
              <a:rPr lang="zh-CN" altLang="en-US" b="1"/>
              <a:t>个原因引起的概率，则用</a:t>
            </a:r>
            <a:r>
              <a:rPr lang="zh-CN" altLang="en-US" b="1">
                <a:solidFill>
                  <a:srgbClr val="FF0066"/>
                </a:solidFill>
                <a:latin typeface="宋体" pitchFamily="2" charset="-122"/>
              </a:rPr>
              <a:t>贝叶斯</a:t>
            </a:r>
            <a:r>
              <a:rPr lang="zh-CN" altLang="en-US" b="1"/>
              <a:t>公式</a:t>
            </a:r>
          </a:p>
        </p:txBody>
      </p:sp>
      <p:pic>
        <p:nvPicPr>
          <p:cNvPr id="10" name="Object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94400" y="5511800"/>
            <a:ext cx="2570163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736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539750" y="1412875"/>
            <a:ext cx="8281988" cy="434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1.   </a:t>
            </a:r>
            <a:r>
              <a:rPr lang="zh-CN" altLang="en-US" sz="2800" b="1" i="0"/>
              <a:t>如果事件A、B满足 （    ），则A、B互不相容；</a:t>
            </a:r>
          </a:p>
          <a:p>
            <a:pPr eaLnBrk="1" hangingPunct="1"/>
            <a:endParaRPr lang="zh-CN" altLang="en-US" sz="2800" b="1"/>
          </a:p>
          <a:p>
            <a:pPr eaLnBrk="1" hangingPunct="1"/>
            <a:endParaRPr lang="zh-CN" altLang="en-US" sz="2800" b="1"/>
          </a:p>
          <a:p>
            <a:pPr eaLnBrk="1" hangingPunct="1"/>
            <a:r>
              <a:rPr lang="zh-CN" altLang="en-US" sz="2800" b="1"/>
              <a:t>     </a:t>
            </a:r>
            <a:r>
              <a:rPr lang="zh-CN" altLang="en-US" sz="2800" b="1" i="0">
                <a:latin typeface="宋体" pitchFamily="2" charset="-122"/>
              </a:rPr>
              <a:t>如果事件A、B满足（  ），则A、B为对立事件；</a:t>
            </a:r>
          </a:p>
          <a:p>
            <a:pPr eaLnBrk="1" hangingPunct="1"/>
            <a:endParaRPr lang="zh-CN" altLang="en-US" sz="2800" b="1" i="0">
              <a:latin typeface="宋体" pitchFamily="2" charset="-122"/>
            </a:endParaRPr>
          </a:p>
          <a:p>
            <a:pPr eaLnBrk="1" hangingPunct="1"/>
            <a:endParaRPr lang="zh-CN" altLang="en-US" sz="2800" b="1" i="0">
              <a:latin typeface="宋体" pitchFamily="2" charset="-122"/>
            </a:endParaRPr>
          </a:p>
          <a:p>
            <a:pPr eaLnBrk="1" hangingPunct="1"/>
            <a:r>
              <a:rPr lang="zh-CN" altLang="en-US" sz="2800" b="1" i="0">
                <a:latin typeface="宋体" pitchFamily="2" charset="-122"/>
              </a:rPr>
              <a:t>   如果事件A、B满足（  ），则A、B相互独立。</a:t>
            </a:r>
          </a:p>
          <a:p>
            <a:pPr eaLnBrk="1" hangingPunct="1"/>
            <a:endParaRPr lang="zh-CN" altLang="en-US" sz="2800" b="1" i="0">
              <a:latin typeface="宋体" pitchFamily="2" charset="-122"/>
            </a:endParaRPr>
          </a:p>
          <a:p>
            <a:pPr eaLnBrk="1" hangingPunct="1"/>
            <a:r>
              <a:rPr lang="zh-CN" altLang="en-US" sz="2800" b="1" i="0">
                <a:latin typeface="宋体" pitchFamily="2" charset="-122"/>
              </a:rPr>
              <a:t> </a:t>
            </a:r>
          </a:p>
          <a:p>
            <a:pPr eaLnBrk="1" hangingPunct="1"/>
            <a:r>
              <a:rPr lang="zh-CN" altLang="en-US" b="1"/>
              <a:t> </a:t>
            </a:r>
            <a:r>
              <a:rPr lang="zh-CN" altLang="en-US" b="1" u="sng"/>
              <a:t>     </a:t>
            </a:r>
            <a:endParaRPr lang="zh-CN" altLang="en-US" b="1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971550" y="476250"/>
            <a:ext cx="563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练习</a:t>
            </a:r>
          </a:p>
        </p:txBody>
      </p:sp>
      <p:pic>
        <p:nvPicPr>
          <p:cNvPr id="8196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1944688"/>
            <a:ext cx="192087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TextBox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3219450"/>
            <a:ext cx="45354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Box 5"/>
          <p:cNvSpPr txBox="1">
            <a:spLocks noChangeArrowheads="1"/>
          </p:cNvSpPr>
          <p:nvPr/>
        </p:nvSpPr>
        <p:spPr bwMode="auto">
          <a:xfrm>
            <a:off x="2211388" y="4713288"/>
            <a:ext cx="453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0000CC"/>
                </a:solidFill>
              </a:rPr>
              <a:t>P(AB)=P(A)P(B)</a:t>
            </a:r>
            <a:endParaRPr lang="zh-CN" altLang="en-US" sz="280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3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utoUpdateAnimBg="0"/>
      <p:bldP spid="8198" grpId="0" bldLvl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611188" y="414338"/>
            <a:ext cx="76327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>
                <a:latin typeface="宋体" pitchFamily="2" charset="-122"/>
              </a:rPr>
              <a:t>2.  </a:t>
            </a:r>
            <a:r>
              <a:rPr lang="zh-CN" altLang="en-US" sz="2800" b="1" i="0">
                <a:latin typeface="宋体" pitchFamily="2" charset="-122"/>
              </a:rPr>
              <a:t>在</a:t>
            </a:r>
            <a:r>
              <a:rPr lang="en-US" altLang="zh-CN" sz="2800" b="1" i="0">
                <a:latin typeface="宋体" pitchFamily="2" charset="-122"/>
              </a:rPr>
              <a:t>1</a:t>
            </a:r>
            <a:r>
              <a:rPr lang="zh-CN" altLang="en-US" sz="2800" b="1" i="0">
                <a:latin typeface="宋体" pitchFamily="2" charset="-122"/>
              </a:rPr>
              <a:t>到</a:t>
            </a:r>
            <a:r>
              <a:rPr lang="en-US" altLang="zh-CN" sz="2800" b="1" i="0">
                <a:latin typeface="宋体" pitchFamily="2" charset="-122"/>
              </a:rPr>
              <a:t>1000</a:t>
            </a:r>
            <a:r>
              <a:rPr lang="zh-CN" altLang="en-US" sz="2800" b="1" i="0">
                <a:latin typeface="宋体" pitchFamily="2" charset="-122"/>
              </a:rPr>
              <a:t>中随机取一整数，则取到的整数能整除</a:t>
            </a:r>
            <a:r>
              <a:rPr lang="en-US" altLang="zh-CN" sz="2800" b="1" i="0">
                <a:latin typeface="宋体" pitchFamily="2" charset="-122"/>
              </a:rPr>
              <a:t>5</a:t>
            </a:r>
            <a:r>
              <a:rPr lang="zh-CN" altLang="en-US" sz="2800" b="1" i="0">
                <a:latin typeface="宋体" pitchFamily="2" charset="-122"/>
              </a:rPr>
              <a:t>的概率（）</a:t>
            </a:r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654050" y="1425575"/>
            <a:ext cx="76327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>
                <a:latin typeface="宋体" pitchFamily="2" charset="-122"/>
              </a:rPr>
              <a:t>    </a:t>
            </a:r>
            <a:r>
              <a:rPr lang="zh-CN" altLang="en-US" sz="2800" b="1" i="0">
                <a:latin typeface="宋体" pitchFamily="2" charset="-122"/>
              </a:rPr>
              <a:t>在</a:t>
            </a:r>
            <a:r>
              <a:rPr lang="en-US" altLang="zh-CN" sz="2800" b="1" i="0">
                <a:latin typeface="宋体" pitchFamily="2" charset="-122"/>
              </a:rPr>
              <a:t>15</a:t>
            </a:r>
            <a:r>
              <a:rPr lang="zh-CN" altLang="en-US" sz="2800" b="1" i="0">
                <a:latin typeface="宋体" pitchFamily="2" charset="-122"/>
              </a:rPr>
              <a:t>只零件中有</a:t>
            </a:r>
            <a:r>
              <a:rPr lang="en-US" altLang="zh-CN" sz="2800" b="1" i="0">
                <a:latin typeface="宋体" pitchFamily="2" charset="-122"/>
              </a:rPr>
              <a:t>2</a:t>
            </a:r>
            <a:r>
              <a:rPr lang="zh-CN" altLang="en-US" sz="2800" b="1" i="0">
                <a:latin typeface="宋体" pitchFamily="2" charset="-122"/>
              </a:rPr>
              <a:t>件次品，从中任取</a:t>
            </a:r>
            <a:r>
              <a:rPr lang="en-US" altLang="zh-CN" sz="2800" b="1" i="0">
                <a:latin typeface="宋体" pitchFamily="2" charset="-122"/>
              </a:rPr>
              <a:t>3</a:t>
            </a:r>
            <a:r>
              <a:rPr lang="zh-CN" altLang="en-US" sz="2800" b="1" i="0">
                <a:latin typeface="宋体" pitchFamily="2" charset="-122"/>
              </a:rPr>
              <a:t>只，则取出的次品数为</a:t>
            </a:r>
            <a:r>
              <a:rPr lang="en-US" altLang="zh-CN" sz="2800" b="1" i="0">
                <a:latin typeface="宋体" pitchFamily="2" charset="-122"/>
              </a:rPr>
              <a:t>2</a:t>
            </a:r>
            <a:r>
              <a:rPr lang="zh-CN" altLang="en-US" sz="2800" b="1" i="0">
                <a:latin typeface="宋体" pitchFamily="2" charset="-122"/>
              </a:rPr>
              <a:t>的概率（）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654050" y="2476500"/>
            <a:ext cx="76327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>
                <a:latin typeface="宋体" pitchFamily="2" charset="-122"/>
              </a:rPr>
              <a:t>    </a:t>
            </a:r>
            <a:r>
              <a:rPr lang="zh-CN" altLang="en-US" sz="2800" b="1" i="0">
                <a:latin typeface="宋体" pitchFamily="2" charset="-122"/>
              </a:rPr>
              <a:t>一箱产品共</a:t>
            </a:r>
            <a:r>
              <a:rPr lang="en-US" altLang="zh-CN" sz="2800" b="1" i="0">
                <a:latin typeface="宋体" pitchFamily="2" charset="-122"/>
              </a:rPr>
              <a:t>60</a:t>
            </a:r>
            <a:r>
              <a:rPr lang="zh-CN" altLang="en-US" sz="2800" b="1" i="0">
                <a:latin typeface="宋体" pitchFamily="2" charset="-122"/>
              </a:rPr>
              <a:t>件，其中次品</a:t>
            </a:r>
            <a:r>
              <a:rPr lang="en-US" altLang="zh-CN" sz="2800" b="1" i="0">
                <a:latin typeface="宋体" pitchFamily="2" charset="-122"/>
              </a:rPr>
              <a:t>6</a:t>
            </a:r>
            <a:r>
              <a:rPr lang="zh-CN" altLang="en-US" sz="2800" b="1" i="0">
                <a:latin typeface="宋体" pitchFamily="2" charset="-122"/>
              </a:rPr>
              <a:t>件，现一顾客随机买走</a:t>
            </a:r>
            <a:r>
              <a:rPr lang="en-US" altLang="zh-CN" sz="2800" b="1" i="0">
                <a:latin typeface="宋体" pitchFamily="2" charset="-122"/>
              </a:rPr>
              <a:t>10</a:t>
            </a:r>
            <a:r>
              <a:rPr lang="zh-CN" altLang="en-US" sz="2800" b="1" i="0">
                <a:latin typeface="宋体" pitchFamily="2" charset="-122"/>
              </a:rPr>
              <a:t>件，则下一顾客买一件产品买到次品的概率为（）</a:t>
            </a:r>
          </a:p>
        </p:txBody>
      </p:sp>
      <p:sp>
        <p:nvSpPr>
          <p:cNvPr id="9221" name="TextBox 6"/>
          <p:cNvSpPr txBox="1">
            <a:spLocks noChangeArrowheads="1"/>
          </p:cNvSpPr>
          <p:nvPr/>
        </p:nvSpPr>
        <p:spPr bwMode="auto">
          <a:xfrm>
            <a:off x="684213" y="3860800"/>
            <a:ext cx="76327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>
                <a:latin typeface="宋体" pitchFamily="2" charset="-122"/>
              </a:rPr>
              <a:t>    </a:t>
            </a:r>
            <a:r>
              <a:rPr lang="zh-CN" altLang="en-US" sz="2800" b="1" i="0">
                <a:latin typeface="宋体" pitchFamily="2" charset="-122"/>
              </a:rPr>
              <a:t>袋中有</a:t>
            </a:r>
            <a:r>
              <a:rPr lang="en-US" altLang="zh-CN" sz="2800" b="1" i="0">
                <a:latin typeface="宋体" pitchFamily="2" charset="-122"/>
              </a:rPr>
              <a:t>50</a:t>
            </a:r>
            <a:r>
              <a:rPr lang="zh-CN" altLang="en-US" sz="2800" b="1" i="0">
                <a:latin typeface="宋体" pitchFamily="2" charset="-122"/>
              </a:rPr>
              <a:t>个乒乓球，其中</a:t>
            </a:r>
            <a:r>
              <a:rPr lang="en-US" altLang="zh-CN" sz="2800" b="1" i="0">
                <a:latin typeface="宋体" pitchFamily="2" charset="-122"/>
              </a:rPr>
              <a:t>20</a:t>
            </a:r>
            <a:r>
              <a:rPr lang="zh-CN" altLang="en-US" sz="2800" b="1" i="0">
                <a:latin typeface="宋体" pitchFamily="2" charset="-122"/>
              </a:rPr>
              <a:t>个黄球，</a:t>
            </a:r>
            <a:r>
              <a:rPr lang="en-US" altLang="zh-CN" sz="2800" b="1" i="0">
                <a:latin typeface="宋体" pitchFamily="2" charset="-122"/>
              </a:rPr>
              <a:t>30</a:t>
            </a:r>
            <a:r>
              <a:rPr lang="zh-CN" altLang="en-US" sz="2800" b="1" i="0">
                <a:latin typeface="宋体" pitchFamily="2" charset="-122"/>
              </a:rPr>
              <a:t>个白球，今有两人依次随机从袋中各取</a:t>
            </a:r>
            <a:r>
              <a:rPr lang="en-US" altLang="zh-CN" sz="2800" b="1" i="0">
                <a:latin typeface="宋体" pitchFamily="2" charset="-122"/>
              </a:rPr>
              <a:t>1</a:t>
            </a:r>
            <a:r>
              <a:rPr lang="zh-CN" altLang="en-US" sz="2800" b="1" i="0">
                <a:latin typeface="宋体" pitchFamily="2" charset="-122"/>
              </a:rPr>
              <a:t>球，取回不放回，则第二人取得黄球的概率（）</a:t>
            </a:r>
          </a:p>
        </p:txBody>
      </p:sp>
      <p:sp>
        <p:nvSpPr>
          <p:cNvPr id="9222" name="TextBox 7"/>
          <p:cNvSpPr txBox="1">
            <a:spLocks noChangeArrowheads="1"/>
          </p:cNvSpPr>
          <p:nvPr/>
        </p:nvSpPr>
        <p:spPr bwMode="auto">
          <a:xfrm>
            <a:off x="806450" y="5300663"/>
            <a:ext cx="76327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>
                <a:latin typeface="宋体" pitchFamily="2" charset="-122"/>
              </a:rPr>
              <a:t>   </a:t>
            </a:r>
            <a:r>
              <a:rPr lang="zh-CN" altLang="en-US" sz="2800" b="1" i="0">
                <a:latin typeface="宋体" pitchFamily="2" charset="-122"/>
              </a:rPr>
              <a:t>设一次实验事件</a:t>
            </a:r>
            <a:r>
              <a:rPr lang="en-US" altLang="zh-CN" sz="2800" b="1" i="0">
                <a:latin typeface="宋体" pitchFamily="2" charset="-122"/>
              </a:rPr>
              <a:t>A</a:t>
            </a:r>
            <a:r>
              <a:rPr lang="zh-CN" altLang="en-US" sz="2800" b="1" i="0">
                <a:latin typeface="宋体" pitchFamily="2" charset="-122"/>
              </a:rPr>
              <a:t>发生的概率为</a:t>
            </a:r>
            <a:r>
              <a:rPr lang="en-US" altLang="zh-CN" sz="2800" b="1" i="0">
                <a:latin typeface="宋体" pitchFamily="2" charset="-122"/>
              </a:rPr>
              <a:t>p</a:t>
            </a:r>
            <a:r>
              <a:rPr lang="zh-CN" altLang="en-US" sz="2800" b="1" i="0">
                <a:latin typeface="宋体" pitchFamily="2" charset="-122"/>
              </a:rPr>
              <a:t>，重复</a:t>
            </a:r>
            <a:r>
              <a:rPr lang="en-US" altLang="zh-CN" sz="2800" b="1" i="0">
                <a:latin typeface="宋体" pitchFamily="2" charset="-122"/>
              </a:rPr>
              <a:t>n</a:t>
            </a:r>
            <a:r>
              <a:rPr lang="zh-CN" altLang="en-US" sz="2800" b="1" i="0">
                <a:latin typeface="宋体" pitchFamily="2" charset="-122"/>
              </a:rPr>
              <a:t>次，则事件</a:t>
            </a:r>
            <a:r>
              <a:rPr lang="en-US" altLang="zh-CN" sz="2800" b="1" i="0">
                <a:latin typeface="宋体" pitchFamily="2" charset="-122"/>
              </a:rPr>
              <a:t>A</a:t>
            </a:r>
            <a:r>
              <a:rPr lang="zh-CN" altLang="en-US" sz="2800" b="1" i="0">
                <a:latin typeface="宋体" pitchFamily="2" charset="-122"/>
              </a:rPr>
              <a:t>至多发生一次的概率（）</a:t>
            </a:r>
          </a:p>
        </p:txBody>
      </p:sp>
      <p:pic>
        <p:nvPicPr>
          <p:cNvPr id="9223" name="TextBox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933450"/>
            <a:ext cx="117633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TextBox 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550" y="1914525"/>
            <a:ext cx="1176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TextBox 10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3279775"/>
            <a:ext cx="1176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TextBox 11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88" y="4718050"/>
            <a:ext cx="11763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TextBox 1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88" y="6022975"/>
            <a:ext cx="32924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80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ldLvl="0" autoUpdateAnimBg="0"/>
      <p:bldP spid="9219" grpId="0" bldLvl="0" autoUpdateAnimBg="0"/>
      <p:bldP spid="9220" grpId="0" bldLvl="0" autoUpdateAnimBg="0"/>
      <p:bldP spid="9221" grpId="0" bldLvl="0" autoUpdateAnimBg="0"/>
      <p:bldP spid="9222" grpId="0" bldLvl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4294967295"/>
          </p:nvPr>
        </p:nvSpPr>
        <p:spPr>
          <a:xfrm>
            <a:off x="457200" y="765175"/>
            <a:ext cx="8229600" cy="1655763"/>
          </a:xfrm>
        </p:spPr>
        <p:txBody>
          <a:bodyPr/>
          <a:lstStyle/>
          <a:p>
            <a:pPr eaLnBrk="1" hangingPunct="1"/>
            <a:r>
              <a:rPr lang="zh-CN" altLang="en-US" b="1" dirty="0" smtClean="0"/>
              <a:t>   </a:t>
            </a:r>
            <a:r>
              <a:rPr lang="zh-CN" altLang="en-US" sz="2800" b="1" dirty="0" smtClean="0"/>
              <a:t> 在一个袋中有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种颜色的球，每种颜色的球均有</a:t>
            </a:r>
            <a:r>
              <a:rPr lang="en-US" altLang="zh-CN" sz="2800" b="1" dirty="0" smtClean="0"/>
              <a:t>k</a:t>
            </a:r>
            <a:r>
              <a:rPr lang="zh-CN" altLang="en-US" sz="2800" b="1" dirty="0" smtClean="0"/>
              <a:t>只。从中任取</a:t>
            </a:r>
            <a:r>
              <a:rPr lang="en-US" altLang="zh-CN" sz="2800" b="1" dirty="0" smtClean="0"/>
              <a:t>r</a:t>
            </a:r>
            <a:r>
              <a:rPr lang="zh-CN" altLang="en-US" sz="2800" b="1" dirty="0" smtClean="0"/>
              <a:t>只</a:t>
            </a:r>
            <a:r>
              <a:rPr lang="en-US" altLang="zh-CN" sz="2800" b="1" dirty="0" smtClean="0"/>
              <a:t>(r&lt;n)</a:t>
            </a:r>
            <a:r>
              <a:rPr lang="zh-CN" altLang="en-US" sz="2800" b="1" dirty="0" smtClean="0"/>
              <a:t>，求所取</a:t>
            </a:r>
            <a:r>
              <a:rPr lang="en-US" altLang="zh-CN" sz="2800" b="1" dirty="0" smtClean="0"/>
              <a:t>r</a:t>
            </a:r>
            <a:r>
              <a:rPr lang="zh-CN" altLang="en-US" sz="2800" b="1" dirty="0" smtClean="0"/>
              <a:t>只球颜色全部都不同的概率</a:t>
            </a:r>
          </a:p>
        </p:txBody>
      </p:sp>
      <p:pic>
        <p:nvPicPr>
          <p:cNvPr id="10243" name="TextBox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1914525"/>
            <a:ext cx="969963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内容占位符 2"/>
          <p:cNvSpPr txBox="1">
            <a:spLocks noChangeArrowheads="1"/>
          </p:cNvSpPr>
          <p:nvPr/>
        </p:nvSpPr>
        <p:spPr bwMode="auto">
          <a:xfrm>
            <a:off x="609600" y="3286125"/>
            <a:ext cx="8229600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2800" b="1" i="0"/>
              <a:t>    有</a:t>
            </a:r>
            <a:r>
              <a:rPr lang="en-US" altLang="zh-CN" sz="2800" b="1" i="0"/>
              <a:t>mn</a:t>
            </a:r>
            <a:r>
              <a:rPr lang="zh-CN" altLang="en-US" sz="2800" b="1" i="0"/>
              <a:t>个球，其中一个黑球，一个白球，其余为红球。把这</a:t>
            </a:r>
            <a:r>
              <a:rPr lang="en-US" altLang="zh-CN" sz="2800" b="1" i="0"/>
              <a:t>mn</a:t>
            </a:r>
            <a:r>
              <a:rPr lang="zh-CN" altLang="en-US" sz="2800" b="1" i="0"/>
              <a:t>个球放在</a:t>
            </a:r>
            <a:r>
              <a:rPr lang="en-US" altLang="zh-CN" sz="2800" b="1" i="0"/>
              <a:t>m</a:t>
            </a:r>
            <a:r>
              <a:rPr lang="zh-CN" altLang="en-US" sz="2800" b="1" i="0"/>
              <a:t>个袋中，每袋放</a:t>
            </a:r>
            <a:r>
              <a:rPr lang="en-US" altLang="zh-CN" sz="2800" b="1" i="0"/>
              <a:t>n</a:t>
            </a:r>
            <a:r>
              <a:rPr lang="zh-CN" altLang="en-US" sz="2800" b="1" i="0"/>
              <a:t>个球。求黑球和白球恰好放在一个袋中的概率</a:t>
            </a:r>
            <a:r>
              <a:rPr lang="zh-CN" altLang="en-US" sz="3200" b="1" i="0"/>
              <a:t>。</a:t>
            </a:r>
          </a:p>
        </p:txBody>
      </p:sp>
      <p:pic>
        <p:nvPicPr>
          <p:cNvPr id="10245" name="TextBox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638" y="5157788"/>
            <a:ext cx="170815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65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ldLvl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Rectangle 3"/>
          <p:cNvPicPr>
            <a:picLocks noGrp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963" y="688975"/>
            <a:ext cx="8351837" cy="1225550"/>
          </a:xfrm>
        </p:spPr>
      </p:pic>
      <p:sp>
        <p:nvSpPr>
          <p:cNvPr id="11267" name="TextBox 1"/>
          <p:cNvSpPr txBox="1">
            <a:spLocks noChangeArrowheads="1"/>
          </p:cNvSpPr>
          <p:nvPr/>
        </p:nvSpPr>
        <p:spPr bwMode="auto">
          <a:xfrm>
            <a:off x="6732588" y="1341438"/>
            <a:ext cx="20875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CC"/>
                </a:solidFill>
              </a:rPr>
              <a:t>0.75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395288" y="2349500"/>
            <a:ext cx="8229600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2800" b="1" i="0"/>
              <a:t>     设事件</a:t>
            </a:r>
            <a:r>
              <a:rPr lang="en-US" altLang="zh-CN" sz="2800" b="1" i="0"/>
              <a:t>A</a:t>
            </a:r>
            <a:r>
              <a:rPr lang="zh-CN" altLang="en-US" sz="2800" b="1" i="0"/>
              <a:t>、</a:t>
            </a:r>
            <a:r>
              <a:rPr lang="en-US" altLang="zh-CN" sz="2800" b="1" i="0"/>
              <a:t>B</a:t>
            </a:r>
            <a:r>
              <a:rPr lang="zh-CN" altLang="en-US" sz="2800" b="1" i="0"/>
              <a:t>、</a:t>
            </a:r>
            <a:r>
              <a:rPr lang="en-US" altLang="zh-CN" sz="2800" b="1" i="0"/>
              <a:t>C</a:t>
            </a:r>
            <a:r>
              <a:rPr lang="zh-CN" altLang="en-US" sz="2800" b="1" i="0"/>
              <a:t>，且</a:t>
            </a:r>
            <a:r>
              <a:rPr lang="en-US" altLang="zh-CN" sz="2800" b="1" i="0"/>
              <a:t>P(A)=P(B)=P(C)=1/4</a:t>
            </a:r>
            <a:r>
              <a:rPr lang="zh-CN" altLang="en-US" sz="2800" b="1" i="0"/>
              <a:t>，</a:t>
            </a:r>
            <a:r>
              <a:rPr lang="en-US" altLang="zh-CN" sz="2800" b="1" i="0"/>
              <a:t>P(AB)=P(AC)=0</a:t>
            </a:r>
            <a:r>
              <a:rPr lang="zh-CN" altLang="en-US" sz="2800" b="1" i="0"/>
              <a:t>，</a:t>
            </a:r>
            <a:r>
              <a:rPr lang="en-US" altLang="zh-CN" sz="2800" b="1" i="0"/>
              <a:t>P(BC)=1/8</a:t>
            </a:r>
            <a:r>
              <a:rPr lang="zh-CN" altLang="en-US" sz="2800" b="1" i="0"/>
              <a:t>，求</a:t>
            </a:r>
            <a:r>
              <a:rPr lang="en-US" altLang="zh-CN" sz="2800" b="1" i="0"/>
              <a:t>A</a:t>
            </a:r>
            <a:r>
              <a:rPr lang="zh-CN" altLang="en-US" sz="2800" b="1" i="0"/>
              <a:t>、</a:t>
            </a:r>
            <a:r>
              <a:rPr lang="en-US" altLang="zh-CN" sz="2800" b="1" i="0"/>
              <a:t>B</a:t>
            </a:r>
            <a:r>
              <a:rPr lang="zh-CN" altLang="en-US" sz="2800" b="1" i="0"/>
              <a:t>、</a:t>
            </a:r>
            <a:r>
              <a:rPr lang="en-US" altLang="zh-CN" sz="2800" b="1" i="0"/>
              <a:t>C</a:t>
            </a:r>
            <a:r>
              <a:rPr lang="zh-CN" altLang="en-US" sz="2800" b="1" i="0"/>
              <a:t>中至少有一个发生的概率。</a:t>
            </a:r>
          </a:p>
        </p:txBody>
      </p:sp>
      <p:pic>
        <p:nvPicPr>
          <p:cNvPr id="11269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3" y="3352800"/>
            <a:ext cx="7318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TextBox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4376738"/>
            <a:ext cx="8356600" cy="119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Box 8"/>
          <p:cNvSpPr txBox="1">
            <a:spLocks noChangeArrowheads="1"/>
          </p:cNvSpPr>
          <p:nvPr/>
        </p:nvSpPr>
        <p:spPr bwMode="auto">
          <a:xfrm>
            <a:off x="6367463" y="5181600"/>
            <a:ext cx="2087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CC"/>
                </a:solidFill>
              </a:rPr>
              <a:t>0.7</a:t>
            </a:r>
            <a:endParaRPr lang="zh-CN" altLang="en-US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23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ldLvl="0" autoUpdateAnimBg="0"/>
      <p:bldP spid="11268" grpId="0" bldLvl="0" autoUpdateAnimBg="0"/>
      <p:bldP spid="11271" grpId="0" bldLvl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Rectangl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396875"/>
            <a:ext cx="82296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TextBox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1195388"/>
            <a:ext cx="4381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TextBox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1981200"/>
            <a:ext cx="439737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TextBox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525" y="2535238"/>
            <a:ext cx="6096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92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765175"/>
            <a:ext cx="8229600" cy="1150938"/>
          </a:xfrm>
        </p:spPr>
        <p:txBody>
          <a:bodyPr/>
          <a:lstStyle/>
          <a:p>
            <a:pPr eaLnBrk="1" hangingPunct="1"/>
            <a:r>
              <a:rPr lang="en-US" altLang="zh-CN" sz="2800" b="1" smtClean="0"/>
              <a:t>4.   </a:t>
            </a:r>
            <a:r>
              <a:rPr lang="zh-CN" altLang="en-US" sz="2800" b="1" smtClean="0"/>
              <a:t>从</a:t>
            </a:r>
            <a:r>
              <a:rPr lang="en-US" altLang="zh-CN" sz="2800" b="1" smtClean="0"/>
              <a:t>1,2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……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2n</a:t>
            </a:r>
            <a:r>
              <a:rPr lang="zh-CN" altLang="en-US" sz="2800" b="1" smtClean="0"/>
              <a:t>中任取两个，求它们的和是偶数的概率</a:t>
            </a:r>
          </a:p>
        </p:txBody>
      </p:sp>
      <p:pic>
        <p:nvPicPr>
          <p:cNvPr id="13315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1268413"/>
            <a:ext cx="115887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3"/>
          <p:cNvSpPr txBox="1">
            <a:spLocks noChangeArrowheads="1"/>
          </p:cNvSpPr>
          <p:nvPr/>
        </p:nvSpPr>
        <p:spPr bwMode="auto">
          <a:xfrm>
            <a:off x="400050" y="2073275"/>
            <a:ext cx="8229600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2800" b="1" i="0"/>
              <a:t>    已知甲袋中有</a:t>
            </a:r>
            <a:r>
              <a:rPr lang="en-US" altLang="zh-CN" sz="2800" b="1" i="0"/>
              <a:t>a</a:t>
            </a:r>
            <a:r>
              <a:rPr lang="zh-CN" altLang="en-US" sz="2800" b="1" i="0"/>
              <a:t>个红球，</a:t>
            </a:r>
            <a:r>
              <a:rPr lang="en-US" altLang="zh-CN" sz="2800" b="1" i="0"/>
              <a:t>b</a:t>
            </a:r>
            <a:r>
              <a:rPr lang="zh-CN" altLang="en-US" sz="2800" b="1" i="0"/>
              <a:t>个白球；乙袋中有</a:t>
            </a:r>
            <a:r>
              <a:rPr lang="en-US" altLang="zh-CN" sz="2800" b="1" i="0"/>
              <a:t>c</a:t>
            </a:r>
            <a:r>
              <a:rPr lang="zh-CN" altLang="en-US" sz="2800" b="1" i="0"/>
              <a:t>个红球，</a:t>
            </a:r>
            <a:r>
              <a:rPr lang="en-US" altLang="zh-CN" sz="2800" b="1" i="0"/>
              <a:t>d</a:t>
            </a:r>
            <a:r>
              <a:rPr lang="zh-CN" altLang="en-US" sz="2800" b="1" i="0"/>
              <a:t>个白球。求以下概率</a:t>
            </a:r>
            <a:endParaRPr lang="en-US" sz="2800" b="1" i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en-US" sz="2800" b="1" i="0"/>
              <a:t>   </a:t>
            </a:r>
            <a:r>
              <a:rPr lang="zh-CN" altLang="en-US" sz="2800" b="1" i="0"/>
              <a:t>（</a:t>
            </a:r>
            <a:r>
              <a:rPr lang="en-US" altLang="zh-CN" sz="2800" b="1" i="0"/>
              <a:t>1</a:t>
            </a:r>
            <a:r>
              <a:rPr lang="zh-CN" altLang="en-US" sz="2800" b="1" i="0"/>
              <a:t>）合并两口袋，从中任取一球，该求为红球；</a:t>
            </a:r>
            <a:endParaRPr lang="en-US" sz="2800" b="1" i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en-US" sz="2800" b="1" i="0"/>
              <a:t>    </a:t>
            </a:r>
            <a:r>
              <a:rPr lang="zh-CN" altLang="en-US" sz="2800" b="1" i="0"/>
              <a:t>（</a:t>
            </a:r>
            <a:r>
              <a:rPr lang="en-US" altLang="zh-CN" sz="2800" b="1" i="0"/>
              <a:t>2</a:t>
            </a:r>
            <a:r>
              <a:rPr lang="zh-CN" altLang="en-US" sz="2800" b="1" i="0"/>
              <a:t>）随机取一个袋子，再从袋中任取一球，该球为红球；</a:t>
            </a:r>
            <a:endParaRPr lang="en-US" sz="2800" b="1" i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en-US" sz="2800" b="1" i="0"/>
              <a:t>    </a:t>
            </a:r>
            <a:r>
              <a:rPr lang="zh-CN" altLang="en-US" sz="2800" b="1" i="0"/>
              <a:t>（</a:t>
            </a:r>
            <a:r>
              <a:rPr lang="en-US" altLang="zh-CN" sz="2800" b="1" i="0"/>
              <a:t>3</a:t>
            </a:r>
            <a:r>
              <a:rPr lang="zh-CN" altLang="en-US" sz="2800" b="1" i="0"/>
              <a:t>）从甲袋中任取一球放入乙袋，再从乙袋任取一球，该球为红球。</a:t>
            </a:r>
            <a:endParaRPr lang="en-US" sz="2800" b="1" i="0"/>
          </a:p>
        </p:txBody>
      </p:sp>
      <p:pic>
        <p:nvPicPr>
          <p:cNvPr id="13317" name="TextBox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025" y="2365375"/>
            <a:ext cx="20605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TextBox 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75" y="3736975"/>
            <a:ext cx="231616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TextBox 7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5383213"/>
            <a:ext cx="52673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04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ldLvl="0" autoUpdateAnimBg="0"/>
      <p:bldP spid="13316" grpId="0" bldLvl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95288" y="333375"/>
            <a:ext cx="8229600" cy="3311525"/>
          </a:xfrm>
        </p:spPr>
        <p:txBody>
          <a:bodyPr/>
          <a:lstStyle/>
          <a:p>
            <a:pPr eaLnBrk="1" hangingPunct="1"/>
            <a:r>
              <a:rPr lang="zh-CN" altLang="en-US" sz="2800" b="1" smtClean="0"/>
              <a:t>    比赛用过的球为旧球。现有</a:t>
            </a:r>
            <a:r>
              <a:rPr lang="en-US" altLang="zh-CN" sz="2800" b="1" smtClean="0"/>
              <a:t>10</a:t>
            </a:r>
            <a:r>
              <a:rPr lang="zh-CN" altLang="en-US" sz="2800" b="1" smtClean="0"/>
              <a:t>个球，其中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个旧球，</a:t>
            </a:r>
            <a:r>
              <a:rPr lang="en-US" altLang="zh-CN" sz="2800" b="1" smtClean="0"/>
              <a:t>7</a:t>
            </a:r>
            <a:r>
              <a:rPr lang="zh-CN" altLang="en-US" sz="2800" b="1" smtClean="0"/>
              <a:t>个新球。第一次从</a:t>
            </a:r>
            <a:r>
              <a:rPr lang="en-US" altLang="zh-CN" sz="2800" b="1" smtClean="0"/>
              <a:t>10</a:t>
            </a:r>
            <a:r>
              <a:rPr lang="zh-CN" altLang="en-US" sz="2800" b="1" smtClean="0"/>
              <a:t>个球里任取一个用于比赛，赛后放回。第二次从</a:t>
            </a:r>
            <a:r>
              <a:rPr lang="en-US" altLang="zh-CN" sz="2800" b="1" smtClean="0"/>
              <a:t>10</a:t>
            </a:r>
            <a:r>
              <a:rPr lang="zh-CN" altLang="en-US" sz="2800" b="1" smtClean="0"/>
              <a:t>个球中任取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个用于比赛。求</a:t>
            </a:r>
            <a:endParaRPr lang="en-US" sz="2800" b="1" smtClean="0"/>
          </a:p>
          <a:p>
            <a:pPr eaLnBrk="1" hangingPunct="1"/>
            <a:r>
              <a:rPr lang="zh-CN" altLang="en-US" sz="2800" b="1" smtClean="0"/>
              <a:t>（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）在第一次取得新球的条件下，第二次取得都是新球的概率；</a:t>
            </a:r>
            <a:endParaRPr lang="en-US" sz="2800" b="1" smtClean="0"/>
          </a:p>
          <a:p>
            <a:pPr eaLnBrk="1" hangingPunct="1"/>
            <a:r>
              <a:rPr lang="zh-CN" altLang="en-US" sz="2800" b="1" smtClean="0"/>
              <a:t>（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）第二次取得新球的概率。</a:t>
            </a:r>
          </a:p>
        </p:txBody>
      </p:sp>
      <p:sp>
        <p:nvSpPr>
          <p:cNvPr id="14339" name="Rectangle 3"/>
          <p:cNvSpPr txBox="1">
            <a:spLocks noChangeArrowheads="1"/>
          </p:cNvSpPr>
          <p:nvPr/>
        </p:nvSpPr>
        <p:spPr bwMode="auto">
          <a:xfrm>
            <a:off x="395288" y="3860800"/>
            <a:ext cx="8229600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2800" b="1" i="0"/>
              <a:t>    有</a:t>
            </a:r>
            <a:r>
              <a:rPr lang="en-US" altLang="zh-CN" sz="2800" b="1" i="0"/>
              <a:t>3</a:t>
            </a:r>
            <a:r>
              <a:rPr lang="zh-CN" altLang="en-US" sz="2800" b="1" i="0"/>
              <a:t>个盒子，第一个盒子有</a:t>
            </a:r>
            <a:r>
              <a:rPr lang="en-US" altLang="zh-CN" sz="2800" b="1" i="0"/>
              <a:t>4</a:t>
            </a:r>
            <a:r>
              <a:rPr lang="zh-CN" altLang="en-US" sz="2800" b="1" i="0"/>
              <a:t>个红球</a:t>
            </a:r>
            <a:r>
              <a:rPr lang="en-US" altLang="zh-CN" sz="2800" b="1" i="0"/>
              <a:t>1</a:t>
            </a:r>
            <a:r>
              <a:rPr lang="zh-CN" altLang="en-US" sz="2800" b="1" i="0"/>
              <a:t>个白球，第二个盒子有</a:t>
            </a:r>
            <a:r>
              <a:rPr lang="en-US" altLang="zh-CN" sz="2800" b="1" i="0"/>
              <a:t>3</a:t>
            </a:r>
            <a:r>
              <a:rPr lang="zh-CN" altLang="en-US" sz="2800" b="1" i="0"/>
              <a:t>个红球</a:t>
            </a:r>
            <a:r>
              <a:rPr lang="en-US" altLang="zh-CN" sz="2800" b="1" i="0"/>
              <a:t>2</a:t>
            </a:r>
            <a:r>
              <a:rPr lang="zh-CN" altLang="en-US" sz="2800" b="1" i="0"/>
              <a:t>个白球，第三个盒子有</a:t>
            </a:r>
            <a:r>
              <a:rPr lang="en-US" altLang="zh-CN" sz="2800" b="1" i="0"/>
              <a:t>2</a:t>
            </a:r>
            <a:r>
              <a:rPr lang="zh-CN" altLang="en-US" sz="2800" b="1" i="0"/>
              <a:t>个红球</a:t>
            </a:r>
            <a:r>
              <a:rPr lang="en-US" altLang="zh-CN" sz="2800" b="1" i="0"/>
              <a:t>3</a:t>
            </a:r>
            <a:r>
              <a:rPr lang="zh-CN" altLang="en-US" sz="2800" b="1" i="0"/>
              <a:t>个白球。从</a:t>
            </a:r>
            <a:r>
              <a:rPr lang="en-US" altLang="zh-CN" sz="2800" b="1" i="0"/>
              <a:t>3</a:t>
            </a:r>
            <a:r>
              <a:rPr lang="zh-CN" altLang="en-US" sz="2800" b="1" i="0"/>
              <a:t>个盒子任取一个盒子，然后从该盒子任取</a:t>
            </a:r>
            <a:r>
              <a:rPr lang="en-US" altLang="zh-CN" sz="2800" b="1" i="0"/>
              <a:t>3</a:t>
            </a:r>
            <a:r>
              <a:rPr lang="zh-CN" altLang="en-US" sz="2800" b="1" i="0"/>
              <a:t>个球。求取得</a:t>
            </a:r>
            <a:r>
              <a:rPr lang="en-US" altLang="zh-CN" sz="2800" b="1" i="0"/>
              <a:t>3</a:t>
            </a:r>
            <a:r>
              <a:rPr lang="zh-CN" altLang="en-US" sz="2800" b="1" i="0"/>
              <a:t>个红球的概率。</a:t>
            </a:r>
          </a:p>
        </p:txBody>
      </p:sp>
      <p:pic>
        <p:nvPicPr>
          <p:cNvPr id="14340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263" y="2566988"/>
            <a:ext cx="4381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TextBox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738" y="2987675"/>
            <a:ext cx="6096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TextBox 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8" y="5443538"/>
            <a:ext cx="4381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06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ldLvl="0" autoUpdateAnimBg="0"/>
      <p:bldP spid="14339" grpId="0" bldLvl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Rectangle 3"/>
          <p:cNvPicPr>
            <a:picLocks noGrp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8975"/>
            <a:ext cx="8242300" cy="2455863"/>
          </a:xfrm>
        </p:spPr>
      </p:pic>
      <p:sp>
        <p:nvSpPr>
          <p:cNvPr id="15363" name="TextBox 1"/>
          <p:cNvSpPr txBox="1">
            <a:spLocks noChangeArrowheads="1"/>
          </p:cNvSpPr>
          <p:nvPr/>
        </p:nvSpPr>
        <p:spPr bwMode="auto">
          <a:xfrm>
            <a:off x="6227763" y="2852738"/>
            <a:ext cx="180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CC"/>
                </a:solidFill>
              </a:rPr>
              <a:t>0.025</a:t>
            </a:r>
            <a:endParaRPr lang="zh-CN" altLang="en-US" sz="2800">
              <a:solidFill>
                <a:srgbClr val="0000CC"/>
              </a:solidFill>
            </a:endParaRPr>
          </a:p>
        </p:txBody>
      </p:sp>
      <p:sp>
        <p:nvSpPr>
          <p:cNvPr id="15364" name="Rectangle 3"/>
          <p:cNvSpPr txBox="1">
            <a:spLocks noChangeArrowheads="1"/>
          </p:cNvSpPr>
          <p:nvPr/>
        </p:nvSpPr>
        <p:spPr bwMode="auto">
          <a:xfrm>
            <a:off x="468313" y="3344863"/>
            <a:ext cx="822960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2800" b="1" i="0"/>
              <a:t>   甲、乙、丙三门高炮同时独立的各向敌机发射一枚炮弹，它们命中敌机的概率都是</a:t>
            </a:r>
            <a:r>
              <a:rPr lang="en-US" altLang="zh-CN" sz="2800" b="1" i="0"/>
              <a:t>0.2</a:t>
            </a:r>
            <a:r>
              <a:rPr lang="zh-CN" altLang="en-US" sz="2800" b="1" i="0"/>
              <a:t>。飞机被击中</a:t>
            </a:r>
            <a:r>
              <a:rPr lang="en-US" altLang="zh-CN" sz="2800" b="1" i="0"/>
              <a:t>1</a:t>
            </a:r>
            <a:r>
              <a:rPr lang="zh-CN" altLang="en-US" sz="2800" b="1" i="0"/>
              <a:t>弹而坠毁的概率</a:t>
            </a:r>
            <a:r>
              <a:rPr lang="en-US" altLang="zh-CN" sz="2800" b="1" i="0"/>
              <a:t>0.1</a:t>
            </a:r>
            <a:r>
              <a:rPr lang="zh-CN" altLang="en-US" sz="2800" b="1" i="0"/>
              <a:t>，被击中</a:t>
            </a:r>
            <a:r>
              <a:rPr lang="en-US" altLang="zh-CN" sz="2800" b="1" i="0"/>
              <a:t>2</a:t>
            </a:r>
            <a:r>
              <a:rPr lang="zh-CN" altLang="en-US" sz="2800" b="1" i="0"/>
              <a:t>弹而坠毁的概率</a:t>
            </a:r>
            <a:r>
              <a:rPr lang="en-US" altLang="zh-CN" sz="2800" b="1" i="0"/>
              <a:t>0.5</a:t>
            </a:r>
            <a:r>
              <a:rPr lang="zh-CN" altLang="en-US" sz="2800" b="1" i="0"/>
              <a:t>，被击中</a:t>
            </a:r>
            <a:r>
              <a:rPr lang="en-US" altLang="zh-CN" sz="2800" b="1" i="0"/>
              <a:t>3</a:t>
            </a:r>
            <a:r>
              <a:rPr lang="zh-CN" altLang="en-US" sz="2800" b="1" i="0"/>
              <a:t>弹必定坠毁。</a:t>
            </a:r>
            <a:endParaRPr lang="en-US" sz="2800" b="1" i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en-US" sz="2800" b="1" i="0"/>
              <a:t>    </a:t>
            </a:r>
            <a:r>
              <a:rPr lang="zh-CN" altLang="en-US" sz="2800" b="1" i="0"/>
              <a:t>（</a:t>
            </a:r>
            <a:r>
              <a:rPr lang="en-US" altLang="zh-CN" sz="2800" b="1" i="0"/>
              <a:t>1</a:t>
            </a:r>
            <a:r>
              <a:rPr lang="zh-CN" altLang="en-US" sz="2800" b="1" i="0"/>
              <a:t>）求飞机坠毁的概率；</a:t>
            </a:r>
            <a:endParaRPr lang="en-US" sz="2800" b="1" i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en-US" sz="2800" b="1" i="0"/>
              <a:t>    </a:t>
            </a:r>
            <a:r>
              <a:rPr lang="zh-CN" altLang="en-US" sz="2800" b="1" i="0"/>
              <a:t>（</a:t>
            </a:r>
            <a:r>
              <a:rPr lang="en-US" altLang="zh-CN" sz="2800" b="1" i="0"/>
              <a:t>2</a:t>
            </a:r>
            <a:r>
              <a:rPr lang="zh-CN" altLang="en-US" sz="2800" b="1" i="0"/>
              <a:t>）已知飞机坠毁，求它只被命中</a:t>
            </a:r>
            <a:r>
              <a:rPr lang="en-US" altLang="zh-CN" sz="2800" b="1" i="0"/>
              <a:t>1</a:t>
            </a:r>
            <a:r>
              <a:rPr lang="zh-CN" altLang="en-US" sz="2800" b="1" i="0"/>
              <a:t>弹的概率。</a:t>
            </a: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5795963" y="4941888"/>
            <a:ext cx="180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CC"/>
                </a:solidFill>
              </a:rPr>
              <a:t>0.0944</a:t>
            </a:r>
            <a:endParaRPr lang="zh-CN" altLang="en-US" sz="2800">
              <a:solidFill>
                <a:srgbClr val="0000CC"/>
              </a:solidFill>
            </a:endParaRPr>
          </a:p>
        </p:txBody>
      </p:sp>
      <p:sp>
        <p:nvSpPr>
          <p:cNvPr id="15366" name="TextBox 6"/>
          <p:cNvSpPr txBox="1">
            <a:spLocks noChangeArrowheads="1"/>
          </p:cNvSpPr>
          <p:nvPr/>
        </p:nvSpPr>
        <p:spPr bwMode="auto">
          <a:xfrm>
            <a:off x="6380163" y="6002338"/>
            <a:ext cx="180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CC"/>
                </a:solidFill>
              </a:rPr>
              <a:t>0.40678</a:t>
            </a:r>
            <a:endParaRPr lang="zh-CN" altLang="en-US" sz="280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49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ldLvl="0" autoUpdateAnimBg="0"/>
      <p:bldP spid="15364" grpId="0" bldLvl="0" autoUpdateAnimBg="0"/>
      <p:bldP spid="15365" grpId="0" bldLvl="0" autoUpdateAnimBg="0"/>
      <p:bldP spid="15366" grpId="0" bldLvl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 eaLnBrk="1" hangingPunct="1"/>
            <a:r>
              <a:rPr lang="zh-CN" smtClean="0"/>
              <a:t>第二章 随机变量及其分布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755650" y="1700213"/>
            <a:ext cx="21605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分布函数 </a:t>
            </a:r>
          </a:p>
        </p:txBody>
      </p:sp>
      <p:pic>
        <p:nvPicPr>
          <p:cNvPr id="16388" name="TextBox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809750"/>
            <a:ext cx="5443537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3"/>
          <p:cNvSpPr txBox="1">
            <a:spLocks noChangeArrowheads="1"/>
          </p:cNvSpPr>
          <p:nvPr/>
        </p:nvSpPr>
        <p:spPr bwMode="auto">
          <a:xfrm>
            <a:off x="2555875" y="2620963"/>
            <a:ext cx="5111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单调性  极限性质  右连续性</a:t>
            </a:r>
          </a:p>
        </p:txBody>
      </p:sp>
      <p:sp>
        <p:nvSpPr>
          <p:cNvPr id="16390" name="TextBox 4"/>
          <p:cNvSpPr txBox="1">
            <a:spLocks noChangeArrowheads="1"/>
          </p:cNvSpPr>
          <p:nvPr/>
        </p:nvSpPr>
        <p:spPr bwMode="auto">
          <a:xfrm>
            <a:off x="755650" y="3743325"/>
            <a:ext cx="2879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概率计算公式</a:t>
            </a:r>
          </a:p>
        </p:txBody>
      </p:sp>
      <p:pic>
        <p:nvPicPr>
          <p:cNvPr id="16391" name="TextBox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3687763"/>
            <a:ext cx="4591050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TextBox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4303713"/>
            <a:ext cx="45910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3203575" y="4921250"/>
            <a:ext cx="446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Cambria Math" pitchFamily="18" charset="0"/>
              </a:rPr>
              <a:t>P(X=a)=F(a)-F(a-0)</a:t>
            </a:r>
            <a:endParaRPr lang="zh-CN" altLang="en-US" sz="2800">
              <a:latin typeface="Cambria Math" pitchFamily="18" charset="0"/>
            </a:endParaRPr>
          </a:p>
        </p:txBody>
      </p:sp>
      <p:pic>
        <p:nvPicPr>
          <p:cNvPr id="16394" name="TextBox 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5383213"/>
            <a:ext cx="45910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ldLvl="0" autoUpdateAnimBg="0"/>
      <p:bldP spid="16389" grpId="0" bldLvl="0" autoUpdateAnimBg="0"/>
      <p:bldP spid="16390" grpId="0" bldLvl="0" autoUpdateAnimBg="0"/>
      <p:bldP spid="16393" grpId="0" bldLvl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260350"/>
            <a:ext cx="8229600" cy="647700"/>
          </a:xfrm>
        </p:spPr>
        <p:txBody>
          <a:bodyPr/>
          <a:lstStyle/>
          <a:p>
            <a:pPr eaLnBrk="1" hangingPunct="1"/>
            <a:r>
              <a:rPr lang="zh-CN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离散型随机变量</a:t>
            </a: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1419225" y="1052513"/>
            <a:ext cx="1366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分布律</a:t>
            </a:r>
          </a:p>
        </p:txBody>
      </p:sp>
      <p:pic>
        <p:nvPicPr>
          <p:cNvPr id="17412" name="TextBox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1017588"/>
            <a:ext cx="5668962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3184525" y="1771650"/>
            <a:ext cx="4881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非负性   规范性  </a:t>
            </a: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979488" y="2474913"/>
            <a:ext cx="3384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与分布函数的关系</a:t>
            </a:r>
          </a:p>
        </p:txBody>
      </p:sp>
      <p:pic>
        <p:nvPicPr>
          <p:cNvPr id="17415" name="TextBox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275" y="2298700"/>
            <a:ext cx="2097088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TextBox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38" y="3419475"/>
            <a:ext cx="3773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7" name="TextBox 10"/>
          <p:cNvSpPr txBox="1">
            <a:spLocks noChangeArrowheads="1"/>
          </p:cNvSpPr>
          <p:nvPr/>
        </p:nvSpPr>
        <p:spPr bwMode="auto">
          <a:xfrm>
            <a:off x="971550" y="4418013"/>
            <a:ext cx="3384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概率计算公式</a:t>
            </a:r>
          </a:p>
        </p:txBody>
      </p:sp>
      <p:pic>
        <p:nvPicPr>
          <p:cNvPr id="17418" name="TextBox 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913" y="4291013"/>
            <a:ext cx="3597275" cy="103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9" name="TextBox 9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5419725"/>
            <a:ext cx="915987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4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ldLvl="0" autoUpdateAnimBg="0"/>
      <p:bldP spid="17413" grpId="0" bldLvl="0" autoUpdateAnimBg="0"/>
      <p:bldP spid="17414" grpId="0" bldLvl="0" autoUpdateAnimBg="0"/>
      <p:bldP spid="17417" grpId="0" bldLvl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68313" y="333375"/>
            <a:ext cx="8229600" cy="647700"/>
          </a:xfrm>
        </p:spPr>
        <p:txBody>
          <a:bodyPr/>
          <a:lstStyle/>
          <a:p>
            <a:pPr eaLnBrk="1" hangingPunct="1"/>
            <a:r>
              <a:rPr lang="zh-CN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连续型随机变量</a:t>
            </a:r>
          </a:p>
        </p:txBody>
      </p:sp>
      <p:sp>
        <p:nvSpPr>
          <p:cNvPr id="18435" name="TextBox 1"/>
          <p:cNvSpPr txBox="1">
            <a:spLocks noChangeArrowheads="1"/>
          </p:cNvSpPr>
          <p:nvPr/>
        </p:nvSpPr>
        <p:spPr bwMode="auto">
          <a:xfrm>
            <a:off x="1419225" y="981075"/>
            <a:ext cx="1857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概率密度</a:t>
            </a:r>
          </a:p>
        </p:txBody>
      </p:sp>
      <p:pic>
        <p:nvPicPr>
          <p:cNvPr id="18436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006475"/>
            <a:ext cx="36274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3348038" y="1655763"/>
            <a:ext cx="4881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非负性   规范性  </a:t>
            </a:r>
          </a:p>
        </p:txBody>
      </p:sp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979488" y="2330450"/>
            <a:ext cx="3384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与分布函数的关系</a:t>
            </a:r>
          </a:p>
        </p:txBody>
      </p:sp>
      <p:sp>
        <p:nvSpPr>
          <p:cNvPr id="18439" name="TextBox 10"/>
          <p:cNvSpPr txBox="1">
            <a:spLocks noChangeArrowheads="1"/>
          </p:cNvSpPr>
          <p:nvPr/>
        </p:nvSpPr>
        <p:spPr bwMode="auto">
          <a:xfrm>
            <a:off x="971550" y="4273550"/>
            <a:ext cx="33845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概率计算公式</a:t>
            </a:r>
          </a:p>
        </p:txBody>
      </p:sp>
      <p:sp>
        <p:nvSpPr>
          <p:cNvPr id="18440" name="TextBox 3"/>
          <p:cNvSpPr txBox="1">
            <a:spLocks noChangeArrowheads="1"/>
          </p:cNvSpPr>
          <p:nvPr/>
        </p:nvSpPr>
        <p:spPr bwMode="auto">
          <a:xfrm>
            <a:off x="4140200" y="2398713"/>
            <a:ext cx="3887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如果</a:t>
            </a:r>
            <a:r>
              <a:rPr lang="en-US" altLang="zh-CN" sz="2800" b="1" i="0"/>
              <a:t>f(x)</a:t>
            </a:r>
            <a:r>
              <a:rPr lang="zh-CN" altLang="en-US" sz="2800" b="1" i="0"/>
              <a:t>在点</a:t>
            </a:r>
            <a:r>
              <a:rPr lang="en-US" altLang="zh-CN" sz="2800" b="1" i="0"/>
              <a:t>x</a:t>
            </a:r>
            <a:r>
              <a:rPr lang="zh-CN" altLang="en-US" sz="2800" b="1" i="0"/>
              <a:t>连续</a:t>
            </a:r>
          </a:p>
        </p:txBody>
      </p:sp>
      <p:pic>
        <p:nvPicPr>
          <p:cNvPr id="18441" name="TextBox 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3297238"/>
            <a:ext cx="19986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TextBox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738" y="3084513"/>
            <a:ext cx="2414587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TextBox 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127500"/>
            <a:ext cx="381635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4" name="Group 12"/>
          <p:cNvGrpSpPr>
            <a:grpSpLocks/>
          </p:cNvGrpSpPr>
          <p:nvPr/>
        </p:nvGrpSpPr>
        <p:grpSpPr bwMode="auto">
          <a:xfrm>
            <a:off x="1060450" y="5416550"/>
            <a:ext cx="7688263" cy="523875"/>
            <a:chOff x="0" y="0"/>
            <a:chExt cx="12108" cy="824"/>
          </a:xfrm>
        </p:grpSpPr>
        <p:sp>
          <p:nvSpPr>
            <p:cNvPr id="17422" name="TextBox 11"/>
            <p:cNvSpPr txBox="1">
              <a:spLocks noChangeArrowheads="1"/>
            </p:cNvSpPr>
            <p:nvPr/>
          </p:nvSpPr>
          <p:spPr bwMode="auto">
            <a:xfrm>
              <a:off x="0" y="0"/>
              <a:ext cx="5223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>
                  <a:latin typeface="宋体" pitchFamily="2" charset="-122"/>
                </a:rPr>
                <a:t>对连续型变量，有</a:t>
              </a:r>
            </a:p>
          </p:txBody>
        </p:sp>
        <p:pic>
          <p:nvPicPr>
            <p:cNvPr id="17423" name="TextBox 12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5" y="5"/>
              <a:ext cx="335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4" name="TextBox 13"/>
            <p:cNvSpPr txBox="1">
              <a:spLocks noChangeArrowheads="1"/>
            </p:cNvSpPr>
            <p:nvPr/>
          </p:nvSpPr>
          <p:spPr bwMode="auto">
            <a:xfrm>
              <a:off x="8478" y="0"/>
              <a:ext cx="3630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因此</a:t>
              </a:r>
            </a:p>
          </p:txBody>
        </p:sp>
      </p:grpSp>
      <p:pic>
        <p:nvPicPr>
          <p:cNvPr id="18448" name="TextBox 14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967413"/>
            <a:ext cx="89185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8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ldLvl="0" autoUpdateAnimBg="0"/>
      <p:bldP spid="18437" grpId="0" bldLvl="0" autoUpdateAnimBg="0"/>
      <p:bldP spid="18438" grpId="0" bldLvl="0" autoUpdateAnimBg="0"/>
      <p:bldP spid="18439" grpId="0" bldLvl="0" autoUpdateAnimBg="0"/>
      <p:bldP spid="18440" grpId="0" bldLvl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95288" y="476250"/>
            <a:ext cx="8229600" cy="1223963"/>
          </a:xfrm>
        </p:spPr>
        <p:txBody>
          <a:bodyPr/>
          <a:lstStyle/>
          <a:p>
            <a:pPr algn="ctr" eaLnBrk="1" hangingPunct="1"/>
            <a:r>
              <a:rPr lang="zh-CN" altLang="en-US" sz="2800" b="1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两点分布、二项分布、泊松分布</a:t>
            </a:r>
            <a:endParaRPr lang="en-US" sz="2800" b="1" smtClean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  <a:p>
            <a:pPr algn="ctr" eaLnBrk="1" hangingPunct="1"/>
            <a:r>
              <a:rPr lang="zh-CN" altLang="en-US" sz="2800" b="1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均匀分布、指数分布、正态分布</a:t>
            </a:r>
          </a:p>
        </p:txBody>
      </p:sp>
      <p:sp>
        <p:nvSpPr>
          <p:cNvPr id="19459" name="TextBox 2"/>
          <p:cNvSpPr txBox="1">
            <a:spLocks noChangeArrowheads="1"/>
          </p:cNvSpPr>
          <p:nvPr/>
        </p:nvSpPr>
        <p:spPr bwMode="auto">
          <a:xfrm>
            <a:off x="611188" y="1916113"/>
            <a:ext cx="5400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随机变量函数的分布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3687763" y="2706688"/>
            <a:ext cx="5132387" cy="1555750"/>
            <a:chOff x="0" y="0"/>
            <a:chExt cx="8082" cy="2449"/>
          </a:xfrm>
        </p:grpSpPr>
        <p:sp>
          <p:nvSpPr>
            <p:cNvPr id="18442" name="TextBox 3"/>
            <p:cNvSpPr txBox="1">
              <a:spLocks noChangeArrowheads="1"/>
            </p:cNvSpPr>
            <p:nvPr/>
          </p:nvSpPr>
          <p:spPr bwMode="auto">
            <a:xfrm>
              <a:off x="55" y="832"/>
              <a:ext cx="2277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解方程</a:t>
              </a:r>
            </a:p>
          </p:txBody>
        </p:sp>
        <p:pic>
          <p:nvPicPr>
            <p:cNvPr id="18443" name="TextBox 4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547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4" name="TextBox 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720"/>
              <a:ext cx="2707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5" name="TextBox 6"/>
            <p:cNvSpPr txBox="1">
              <a:spLocks noChangeArrowheads="1"/>
            </p:cNvSpPr>
            <p:nvPr/>
          </p:nvSpPr>
          <p:spPr bwMode="auto">
            <a:xfrm>
              <a:off x="32" y="1627"/>
              <a:ext cx="8050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将所有解对应的概率相加。</a:t>
              </a:r>
            </a:p>
          </p:txBody>
        </p:sp>
      </p:grpSp>
      <p:grpSp>
        <p:nvGrpSpPr>
          <p:cNvPr id="19465" name="Group 9"/>
          <p:cNvGrpSpPr>
            <a:grpSpLocks/>
          </p:cNvGrpSpPr>
          <p:nvPr/>
        </p:nvGrpSpPr>
        <p:grpSpPr bwMode="auto">
          <a:xfrm>
            <a:off x="1331913" y="4627563"/>
            <a:ext cx="5495925" cy="1609725"/>
            <a:chOff x="0" y="0"/>
            <a:chExt cx="8655" cy="2534"/>
          </a:xfrm>
        </p:grpSpPr>
        <p:pic>
          <p:nvPicPr>
            <p:cNvPr id="18438" name="TextBox 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" y="0"/>
              <a:ext cx="8640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9" name="TextBox 10"/>
            <p:cNvSpPr txBox="1">
              <a:spLocks noChangeArrowheads="1"/>
            </p:cNvSpPr>
            <p:nvPr/>
          </p:nvSpPr>
          <p:spPr bwMode="auto">
            <a:xfrm>
              <a:off x="0" y="887"/>
              <a:ext cx="3137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解不等式</a:t>
              </a:r>
            </a:p>
          </p:txBody>
        </p:sp>
        <p:pic>
          <p:nvPicPr>
            <p:cNvPr id="18440" name="TextBox 11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7" y="892"/>
              <a:ext cx="2718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" name="TextBox 8"/>
            <p:cNvSpPr txBox="1">
              <a:spLocks noChangeArrowheads="1"/>
            </p:cNvSpPr>
            <p:nvPr/>
          </p:nvSpPr>
          <p:spPr bwMode="auto">
            <a:xfrm>
              <a:off x="12" y="1710"/>
              <a:ext cx="7140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根据</a:t>
              </a:r>
              <a:r>
                <a:rPr lang="en-US" altLang="zh-CN" sz="2800" b="1" i="0"/>
                <a:t>X</a:t>
              </a:r>
              <a:r>
                <a:rPr lang="zh-CN" altLang="en-US" sz="2800" b="1" i="0"/>
                <a:t>的概率密度求解概率。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89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ldLvl="0" autoUpdateAnimBg="0"/>
      <p:bldP spid="19459" grpId="0" bldLvl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468313" y="836613"/>
            <a:ext cx="8424862" cy="541337"/>
            <a:chOff x="0" y="0"/>
            <a:chExt cx="8424936" cy="540528"/>
          </a:xfrm>
        </p:grpSpPr>
        <p:sp>
          <p:nvSpPr>
            <p:cNvPr id="19461" name="TextBox 1"/>
            <p:cNvSpPr txBox="1">
              <a:spLocks noChangeArrowheads="1"/>
            </p:cNvSpPr>
            <p:nvPr/>
          </p:nvSpPr>
          <p:spPr bwMode="auto">
            <a:xfrm>
              <a:off x="0" y="0"/>
              <a:ext cx="842493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定理   </a:t>
              </a:r>
              <a:r>
                <a:rPr lang="zh-CN" altLang="en-US" sz="2800" b="1" i="0"/>
                <a:t>若         单调，则                   的概率密度</a:t>
              </a:r>
            </a:p>
          </p:txBody>
        </p:sp>
        <p:pic>
          <p:nvPicPr>
            <p:cNvPr id="19462" name="TextBox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864" y="28920"/>
              <a:ext cx="902208" cy="554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TextBox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6440" y="16728"/>
              <a:ext cx="1737360" cy="524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459" name="TextBox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73238"/>
            <a:ext cx="7534275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1692275" y="3503613"/>
            <a:ext cx="4197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其中</a:t>
            </a:r>
            <a:r>
              <a:rPr lang="en-US" altLang="zh-CN" sz="2800" b="1">
                <a:latin typeface="Cambria Math" pitchFamily="18" charset="0"/>
              </a:rPr>
              <a:t>h(y)</a:t>
            </a:r>
            <a:r>
              <a:rPr lang="zh-CN" altLang="en-US" sz="2800" b="1" i="0"/>
              <a:t>是</a:t>
            </a:r>
            <a:r>
              <a:rPr lang="en-US" altLang="zh-CN" sz="2800" b="1">
                <a:latin typeface="Cambria Math" pitchFamily="18" charset="0"/>
              </a:rPr>
              <a:t>g(x)</a:t>
            </a:r>
            <a:r>
              <a:rPr lang="zh-CN" altLang="en-US" sz="2800" b="1" i="0"/>
              <a:t>的反函数。</a:t>
            </a:r>
          </a:p>
        </p:txBody>
      </p:sp>
    </p:spTree>
    <p:extLst>
      <p:ext uri="{BB962C8B-B14F-4D97-AF65-F5344CB8AC3E}">
        <p14:creationId xmlns:p14="http://schemas.microsoft.com/office/powerpoint/2010/main" val="190890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68313" y="260350"/>
            <a:ext cx="8229600" cy="719138"/>
          </a:xfrm>
        </p:spPr>
        <p:txBody>
          <a:bodyPr/>
          <a:lstStyle/>
          <a:p>
            <a:pPr eaLnBrk="1" hangingPunct="1"/>
            <a:r>
              <a:rPr lang="zh-CN" b="1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练习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827088" y="981075"/>
            <a:ext cx="7415212" cy="1401763"/>
            <a:chOff x="0" y="0"/>
            <a:chExt cx="11676" cy="2207"/>
          </a:xfrm>
        </p:grpSpPr>
        <p:sp>
          <p:nvSpPr>
            <p:cNvPr id="20492" name="TextBox 1"/>
            <p:cNvSpPr txBox="1">
              <a:spLocks noChangeArrowheads="1"/>
            </p:cNvSpPr>
            <p:nvPr/>
          </p:nvSpPr>
          <p:spPr bwMode="auto">
            <a:xfrm>
              <a:off x="0" y="233"/>
              <a:ext cx="4082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1</a:t>
              </a:r>
              <a:r>
                <a:rPr lang="en-US" altLang="zh-CN" sz="2800" b="1" i="0"/>
                <a:t>   </a:t>
              </a:r>
              <a:r>
                <a:rPr lang="zh-CN" altLang="en-US" sz="2800" b="1" i="0"/>
                <a:t>若概率密度</a:t>
              </a:r>
              <a:endParaRPr lang="zh-CN" altLang="en-US" b="1"/>
            </a:p>
          </p:txBody>
        </p:sp>
        <p:pic>
          <p:nvPicPr>
            <p:cNvPr id="20493" name="TextBox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2" y="0"/>
              <a:ext cx="7825" cy="1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4" name="TextBox 3"/>
            <p:cNvSpPr txBox="1">
              <a:spLocks noChangeArrowheads="1"/>
            </p:cNvSpPr>
            <p:nvPr/>
          </p:nvSpPr>
          <p:spPr bwMode="auto">
            <a:xfrm>
              <a:off x="1022" y="1385"/>
              <a:ext cx="3400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则   </a:t>
              </a:r>
              <a:r>
                <a:rPr lang="en-US" altLang="zh-CN" sz="2800" b="1" i="0"/>
                <a:t>k=</a:t>
              </a:r>
              <a:endParaRPr lang="zh-CN" altLang="en-US" sz="2800" b="1" i="0"/>
            </a:p>
          </p:txBody>
        </p:sp>
      </p:grp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827088" y="2457450"/>
            <a:ext cx="7439025" cy="2219325"/>
            <a:chOff x="0" y="0"/>
            <a:chExt cx="11715" cy="3494"/>
          </a:xfrm>
        </p:grpSpPr>
        <p:sp>
          <p:nvSpPr>
            <p:cNvPr id="20489" name="TextBox 6"/>
            <p:cNvSpPr txBox="1">
              <a:spLocks noChangeArrowheads="1"/>
            </p:cNvSpPr>
            <p:nvPr/>
          </p:nvSpPr>
          <p:spPr bwMode="auto">
            <a:xfrm>
              <a:off x="0" y="743"/>
              <a:ext cx="4082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  </a:t>
              </a:r>
              <a:r>
                <a:rPr lang="en-US" altLang="zh-CN" sz="2800" b="1" i="0"/>
                <a:t>   </a:t>
              </a:r>
              <a:r>
                <a:rPr lang="zh-CN" altLang="en-US" sz="2800" b="1" i="0"/>
                <a:t>若概率密度</a:t>
              </a:r>
              <a:endParaRPr lang="zh-CN" altLang="en-US" b="1"/>
            </a:p>
          </p:txBody>
        </p:sp>
        <p:pic>
          <p:nvPicPr>
            <p:cNvPr id="20490" name="TextBox 7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5" y="0"/>
              <a:ext cx="7890" cy="2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1" name="TextBox 8"/>
            <p:cNvSpPr txBox="1">
              <a:spLocks noChangeArrowheads="1"/>
            </p:cNvSpPr>
            <p:nvPr/>
          </p:nvSpPr>
          <p:spPr bwMode="auto">
            <a:xfrm>
              <a:off x="1022" y="2670"/>
              <a:ext cx="3400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则   </a:t>
              </a:r>
              <a:r>
                <a:rPr lang="en-US" altLang="zh-CN" sz="2800" b="1" i="0"/>
                <a:t>C=</a:t>
              </a:r>
              <a:endParaRPr lang="zh-CN" altLang="en-US" sz="2800" b="1" i="0"/>
            </a:p>
          </p:txBody>
        </p:sp>
      </p:grpSp>
      <p:grpSp>
        <p:nvGrpSpPr>
          <p:cNvPr id="21515" name="Group 11"/>
          <p:cNvGrpSpPr>
            <a:grpSpLocks/>
          </p:cNvGrpSpPr>
          <p:nvPr/>
        </p:nvGrpSpPr>
        <p:grpSpPr bwMode="auto">
          <a:xfrm>
            <a:off x="806450" y="4937125"/>
            <a:ext cx="4997450" cy="1074738"/>
            <a:chOff x="0" y="0"/>
            <a:chExt cx="7870" cy="1692"/>
          </a:xfrm>
        </p:grpSpPr>
        <p:sp>
          <p:nvSpPr>
            <p:cNvPr id="20486" name="TextBox 9"/>
            <p:cNvSpPr txBox="1">
              <a:spLocks noChangeArrowheads="1"/>
            </p:cNvSpPr>
            <p:nvPr/>
          </p:nvSpPr>
          <p:spPr bwMode="auto">
            <a:xfrm>
              <a:off x="0" y="25"/>
              <a:ext cx="4083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  </a:t>
              </a:r>
              <a:r>
                <a:rPr lang="en-US" altLang="zh-CN" sz="2800" b="1" i="0"/>
                <a:t>   </a:t>
              </a:r>
              <a:r>
                <a:rPr lang="zh-CN" altLang="en-US" sz="2800" b="1" i="0"/>
                <a:t>若概率密度</a:t>
              </a:r>
              <a:endParaRPr lang="zh-CN" altLang="en-US" b="1"/>
            </a:p>
          </p:txBody>
        </p:sp>
        <p:pic>
          <p:nvPicPr>
            <p:cNvPr id="20487" name="TextBox 10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8" y="0"/>
              <a:ext cx="3822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8" name="TextBox 11"/>
            <p:cNvSpPr txBox="1">
              <a:spLocks noChangeArrowheads="1"/>
            </p:cNvSpPr>
            <p:nvPr/>
          </p:nvSpPr>
          <p:spPr bwMode="auto">
            <a:xfrm>
              <a:off x="713" y="868"/>
              <a:ext cx="6740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求</a:t>
              </a:r>
              <a:r>
                <a:rPr lang="en-US" altLang="zh-CN" sz="2800" b="1" i="0"/>
                <a:t>A </a:t>
              </a:r>
              <a:r>
                <a:rPr lang="zh-CN" altLang="en-US" sz="2800" b="1" i="0"/>
                <a:t>以及</a:t>
              </a:r>
              <a:r>
                <a:rPr lang="en-US" altLang="zh-CN" sz="2800" b="1" i="0"/>
                <a:t>X</a:t>
              </a:r>
              <a:r>
                <a:rPr lang="zh-CN" altLang="en-US" sz="2800" b="1" i="0"/>
                <a:t>的分布函数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86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765175"/>
            <a:ext cx="2314575" cy="647700"/>
          </a:xfrm>
        </p:spPr>
        <p:txBody>
          <a:bodyPr/>
          <a:lstStyle/>
          <a:p>
            <a:pPr eaLnBrk="1" hangingPunct="1"/>
            <a:r>
              <a:rPr lang="en-US" altLang="zh-CN" sz="2800" b="1" smtClean="0"/>
              <a:t>2   </a:t>
            </a:r>
            <a:r>
              <a:rPr lang="zh-CN" altLang="en-US" sz="2800" b="1" smtClean="0"/>
              <a:t>分布函数</a:t>
            </a:r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1042988" y="1557338"/>
            <a:ext cx="14414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则</a:t>
            </a: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1762125" y="692150"/>
            <a:ext cx="4540250" cy="1385888"/>
            <a:chOff x="0" y="0"/>
            <a:chExt cx="7151" cy="2181"/>
          </a:xfrm>
        </p:grpSpPr>
        <p:pic>
          <p:nvPicPr>
            <p:cNvPr id="21520" name="TextBox 1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7" y="0"/>
              <a:ext cx="5675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1" name="TextBox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357"/>
              <a:ext cx="4338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35" name="Group 7"/>
          <p:cNvGrpSpPr>
            <a:grpSpLocks/>
          </p:cNvGrpSpPr>
          <p:nvPr/>
        </p:nvGrpSpPr>
        <p:grpSpPr bwMode="auto">
          <a:xfrm>
            <a:off x="107950" y="2438400"/>
            <a:ext cx="9017000" cy="1225550"/>
            <a:chOff x="0" y="0"/>
            <a:chExt cx="14200" cy="1929"/>
          </a:xfrm>
        </p:grpSpPr>
        <p:sp>
          <p:nvSpPr>
            <p:cNvPr id="21516" name="Rectangle 3"/>
            <p:cNvSpPr txBox="1">
              <a:spLocks noChangeArrowheads="1"/>
            </p:cNvSpPr>
            <p:nvPr/>
          </p:nvSpPr>
          <p:spPr bwMode="auto">
            <a:xfrm>
              <a:off x="0" y="85"/>
              <a:ext cx="6918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en-US" altLang="zh-CN" sz="2800" b="1" i="0"/>
                <a:t>     X</a:t>
              </a:r>
              <a:r>
                <a:rPr lang="zh-CN" altLang="en-US" sz="2800" b="1" i="0"/>
                <a:t>的绝对值不大于</a:t>
              </a:r>
              <a:r>
                <a:rPr lang="en-US" altLang="zh-CN" sz="2800" b="1" i="0"/>
                <a:t>1</a:t>
              </a:r>
              <a:r>
                <a:rPr lang="zh-CN" altLang="en-US" sz="2800" b="1" i="0"/>
                <a:t>，且</a:t>
              </a:r>
              <a:endParaRPr lang="en-US" sz="2800" b="1" i="0"/>
            </a:p>
          </p:txBody>
        </p:sp>
        <p:sp>
          <p:nvSpPr>
            <p:cNvPr id="21517" name="TextBox 7"/>
            <p:cNvSpPr txBox="1">
              <a:spLocks noChangeArrowheads="1"/>
            </p:cNvSpPr>
            <p:nvPr/>
          </p:nvSpPr>
          <p:spPr bwMode="auto">
            <a:xfrm>
              <a:off x="1665" y="1105"/>
              <a:ext cx="2268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则</a:t>
              </a:r>
            </a:p>
          </p:txBody>
        </p:sp>
        <p:pic>
          <p:nvPicPr>
            <p:cNvPr id="21518" name="TextBox 8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1105"/>
              <a:ext cx="4763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9" name="TextBox 9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0" y="0"/>
              <a:ext cx="7620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40" name="Group 12"/>
          <p:cNvGrpSpPr>
            <a:grpSpLocks/>
          </p:cNvGrpSpPr>
          <p:nvPr/>
        </p:nvGrpSpPr>
        <p:grpSpPr bwMode="auto">
          <a:xfrm>
            <a:off x="684213" y="3859213"/>
            <a:ext cx="7369175" cy="2249487"/>
            <a:chOff x="0" y="0"/>
            <a:chExt cx="11605" cy="3542"/>
          </a:xfrm>
        </p:grpSpPr>
        <p:sp>
          <p:nvSpPr>
            <p:cNvPr id="21511" name="TextBox 10"/>
            <p:cNvSpPr txBox="1">
              <a:spLocks noChangeArrowheads="1"/>
            </p:cNvSpPr>
            <p:nvPr/>
          </p:nvSpPr>
          <p:spPr bwMode="auto">
            <a:xfrm>
              <a:off x="0" y="747"/>
              <a:ext cx="4082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  </a:t>
              </a:r>
              <a:r>
                <a:rPr lang="en-US" altLang="zh-CN" sz="2800" b="1" i="0"/>
                <a:t>   </a:t>
              </a:r>
              <a:r>
                <a:rPr lang="zh-CN" altLang="en-US" sz="2800" b="1" i="0"/>
                <a:t>若概率密度</a:t>
              </a:r>
              <a:endParaRPr lang="zh-CN" altLang="en-US" b="1"/>
            </a:p>
          </p:txBody>
        </p:sp>
        <p:pic>
          <p:nvPicPr>
            <p:cNvPr id="21512" name="TextBox 11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7" y="0"/>
              <a:ext cx="7788" cy="2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3" name="TextBox 12"/>
            <p:cNvSpPr txBox="1">
              <a:spLocks noChangeArrowheads="1"/>
            </p:cNvSpPr>
            <p:nvPr/>
          </p:nvSpPr>
          <p:spPr bwMode="auto">
            <a:xfrm>
              <a:off x="1020" y="2675"/>
              <a:ext cx="2155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则</a:t>
              </a:r>
            </a:p>
          </p:txBody>
        </p:sp>
        <p:pic>
          <p:nvPicPr>
            <p:cNvPr id="21514" name="TextBox 13"/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7" y="2380"/>
              <a:ext cx="4223" cy="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TextBox 14"/>
            <p:cNvPicPr>
              <a:picLocks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0" y="2380"/>
              <a:ext cx="4212" cy="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2187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3850" y="333375"/>
            <a:ext cx="3600450" cy="5559425"/>
          </a:xfrm>
        </p:spPr>
        <p:txBody>
          <a:bodyPr/>
          <a:lstStyle/>
          <a:p>
            <a:pPr marL="514350" indent="-514350" eaLnBrk="1" hangingPunct="1">
              <a:buFont typeface="Wingdings" pitchFamily="2" charset="2"/>
              <a:buAutoNum type="arabicPlain" startAt="3"/>
            </a:pPr>
            <a:r>
              <a:rPr lang="zh-CN" altLang="en-US" sz="2800" b="1" smtClean="0"/>
              <a:t>设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的分布律为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</a:t>
            </a:r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求</a:t>
            </a:r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设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的分布函数为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</a:t>
            </a:r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 </a:t>
            </a:r>
            <a:r>
              <a:rPr lang="zh-CN" altLang="en-US" sz="2800" b="1" smtClean="0"/>
              <a:t>求 </a:t>
            </a:r>
            <a:r>
              <a:rPr lang="en-US" altLang="zh-CN" sz="2800" b="1" smtClean="0"/>
              <a:t>X </a:t>
            </a:r>
            <a:r>
              <a:rPr lang="zh-CN" altLang="en-US" sz="2800" b="1" smtClean="0"/>
              <a:t>的分布律</a:t>
            </a:r>
          </a:p>
        </p:txBody>
      </p:sp>
      <p:pic>
        <p:nvPicPr>
          <p:cNvPr id="22531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450" y="3906838"/>
            <a:ext cx="4449763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762000"/>
            <a:ext cx="53768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TextBox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676400"/>
            <a:ext cx="315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TextBox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133600"/>
            <a:ext cx="23891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TextBox 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341563"/>
            <a:ext cx="2389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16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765175"/>
            <a:ext cx="8229600" cy="3600450"/>
          </a:xfrm>
        </p:spPr>
        <p:txBody>
          <a:bodyPr/>
          <a:lstStyle/>
          <a:p>
            <a:pPr eaLnBrk="1" hangingPunct="1"/>
            <a:r>
              <a:rPr lang="zh-CN" altLang="en-US" sz="2800" b="1" smtClean="0"/>
              <a:t>假设一工厂生产每台仪器以</a:t>
            </a:r>
            <a:r>
              <a:rPr lang="en-US" altLang="zh-CN" sz="2800" b="1" smtClean="0"/>
              <a:t>0.7</a:t>
            </a:r>
            <a:r>
              <a:rPr lang="zh-CN" altLang="en-US" sz="2800" b="1" smtClean="0"/>
              <a:t>的概率直接出厂，以</a:t>
            </a:r>
            <a:r>
              <a:rPr lang="en-US" altLang="zh-CN" sz="2800" b="1" smtClean="0"/>
              <a:t>0.3</a:t>
            </a:r>
            <a:r>
              <a:rPr lang="zh-CN" altLang="en-US" sz="2800" b="1" smtClean="0"/>
              <a:t>的概率需进一步调试，调试后以</a:t>
            </a:r>
            <a:r>
              <a:rPr lang="en-US" altLang="zh-CN" sz="2800" b="1" smtClean="0"/>
              <a:t>0.8</a:t>
            </a:r>
            <a:r>
              <a:rPr lang="zh-CN" altLang="en-US" sz="2800" b="1" smtClean="0"/>
              <a:t>的概率出厂，以</a:t>
            </a:r>
            <a:r>
              <a:rPr lang="en-US" altLang="zh-CN" sz="2800" b="1" smtClean="0"/>
              <a:t>0.2</a:t>
            </a:r>
            <a:r>
              <a:rPr lang="zh-CN" altLang="en-US" sz="2800" b="1" smtClean="0"/>
              <a:t>的概率定为不合格不能出厂。现在生产了</a:t>
            </a:r>
            <a:r>
              <a:rPr lang="en-US" altLang="zh-CN" sz="2800" b="1" smtClean="0"/>
              <a:t>n</a:t>
            </a:r>
            <a:r>
              <a:rPr lang="zh-CN" altLang="en-US" sz="2800" b="1" smtClean="0"/>
              <a:t>台仪器。假设每台仪器的生产是独立的，求</a:t>
            </a:r>
            <a:endParaRPr lang="en-US" sz="2800" b="1" smtClean="0"/>
          </a:p>
          <a:p>
            <a:pPr eaLnBrk="1" hangingPunct="1"/>
            <a:r>
              <a:rPr lang="zh-CN" altLang="en-US" sz="2800" b="1" smtClean="0"/>
              <a:t>（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）全不能出场的概率</a:t>
            </a:r>
            <a:endParaRPr lang="en-US" sz="2800" b="1" smtClean="0"/>
          </a:p>
          <a:p>
            <a:pPr eaLnBrk="1" hangingPunct="1"/>
            <a:r>
              <a:rPr lang="zh-CN" altLang="en-US" sz="2800" b="1" smtClean="0"/>
              <a:t>（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）恰好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台不能出厂的概率</a:t>
            </a:r>
            <a:endParaRPr lang="en-US" sz="2800" b="1" smtClean="0"/>
          </a:p>
          <a:p>
            <a:pPr eaLnBrk="1" hangingPunct="1"/>
            <a:r>
              <a:rPr lang="zh-CN" altLang="en-US" sz="2800" b="1" smtClean="0"/>
              <a:t>（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）至少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台不能出厂的概率</a:t>
            </a:r>
          </a:p>
        </p:txBody>
      </p:sp>
      <p:pic>
        <p:nvPicPr>
          <p:cNvPr id="24579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4602163"/>
            <a:ext cx="2292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475" y="2640013"/>
            <a:ext cx="1146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TextBox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475" y="3206750"/>
            <a:ext cx="272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TextBox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275" y="4400550"/>
            <a:ext cx="4278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827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836712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zh-CN" sz="2800" b="1" dirty="0" smtClean="0"/>
              <a:t>4 </a:t>
            </a:r>
            <a:r>
              <a:rPr lang="zh-CN" altLang="en-US" sz="2800" b="1" dirty="0" smtClean="0"/>
              <a:t>设每张奖券中奖率为</a:t>
            </a:r>
            <a:r>
              <a:rPr lang="en-US" altLang="zh-CN" sz="2800" b="1" dirty="0" smtClean="0"/>
              <a:t>0.1</a:t>
            </a:r>
            <a:r>
              <a:rPr lang="zh-CN" altLang="en-US" sz="2800" b="1" dirty="0" smtClean="0"/>
              <a:t>，某人随机购买</a:t>
            </a:r>
            <a:r>
              <a:rPr lang="en-US" altLang="zh-CN" sz="2800" b="1" dirty="0" smtClean="0"/>
              <a:t>20</a:t>
            </a:r>
            <a:r>
              <a:rPr lang="zh-CN" altLang="en-US" sz="2800" b="1" dirty="0" smtClean="0"/>
              <a:t>张，则中奖的张数服从（）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服从正态分布，且</a:t>
            </a:r>
            <a:endParaRPr lang="en-US" sz="2800" b="1" dirty="0" smtClean="0"/>
          </a:p>
          <a:p>
            <a:pPr eaLnBrk="1" hangingPunct="1"/>
            <a:r>
              <a:rPr lang="zh-CN" altLang="en-US" sz="2800" b="1" dirty="0" smtClean="0"/>
              <a:t>则</a:t>
            </a:r>
            <a:r>
              <a:rPr lang="en-US" altLang="zh-CN" sz="2800" b="1" dirty="0" smtClean="0"/>
              <a:t>c=</a:t>
            </a:r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服从正态分布，则随着方差的增大，</a:t>
            </a:r>
            <a:endParaRPr lang="en-US" sz="2800" b="1" dirty="0" smtClean="0"/>
          </a:p>
          <a:p>
            <a:pPr eaLnBrk="1" hangingPunct="1"/>
            <a:r>
              <a:rPr lang="zh-CN" altLang="en-US" sz="2800" b="1" dirty="0" smtClean="0"/>
              <a:t>概率                            如何变化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服从正态分布，则概率</a:t>
            </a:r>
          </a:p>
        </p:txBody>
      </p:sp>
      <p:pic>
        <p:nvPicPr>
          <p:cNvPr id="24579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3" y="1747937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66456"/>
            <a:ext cx="26035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TextBox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5333107"/>
            <a:ext cx="20970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19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620688"/>
            <a:ext cx="8229600" cy="5029200"/>
          </a:xfrm>
        </p:spPr>
        <p:txBody>
          <a:bodyPr/>
          <a:lstStyle/>
          <a:p>
            <a:pPr marL="514350" indent="-514350" eaLnBrk="1" hangingPunct="1">
              <a:buFont typeface="Wingdings" pitchFamily="2" charset="2"/>
              <a:buAutoNum type="arabicPlain" startAt="5"/>
            </a:pPr>
            <a:r>
              <a:rPr lang="en-US" altLang="zh-CN" sz="2800" b="1" smtClean="0"/>
              <a:t>X</a:t>
            </a:r>
            <a:r>
              <a:rPr lang="zh-CN" altLang="en-US" sz="2800" b="1" smtClean="0"/>
              <a:t>在区间</a:t>
            </a:r>
            <a:r>
              <a:rPr lang="en-US" altLang="zh-CN" sz="2800" b="1" smtClean="0"/>
              <a:t>[0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2]</a:t>
            </a:r>
            <a:r>
              <a:rPr lang="zh-CN" altLang="en-US" sz="2800" b="1" smtClean="0"/>
              <a:t>上服从均匀分布。求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（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）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的分布函数 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（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）</a:t>
            </a:r>
            <a:r>
              <a:rPr lang="en-US" altLang="zh-CN" sz="2800" b="1" smtClean="0"/>
              <a:t>Y=1-3X</a:t>
            </a:r>
            <a:r>
              <a:rPr lang="zh-CN" altLang="en-US" sz="2800" b="1" smtClean="0"/>
              <a:t>的概率密度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（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）概率</a:t>
            </a:r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的密度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求                密度</a:t>
            </a:r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的密度</a:t>
            </a:r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r>
              <a:rPr lang="zh-CN" altLang="en-US" sz="2800" b="1" smtClean="0"/>
              <a:t>求                密度</a:t>
            </a:r>
            <a:endParaRPr lang="en-US" sz="2800" b="1" smtClean="0"/>
          </a:p>
          <a:p>
            <a:pPr marL="514350" indent="-514350" eaLnBrk="1" hangingPunct="1"/>
            <a:endParaRPr lang="en-US" sz="2800" b="1" smtClean="0"/>
          </a:p>
          <a:p>
            <a:pPr marL="514350" indent="-514350" eaLnBrk="1" hangingPunct="1"/>
            <a:r>
              <a:rPr lang="en-US" sz="2800" b="1" smtClean="0"/>
              <a:t>      </a:t>
            </a:r>
            <a:endParaRPr lang="zh-CN" altLang="en-US" sz="2800" b="1" smtClean="0"/>
          </a:p>
        </p:txBody>
      </p:sp>
      <p:pic>
        <p:nvPicPr>
          <p:cNvPr id="25603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156817"/>
            <a:ext cx="50768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259" y="2980903"/>
            <a:ext cx="4364037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TextBox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388" y="4348733"/>
            <a:ext cx="384016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TextBox 3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3742581"/>
            <a:ext cx="1397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TextBox 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5182741"/>
            <a:ext cx="1577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4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765175"/>
            <a:ext cx="8229600" cy="2663825"/>
          </a:xfrm>
        </p:spPr>
        <p:txBody>
          <a:bodyPr/>
          <a:lstStyle/>
          <a:p>
            <a:pPr eaLnBrk="1" hangingPunct="1"/>
            <a:r>
              <a:rPr lang="zh-CN" altLang="en-US" sz="2800" b="1" smtClean="0"/>
              <a:t>随机变量</a:t>
            </a:r>
            <a:r>
              <a:rPr lang="en-US" altLang="zh-CN" sz="2800" b="1" smtClean="0"/>
              <a:t>X</a:t>
            </a:r>
            <a:r>
              <a:rPr lang="zh-CN" altLang="en-US" sz="2800" b="1" smtClean="0"/>
              <a:t>的概率密度为</a:t>
            </a:r>
            <a:endParaRPr lang="en-US" sz="2800" b="1" smtClean="0"/>
          </a:p>
          <a:p>
            <a:pPr eaLnBrk="1" hangingPunct="1"/>
            <a:endParaRPr lang="en-US" sz="2800" b="1" smtClean="0"/>
          </a:p>
          <a:p>
            <a:pPr eaLnBrk="1" hangingPunct="1"/>
            <a:endParaRPr lang="en-US" sz="2800" b="1" smtClean="0"/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zh-CN" altLang="en-US" sz="2800" b="1" smtClean="0"/>
              <a:t>求变量                  的概率密度</a:t>
            </a:r>
          </a:p>
        </p:txBody>
      </p:sp>
      <p:pic>
        <p:nvPicPr>
          <p:cNvPr id="26627" name="TextBox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414463"/>
            <a:ext cx="38512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TextBox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762250"/>
            <a:ext cx="1530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7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5888"/>
            <a:ext cx="8229600" cy="868362"/>
          </a:xfrm>
        </p:spPr>
        <p:txBody>
          <a:bodyPr/>
          <a:lstStyle/>
          <a:p>
            <a:pPr eaLnBrk="1" hangingPunct="1"/>
            <a:r>
              <a:rPr lang="zh-CN" smtClean="0"/>
              <a:t>第三章  多维随机变量及其分布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1846263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联合分布、联合分布率、联合密度</a:t>
            </a:r>
            <a:endParaRPr lang="en-US" b="1" smtClean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endParaRPr lang="en-US" b="1" smtClean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zh-CN" altLang="en-US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边缘分布</a:t>
            </a:r>
          </a:p>
        </p:txBody>
      </p:sp>
      <p:pic>
        <p:nvPicPr>
          <p:cNvPr id="28676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3286125"/>
            <a:ext cx="3530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TextBox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340100"/>
            <a:ext cx="35845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TextBox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4870450"/>
            <a:ext cx="3640138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TextBox 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22850"/>
            <a:ext cx="3627438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031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765175"/>
            <a:ext cx="8229600" cy="719138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X</a:t>
            </a:r>
            <a:r>
              <a:rPr lang="zh-CN" altLang="en-US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Y</a:t>
            </a:r>
            <a:r>
              <a:rPr lang="zh-CN" altLang="en-US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独立</a:t>
            </a:r>
            <a:endParaRPr lang="en-US" b="1" smtClean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en-US" sz="2800" smtClean="0"/>
              <a:t>  </a:t>
            </a:r>
            <a:endParaRPr lang="zh-CN" altLang="en-US" sz="2800" smtClean="0"/>
          </a:p>
        </p:txBody>
      </p:sp>
      <p:pic>
        <p:nvPicPr>
          <p:cNvPr id="29699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1554163"/>
            <a:ext cx="418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3"/>
          <p:cNvSpPr txBox="1">
            <a:spLocks noChangeArrowheads="1"/>
          </p:cNvSpPr>
          <p:nvPr/>
        </p:nvSpPr>
        <p:spPr bwMode="auto">
          <a:xfrm>
            <a:off x="468313" y="3022600"/>
            <a:ext cx="3959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二维变量函数的分布</a:t>
            </a:r>
          </a:p>
        </p:txBody>
      </p:sp>
      <p:pic>
        <p:nvPicPr>
          <p:cNvPr id="28677" name="TextBox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4078288"/>
            <a:ext cx="6010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884284"/>
              </p:ext>
            </p:extLst>
          </p:nvPr>
        </p:nvGraphicFramePr>
        <p:xfrm>
          <a:off x="1695450" y="5157192"/>
          <a:ext cx="3848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公式" r:id="rId5" imgW="3848040" imgH="698400" progId="Equation.3">
                  <p:embed/>
                </p:oleObj>
              </mc:Choice>
              <mc:Fallback>
                <p:oleObj name="公式" r:id="rId5" imgW="384804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5157192"/>
                        <a:ext cx="3848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69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303816"/>
              </p:ext>
            </p:extLst>
          </p:nvPr>
        </p:nvGraphicFramePr>
        <p:xfrm>
          <a:off x="3563888" y="1988840"/>
          <a:ext cx="34956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公式" r:id="rId3" imgW="1295280" imgH="228600" progId="Equation.3">
                  <p:embed/>
                </p:oleObj>
              </mc:Choice>
              <mc:Fallback>
                <p:oleObj name="公式" r:id="rId3" imgW="12952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988840"/>
                        <a:ext cx="34956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99592" y="622380"/>
            <a:ext cx="219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X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与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Y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独立时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08" y="1988840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Z=X+Y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967114"/>
              </p:ext>
            </p:extLst>
          </p:nvPr>
        </p:nvGraphicFramePr>
        <p:xfrm>
          <a:off x="3779912" y="3284984"/>
          <a:ext cx="318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公式" r:id="rId5" imgW="3187440" imgH="431640" progId="Equation.3">
                  <p:embed/>
                </p:oleObj>
              </mc:Choice>
              <mc:Fallback>
                <p:oleObj name="公式" r:id="rId5" imgW="318744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284984"/>
                        <a:ext cx="318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635302"/>
              </p:ext>
            </p:extLst>
          </p:nvPr>
        </p:nvGraphicFramePr>
        <p:xfrm>
          <a:off x="3779912" y="4199384"/>
          <a:ext cx="514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公式" r:id="rId7" imgW="5143320" imgH="419040" progId="Equation.3">
                  <p:embed/>
                </p:oleObj>
              </mc:Choice>
              <mc:Fallback>
                <p:oleObj name="公式" r:id="rId7" imgW="514332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199384"/>
                        <a:ext cx="514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43608" y="3212976"/>
            <a:ext cx="2190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Z=max{X,Y}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4221088"/>
            <a:ext cx="2108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Z=min{X,Y}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0240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539750" y="574675"/>
            <a:ext cx="6799263" cy="2247900"/>
            <a:chOff x="0" y="0"/>
            <a:chExt cx="10708" cy="3540"/>
          </a:xfrm>
        </p:grpSpPr>
        <p:sp>
          <p:nvSpPr>
            <p:cNvPr id="29702" name="TextBox 1"/>
            <p:cNvSpPr txBox="1">
              <a:spLocks noChangeArrowheads="1"/>
            </p:cNvSpPr>
            <p:nvPr/>
          </p:nvSpPr>
          <p:spPr bwMode="auto">
            <a:xfrm>
              <a:off x="0" y="0"/>
              <a:ext cx="9185" cy="3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Tx/>
                <a:buAutoNum type="arabicPlain"/>
              </a:pPr>
              <a:r>
                <a:rPr lang="zh-CN" altLang="en-US" sz="2800" b="1" i="0"/>
                <a:t>二维变量（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）的概率密度</a:t>
              </a:r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r>
                <a:rPr lang="en-US" sz="2800" b="1" i="0"/>
                <a:t>      </a:t>
              </a:r>
              <a:r>
                <a:rPr lang="zh-CN" altLang="en-US" sz="2800" b="1" i="0"/>
                <a:t>（</a:t>
              </a:r>
              <a:r>
                <a:rPr lang="en-US" altLang="zh-CN" sz="2800" b="1" i="0"/>
                <a:t>1</a:t>
              </a:r>
              <a:r>
                <a:rPr lang="zh-CN" altLang="en-US" sz="2800" b="1" i="0"/>
                <a:t>）</a:t>
              </a:r>
              <a:r>
                <a:rPr lang="en-US" altLang="zh-CN" sz="2800" b="1" i="0"/>
                <a:t>c=</a:t>
              </a:r>
            </a:p>
            <a:p>
              <a:pPr eaLnBrk="1" hangingPunct="1"/>
              <a:r>
                <a:rPr lang="en-US" sz="2800" b="1" i="0"/>
                <a:t>      </a:t>
              </a:r>
              <a:r>
                <a:rPr lang="zh-CN" altLang="en-US" sz="2800" b="1" i="0"/>
                <a:t>（</a:t>
              </a:r>
              <a:r>
                <a:rPr lang="en-US" altLang="zh-CN" sz="2800" b="1" i="0"/>
                <a:t>2</a:t>
              </a:r>
              <a:r>
                <a:rPr lang="zh-CN" altLang="en-US" sz="2800" b="1" i="0"/>
                <a:t>）求边缘密度</a:t>
              </a:r>
            </a:p>
          </p:txBody>
        </p:sp>
        <p:pic>
          <p:nvPicPr>
            <p:cNvPr id="29703" name="TextBox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0" y="948"/>
              <a:ext cx="7988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25" name="Group 5"/>
          <p:cNvGrpSpPr>
            <a:grpSpLocks/>
          </p:cNvGrpSpPr>
          <p:nvPr/>
        </p:nvGrpSpPr>
        <p:grpSpPr bwMode="auto">
          <a:xfrm>
            <a:off x="900113" y="3573463"/>
            <a:ext cx="7237412" cy="1816100"/>
            <a:chOff x="0" y="0"/>
            <a:chExt cx="11396" cy="2860"/>
          </a:xfrm>
        </p:grpSpPr>
        <p:sp>
          <p:nvSpPr>
            <p:cNvPr id="29700" name="TextBox 3"/>
            <p:cNvSpPr txBox="1">
              <a:spLocks noChangeArrowheads="1"/>
            </p:cNvSpPr>
            <p:nvPr/>
          </p:nvSpPr>
          <p:spPr bwMode="auto">
            <a:xfrm>
              <a:off x="0" y="0"/>
              <a:ext cx="10885" cy="2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Tx/>
                <a:buAutoNum type="arabicPlain" startAt="2"/>
              </a:pPr>
              <a:r>
                <a:rPr lang="zh-CN" altLang="en-US" sz="2800" b="1" i="0"/>
                <a:t>设（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）的概率密度</a:t>
              </a:r>
              <a:endParaRPr lang="en-US" sz="2800" b="1" i="0"/>
            </a:p>
            <a:p>
              <a:pPr eaLnBrk="1" hangingPunct="1">
                <a:buFontTx/>
                <a:buAutoNum type="arabicPlain" startAt="2"/>
              </a:pPr>
              <a:endParaRPr lang="en-US" sz="2800" b="1" i="0"/>
            </a:p>
            <a:p>
              <a:pPr eaLnBrk="1" hangingPunct="1">
                <a:buFontTx/>
                <a:buAutoNum type="arabicPlain" startAt="2"/>
              </a:pPr>
              <a:endParaRPr lang="en-US" sz="2800" b="1" i="0"/>
            </a:p>
            <a:p>
              <a:pPr eaLnBrk="1" hangingPunct="1"/>
              <a:r>
                <a:rPr lang="en-US" sz="2800" b="1" i="0"/>
                <a:t>      </a:t>
              </a:r>
              <a:r>
                <a:rPr lang="zh-CN" altLang="en-US" sz="2800" b="1" i="0"/>
                <a:t>确定</a:t>
              </a:r>
              <a:r>
                <a:rPr lang="en-US" altLang="zh-CN" sz="2800" b="1" i="0"/>
                <a:t>c=</a:t>
              </a:r>
              <a:r>
                <a:rPr lang="zh-CN" altLang="en-US" sz="2800" b="1" i="0"/>
                <a:t>，并求解 </a:t>
              </a:r>
              <a:r>
                <a:rPr lang="en-US" altLang="zh-CN" sz="2800" b="1" i="0"/>
                <a:t>P(X+Y&lt;4)</a:t>
              </a:r>
            </a:p>
          </p:txBody>
        </p:sp>
        <p:pic>
          <p:nvPicPr>
            <p:cNvPr id="29701" name="TextBox 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1025"/>
              <a:ext cx="11057" cy="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60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684213" y="549275"/>
            <a:ext cx="6892925" cy="2676525"/>
            <a:chOff x="0" y="0"/>
            <a:chExt cx="10854" cy="4214"/>
          </a:xfrm>
        </p:grpSpPr>
        <p:sp>
          <p:nvSpPr>
            <p:cNvPr id="30726" name="TextBox 1"/>
            <p:cNvSpPr txBox="1">
              <a:spLocks noChangeArrowheads="1"/>
            </p:cNvSpPr>
            <p:nvPr/>
          </p:nvSpPr>
          <p:spPr bwMode="auto">
            <a:xfrm>
              <a:off x="0" y="0"/>
              <a:ext cx="10432" cy="4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0"/>
                <a:t>4</a:t>
              </a:r>
              <a:r>
                <a:rPr lang="zh-CN" altLang="en-US" sz="2800" b="1" i="0"/>
                <a:t>已知概率密度</a:t>
              </a:r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r>
                <a:rPr lang="zh-CN" altLang="en-US" sz="2800" b="1" i="0"/>
                <a:t>求解边缘密度，并判断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是否独立</a:t>
              </a:r>
            </a:p>
          </p:txBody>
        </p:sp>
        <p:pic>
          <p:nvPicPr>
            <p:cNvPr id="30727" name="TextBox 3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" y="910"/>
              <a:ext cx="8363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49" name="Group 5"/>
          <p:cNvGrpSpPr>
            <a:grpSpLocks/>
          </p:cNvGrpSpPr>
          <p:nvPr/>
        </p:nvGrpSpPr>
        <p:grpSpPr bwMode="auto">
          <a:xfrm>
            <a:off x="827088" y="3573463"/>
            <a:ext cx="6624637" cy="2676525"/>
            <a:chOff x="0" y="0"/>
            <a:chExt cx="10432" cy="4214"/>
          </a:xfrm>
        </p:grpSpPr>
        <p:sp>
          <p:nvSpPr>
            <p:cNvPr id="30724" name="TextBox 2"/>
            <p:cNvSpPr txBox="1">
              <a:spLocks noChangeArrowheads="1"/>
            </p:cNvSpPr>
            <p:nvPr/>
          </p:nvSpPr>
          <p:spPr bwMode="auto">
            <a:xfrm>
              <a:off x="0" y="0"/>
              <a:ext cx="10432" cy="4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0"/>
                <a:t> </a:t>
              </a:r>
              <a:r>
                <a:rPr lang="zh-CN" altLang="en-US" sz="2800" b="1" i="0"/>
                <a:t>已知概率密度</a:t>
              </a:r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endParaRPr lang="en-US" sz="2800" b="1" i="0"/>
            </a:p>
            <a:p>
              <a:pPr eaLnBrk="1" hangingPunct="1"/>
              <a:r>
                <a:rPr lang="zh-CN" altLang="en-US" sz="2800" b="1" i="0"/>
                <a:t>判断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是否独立</a:t>
              </a:r>
              <a:r>
                <a:rPr lang="en-US" altLang="zh-CN" sz="2800" b="1" i="0"/>
                <a:t>,</a:t>
              </a:r>
              <a:r>
                <a:rPr lang="zh-CN" altLang="en-US" sz="2800" b="1" i="0"/>
                <a:t>求解</a:t>
              </a:r>
              <a:r>
                <a:rPr lang="en-US" altLang="zh-CN" sz="2800" b="1" i="0"/>
                <a:t>P(X&lt;Y)</a:t>
              </a:r>
              <a:endParaRPr lang="zh-CN" altLang="en-US" sz="2800" b="1" i="0"/>
            </a:p>
          </p:txBody>
        </p:sp>
        <p:pic>
          <p:nvPicPr>
            <p:cNvPr id="30725" name="TextBox 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7" y="1122"/>
              <a:ext cx="8340" cy="1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687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1042988" y="620713"/>
            <a:ext cx="7378700" cy="1384300"/>
            <a:chOff x="0" y="0"/>
            <a:chExt cx="7377541" cy="1384995"/>
          </a:xfrm>
        </p:grpSpPr>
        <p:sp>
          <p:nvSpPr>
            <p:cNvPr id="31747" name="TextBox 1"/>
            <p:cNvSpPr txBox="1">
              <a:spLocks noChangeArrowheads="1"/>
            </p:cNvSpPr>
            <p:nvPr/>
          </p:nvSpPr>
          <p:spPr bwMode="auto">
            <a:xfrm>
              <a:off x="0" y="0"/>
              <a:ext cx="7344816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i="0"/>
                <a:t>设 （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）在                                                  上服从均匀分布，求边缘概率密度，讨论</a:t>
              </a:r>
              <a:r>
                <a:rPr lang="en-US" altLang="zh-CN" sz="2800" b="1" i="0"/>
                <a:t>X,Y</a:t>
              </a:r>
              <a:r>
                <a:rPr lang="zh-CN" altLang="en-US" sz="2800" b="1" i="0"/>
                <a:t>的独立性。</a:t>
              </a:r>
            </a:p>
          </p:txBody>
        </p:sp>
        <p:pic>
          <p:nvPicPr>
            <p:cNvPr id="31748" name="TextBox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616" y="1104"/>
              <a:ext cx="5102352" cy="524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1042988" y="2967626"/>
            <a:ext cx="4179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设 </a:t>
            </a:r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与 </a:t>
            </a:r>
            <a:r>
              <a:rPr lang="en-US" altLang="zh-CN" sz="2800" b="1" dirty="0" smtClean="0"/>
              <a:t>Y </a:t>
            </a:r>
            <a:r>
              <a:rPr lang="zh-CN" altLang="en-US" sz="2800" b="1" dirty="0" smtClean="0"/>
              <a:t>独立，其密度为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042988" y="3812996"/>
                <a:ext cx="3954224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≤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≤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𝒐𝒕𝒉𝒆𝒓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8" y="3812996"/>
                <a:ext cx="3954224" cy="8107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258029" y="3812996"/>
                <a:ext cx="3818930" cy="860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z="2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&gt;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𝒐𝒕𝒉𝒆𝒓</m:t>
                                </m:r>
                                <m:r>
                                  <a:rPr lang="en-US" altLang="zh-CN" sz="2800" b="1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029" y="3812996"/>
                <a:ext cx="3818930" cy="8606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057664" y="4797152"/>
            <a:ext cx="365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求 </a:t>
            </a:r>
            <a:r>
              <a:rPr lang="en-US" altLang="zh-CN" sz="2800" b="1" dirty="0" smtClean="0"/>
              <a:t>Z=X+Y </a:t>
            </a:r>
            <a:r>
              <a:rPr lang="zh-CN" altLang="en-US" sz="2800" b="1" dirty="0" smtClean="0"/>
              <a:t>的密度函数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5525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2225"/>
            <a:ext cx="8229600" cy="868363"/>
          </a:xfrm>
        </p:spPr>
        <p:txBody>
          <a:bodyPr/>
          <a:lstStyle/>
          <a:p>
            <a:pPr eaLnBrk="1" hangingPunct="1"/>
            <a:r>
              <a:rPr lang="zh-CN" smtClean="0"/>
              <a:t>第四章  数字特征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693738"/>
          </a:xfrm>
        </p:spPr>
        <p:txBody>
          <a:bodyPr/>
          <a:lstStyle/>
          <a:p>
            <a:pPr eaLnBrk="1" hangingPunct="1"/>
            <a:r>
              <a:rPr lang="zh-CN" b="1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期望</a:t>
            </a:r>
          </a:p>
        </p:txBody>
      </p:sp>
      <p:pic>
        <p:nvPicPr>
          <p:cNvPr id="33796" name="TextBox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133600"/>
            <a:ext cx="20415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TextBox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279650"/>
            <a:ext cx="3114675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TextBox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633788"/>
            <a:ext cx="29432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TextBox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773488"/>
            <a:ext cx="4170363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02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 txBox="1">
            <a:spLocks noChangeArrowheads="1"/>
          </p:cNvSpPr>
          <p:nvPr/>
        </p:nvSpPr>
        <p:spPr bwMode="auto">
          <a:xfrm>
            <a:off x="457200" y="503238"/>
            <a:ext cx="8229600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方差</a:t>
            </a:r>
          </a:p>
        </p:txBody>
      </p:sp>
      <p:pic>
        <p:nvPicPr>
          <p:cNvPr id="34819" name="TextBox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590550"/>
            <a:ext cx="5456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TextBox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00" y="1554163"/>
            <a:ext cx="36322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TextBox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3048000"/>
            <a:ext cx="4460875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Rectangle 3"/>
          <p:cNvSpPr txBox="1">
            <a:spLocks noChangeArrowheads="1"/>
          </p:cNvSpPr>
          <p:nvPr/>
        </p:nvSpPr>
        <p:spPr bwMode="auto">
          <a:xfrm>
            <a:off x="519113" y="4103688"/>
            <a:ext cx="8229600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相关系数</a:t>
            </a:r>
          </a:p>
        </p:txBody>
      </p:sp>
      <p:pic>
        <p:nvPicPr>
          <p:cNvPr id="34823" name="TextBox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4932363"/>
            <a:ext cx="5389562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9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bldLvl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 txBox="1">
            <a:spLocks noChangeArrowheads="1"/>
          </p:cNvSpPr>
          <p:nvPr/>
        </p:nvSpPr>
        <p:spPr bwMode="auto">
          <a:xfrm>
            <a:off x="457200" y="503238"/>
            <a:ext cx="8229600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性质</a:t>
            </a:r>
          </a:p>
        </p:txBody>
      </p:sp>
      <p:pic>
        <p:nvPicPr>
          <p:cNvPr id="34819" name="TextBox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3" y="1341438"/>
            <a:ext cx="32369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TextBox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41438"/>
            <a:ext cx="365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TextBox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2133600"/>
            <a:ext cx="452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TextBox 5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2852738"/>
            <a:ext cx="5724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347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1852613" y="1484313"/>
            <a:ext cx="4664075" cy="2736850"/>
            <a:chOff x="0" y="0"/>
            <a:chExt cx="7344" cy="4310"/>
          </a:xfrm>
        </p:grpSpPr>
        <p:sp>
          <p:nvSpPr>
            <p:cNvPr id="35851" name="Rectangle 3"/>
            <p:cNvSpPr txBox="1">
              <a:spLocks noChangeArrowheads="1"/>
            </p:cNvSpPr>
            <p:nvPr/>
          </p:nvSpPr>
          <p:spPr bwMode="auto">
            <a:xfrm>
              <a:off x="0" y="0"/>
              <a:ext cx="5412" cy="4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zh-CN" altLang="en-US" sz="2800" b="1" i="0">
                  <a:solidFill>
                    <a:srgbClr val="0000CC"/>
                  </a:solidFill>
                  <a:latin typeface="宋体" pitchFamily="2" charset="-122"/>
                </a:rPr>
                <a:t>不相关</a:t>
              </a:r>
              <a:r>
                <a:rPr lang="zh-CN" altLang="en-US" sz="2800" b="1" i="0">
                  <a:latin typeface="宋体" pitchFamily="2" charset="-122"/>
                </a:rPr>
                <a:t>的等价关系</a:t>
              </a:r>
              <a:endParaRPr lang="en-US" sz="2800" b="1" i="0">
                <a:latin typeface="宋体" pitchFamily="2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zh-CN" altLang="en-US" sz="2800" b="1" i="0">
                  <a:latin typeface="宋体" pitchFamily="2" charset="-122"/>
                </a:rPr>
                <a:t>（</a:t>
              </a:r>
              <a:r>
                <a:rPr lang="en-US" altLang="zh-CN" sz="2800" b="1" i="0">
                  <a:latin typeface="宋体" pitchFamily="2" charset="-122"/>
                </a:rPr>
                <a:t>1</a:t>
              </a:r>
              <a:r>
                <a:rPr lang="zh-CN" altLang="en-US" sz="2800" b="1" i="0">
                  <a:latin typeface="宋体" pitchFamily="2" charset="-122"/>
                </a:rPr>
                <a:t>）</a:t>
              </a:r>
              <a:r>
                <a:rPr lang="en-US" altLang="zh-CN" sz="2800" b="1" i="0">
                  <a:latin typeface="宋体" pitchFamily="2" charset="-122"/>
                </a:rPr>
                <a:t>X</a:t>
              </a:r>
              <a:r>
                <a:rPr lang="zh-CN" altLang="en-US" sz="2800" b="1" i="0">
                  <a:latin typeface="宋体" pitchFamily="2" charset="-122"/>
                </a:rPr>
                <a:t>与</a:t>
              </a:r>
              <a:r>
                <a:rPr lang="en-US" altLang="zh-CN" sz="2800" b="1" i="0">
                  <a:latin typeface="宋体" pitchFamily="2" charset="-122"/>
                </a:rPr>
                <a:t>Y</a:t>
              </a:r>
              <a:r>
                <a:rPr lang="zh-CN" altLang="en-US" sz="2800" b="1" i="0">
                  <a:latin typeface="宋体" pitchFamily="2" charset="-122"/>
                </a:rPr>
                <a:t>不相关</a:t>
              </a:r>
              <a:endParaRPr lang="en-US" sz="2800" b="1" i="0">
                <a:latin typeface="宋体" pitchFamily="2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zh-CN" altLang="en-US" sz="2800" b="1" i="0">
                  <a:latin typeface="宋体" pitchFamily="2" charset="-122"/>
                </a:rPr>
                <a:t>（</a:t>
              </a:r>
              <a:r>
                <a:rPr lang="en-US" altLang="zh-CN" sz="2800" b="1" i="0">
                  <a:latin typeface="宋体" pitchFamily="2" charset="-122"/>
                </a:rPr>
                <a:t>2</a:t>
              </a:r>
              <a:r>
                <a:rPr lang="zh-CN" altLang="en-US" sz="2800" b="1" i="0">
                  <a:latin typeface="宋体" pitchFamily="2" charset="-122"/>
                </a:rPr>
                <a:t>）</a:t>
              </a:r>
              <a:endParaRPr lang="en-US" sz="2800" b="1" i="0">
                <a:latin typeface="宋体" pitchFamily="2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zh-CN" altLang="en-US" sz="2800" b="1" i="0">
                  <a:latin typeface="宋体" pitchFamily="2" charset="-122"/>
                </a:rPr>
                <a:t>（</a:t>
              </a:r>
              <a:r>
                <a:rPr lang="en-US" altLang="zh-CN" sz="2800" b="1" i="0">
                  <a:latin typeface="宋体" pitchFamily="2" charset="-122"/>
                </a:rPr>
                <a:t>3</a:t>
              </a:r>
              <a:r>
                <a:rPr lang="zh-CN" altLang="en-US" sz="2800" b="1" i="0">
                  <a:latin typeface="宋体" pitchFamily="2" charset="-122"/>
                </a:rPr>
                <a:t>）</a:t>
              </a:r>
              <a:endParaRPr lang="en-US" sz="2800" b="1" i="0">
                <a:latin typeface="宋体" pitchFamily="2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100000"/>
                <a:buFont typeface="Wingdings" pitchFamily="2" charset="2"/>
                <a:buNone/>
              </a:pPr>
              <a:r>
                <a:rPr lang="zh-CN" altLang="en-US" sz="2800" b="1" i="0">
                  <a:latin typeface="宋体" pitchFamily="2" charset="-122"/>
                </a:rPr>
                <a:t>（</a:t>
              </a:r>
              <a:r>
                <a:rPr lang="en-US" altLang="zh-CN" sz="2800" b="1" i="0">
                  <a:latin typeface="宋体" pitchFamily="2" charset="-122"/>
                </a:rPr>
                <a:t>4</a:t>
              </a:r>
              <a:r>
                <a:rPr lang="zh-CN" altLang="en-US" sz="2800" b="1" i="0">
                  <a:latin typeface="宋体" pitchFamily="2" charset="-122"/>
                </a:rPr>
                <a:t>）</a:t>
              </a:r>
              <a:endParaRPr lang="en-US" sz="2800" b="1" i="0">
                <a:latin typeface="宋体" pitchFamily="2" charset="-122"/>
              </a:endParaRPr>
            </a:p>
          </p:txBody>
        </p:sp>
        <p:pic>
          <p:nvPicPr>
            <p:cNvPr id="35852" name="TextBox 4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" y="1712"/>
              <a:ext cx="386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3" name="TextBox 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5" y="2530"/>
              <a:ext cx="4080" cy="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4" name="TextBox 6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" y="3345"/>
              <a:ext cx="5655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6871" name="直接箭头连接符 12"/>
          <p:cNvCxnSpPr>
            <a:cxnSpLocks noChangeShapeType="1"/>
          </p:cNvCxnSpPr>
          <p:nvPr/>
        </p:nvCxnSpPr>
        <p:spPr bwMode="auto">
          <a:xfrm>
            <a:off x="2627313" y="4941888"/>
            <a:ext cx="11938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4" name="Rectangle 3"/>
          <p:cNvSpPr txBox="1">
            <a:spLocks noChangeArrowheads="1"/>
          </p:cNvSpPr>
          <p:nvPr/>
        </p:nvSpPr>
        <p:spPr bwMode="auto">
          <a:xfrm>
            <a:off x="457200" y="503238"/>
            <a:ext cx="8229600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不相关</a:t>
            </a:r>
          </a:p>
        </p:txBody>
      </p:sp>
      <p:pic>
        <p:nvPicPr>
          <p:cNvPr id="35845" name="TextBox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388" y="506413"/>
            <a:ext cx="15001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4" name="TextBox 7"/>
          <p:cNvSpPr txBox="1">
            <a:spLocks noChangeArrowheads="1"/>
          </p:cNvSpPr>
          <p:nvPr/>
        </p:nvSpPr>
        <p:spPr bwMode="auto">
          <a:xfrm>
            <a:off x="1476375" y="4797425"/>
            <a:ext cx="1450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 i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独立</a:t>
            </a:r>
          </a:p>
        </p:txBody>
      </p:sp>
      <p:sp>
        <p:nvSpPr>
          <p:cNvPr id="36875" name="TextBox 8"/>
          <p:cNvSpPr txBox="1">
            <a:spLocks noChangeArrowheads="1"/>
          </p:cNvSpPr>
          <p:nvPr/>
        </p:nvSpPr>
        <p:spPr bwMode="auto">
          <a:xfrm>
            <a:off x="3821113" y="4797425"/>
            <a:ext cx="2170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 i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不相关</a:t>
            </a:r>
          </a:p>
        </p:txBody>
      </p:sp>
      <p:grpSp>
        <p:nvGrpSpPr>
          <p:cNvPr id="36876" name="Group 12"/>
          <p:cNvGrpSpPr>
            <a:grpSpLocks/>
          </p:cNvGrpSpPr>
          <p:nvPr/>
        </p:nvGrpSpPr>
        <p:grpSpPr bwMode="auto">
          <a:xfrm>
            <a:off x="2627313" y="5119688"/>
            <a:ext cx="1193800" cy="323850"/>
            <a:chOff x="0" y="0"/>
            <a:chExt cx="1880" cy="510"/>
          </a:xfrm>
        </p:grpSpPr>
        <p:cxnSp>
          <p:nvCxnSpPr>
            <p:cNvPr id="35849" name="直接箭头连接符 15"/>
            <p:cNvCxnSpPr>
              <a:cxnSpLocks noChangeShapeType="1"/>
            </p:cNvCxnSpPr>
            <p:nvPr/>
          </p:nvCxnSpPr>
          <p:spPr bwMode="auto">
            <a:xfrm flipH="1">
              <a:off x="0" y="285"/>
              <a:ext cx="188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dist="20000" dir="5400000" algn="ctr" rotWithShape="0">
                <a:srgbClr val="000000">
                  <a:alpha val="37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0" name="直接连接符 17"/>
            <p:cNvCxnSpPr>
              <a:cxnSpLocks noChangeShapeType="1"/>
            </p:cNvCxnSpPr>
            <p:nvPr/>
          </p:nvCxnSpPr>
          <p:spPr bwMode="auto">
            <a:xfrm>
              <a:off x="940" y="0"/>
              <a:ext cx="422" cy="5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algn="ctr" rotWithShape="0">
                <a:srgbClr val="000000">
                  <a:alpha val="37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73805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4" grpId="0" bldLvl="0" autoUpdateAnimBg="0"/>
      <p:bldP spid="36875" grpId="0" bldLvl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1"/>
          <p:cNvSpPr txBox="1">
            <a:spLocks noChangeArrowheads="1"/>
          </p:cNvSpPr>
          <p:nvPr/>
        </p:nvSpPr>
        <p:spPr bwMode="auto">
          <a:xfrm>
            <a:off x="966788" y="692150"/>
            <a:ext cx="45370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切比雪夫不等式</a:t>
            </a:r>
            <a:endParaRPr lang="en-US" sz="3200" b="1" i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867" name="TextBox 2"/>
          <p:cNvSpPr txBox="1">
            <a:spLocks noChangeArrowheads="1"/>
          </p:cNvSpPr>
          <p:nvPr/>
        </p:nvSpPr>
        <p:spPr bwMode="auto">
          <a:xfrm>
            <a:off x="1403350" y="1697038"/>
            <a:ext cx="568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/>
              <a:t>若期望和方差都存在，则</a:t>
            </a:r>
          </a:p>
        </p:txBody>
      </p:sp>
      <p:pic>
        <p:nvPicPr>
          <p:cNvPr id="36868" name="TextBox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706688"/>
            <a:ext cx="39497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71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122363"/>
            <a:ext cx="7593013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1" name="TextBox 1"/>
          <p:cNvSpPr txBox="1">
            <a:spLocks noChangeArrowheads="1"/>
          </p:cNvSpPr>
          <p:nvPr/>
        </p:nvSpPr>
        <p:spPr bwMode="auto">
          <a:xfrm>
            <a:off x="684213" y="188913"/>
            <a:ext cx="47513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常用分布的数字特征</a:t>
            </a:r>
          </a:p>
        </p:txBody>
      </p:sp>
    </p:spTree>
    <p:extLst>
      <p:ext uri="{BB962C8B-B14F-4D97-AF65-F5344CB8AC3E}">
        <p14:creationId xmlns:p14="http://schemas.microsoft.com/office/powerpoint/2010/main" val="337814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"/>
          <p:cNvSpPr txBox="1">
            <a:spLocks noChangeArrowheads="1"/>
          </p:cNvSpPr>
          <p:nvPr/>
        </p:nvSpPr>
        <p:spPr bwMode="auto">
          <a:xfrm>
            <a:off x="755650" y="620713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i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练习</a:t>
            </a:r>
          </a:p>
        </p:txBody>
      </p:sp>
      <p:sp>
        <p:nvSpPr>
          <p:cNvPr id="38915" name="TextBox 2"/>
          <p:cNvSpPr txBox="1">
            <a:spLocks noChangeArrowheads="1"/>
          </p:cNvSpPr>
          <p:nvPr/>
        </p:nvSpPr>
        <p:spPr bwMode="auto">
          <a:xfrm>
            <a:off x="755650" y="1341438"/>
            <a:ext cx="4608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1   </a:t>
            </a:r>
            <a:r>
              <a:rPr lang="zh-CN" altLang="en-US" sz="2800" b="1" i="0"/>
              <a:t>设</a:t>
            </a:r>
            <a:r>
              <a:rPr lang="en-US" altLang="zh-CN" sz="2800" b="1" i="0"/>
              <a:t>X~N(1,4), </a:t>
            </a:r>
            <a:r>
              <a:rPr lang="zh-CN" altLang="en-US" sz="2800" b="1" i="0"/>
              <a:t>则数学期望</a:t>
            </a:r>
            <a:endParaRPr lang="zh-CN" altLang="en-US" sz="2800" b="1"/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48063" y="1320387"/>
            <a:ext cx="1305165" cy="52322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8917" name="TextBox 4"/>
          <p:cNvSpPr txBox="1">
            <a:spLocks noChangeArrowheads="1"/>
          </p:cNvSpPr>
          <p:nvPr/>
        </p:nvSpPr>
        <p:spPr bwMode="auto">
          <a:xfrm>
            <a:off x="915988" y="2173288"/>
            <a:ext cx="6840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zh-CN" sz="2800" b="1"/>
              <a:t>   </a:t>
            </a:r>
            <a:r>
              <a:rPr lang="zh-CN" altLang="en-US" sz="2800" b="1" i="0"/>
              <a:t>设</a:t>
            </a:r>
            <a:r>
              <a:rPr lang="en-US" altLang="zh-CN" sz="2800" b="1" i="0"/>
              <a:t>(X,Y)~N(0,0,1,1,0), </a:t>
            </a:r>
            <a:r>
              <a:rPr lang="zh-CN" altLang="en-US" sz="2800" b="1" i="0"/>
              <a:t>则  </a:t>
            </a:r>
            <a:r>
              <a:rPr lang="en-US" altLang="zh-CN" sz="2800" b="1" i="0"/>
              <a:t>D(3X-2Y)=</a:t>
            </a:r>
            <a:endParaRPr lang="zh-CN" altLang="en-US" sz="2800" b="1"/>
          </a:p>
        </p:txBody>
      </p:sp>
      <p:sp>
        <p:nvSpPr>
          <p:cNvPr id="38918" name="TextBox 5"/>
          <p:cNvSpPr txBox="1">
            <a:spLocks noChangeArrowheads="1"/>
          </p:cNvSpPr>
          <p:nvPr/>
        </p:nvSpPr>
        <p:spPr bwMode="auto">
          <a:xfrm>
            <a:off x="915988" y="2924175"/>
            <a:ext cx="6969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zh-CN" sz="2800" b="1"/>
              <a:t>   </a:t>
            </a: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独立，且</a:t>
            </a:r>
            <a:r>
              <a:rPr lang="en-US" altLang="zh-CN" sz="2800" b="1" i="0"/>
              <a:t>X~N(0,1), Y~N(-2,3),</a:t>
            </a:r>
            <a:r>
              <a:rPr lang="zh-CN" altLang="en-US" sz="2800" b="1" i="0"/>
              <a:t>则     </a:t>
            </a:r>
            <a:r>
              <a:rPr lang="en-US" altLang="zh-CN" sz="2800" b="1" i="0"/>
              <a:t>X-2Y+5~()</a:t>
            </a:r>
            <a:endParaRPr lang="zh-CN" altLang="en-US" sz="2800" b="1"/>
          </a:p>
        </p:txBody>
      </p:sp>
      <p:sp>
        <p:nvSpPr>
          <p:cNvPr id="38919" name="TextBox 6"/>
          <p:cNvSpPr txBox="1">
            <a:spLocks noChangeArrowheads="1"/>
          </p:cNvSpPr>
          <p:nvPr/>
        </p:nvSpPr>
        <p:spPr bwMode="auto">
          <a:xfrm>
            <a:off x="915988" y="4365625"/>
            <a:ext cx="6969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zh-CN" sz="2800" b="1"/>
              <a:t>   </a:t>
            </a:r>
            <a:r>
              <a:rPr lang="zh-CN" altLang="en-US" sz="2800" b="1" i="0"/>
              <a:t>设独立的随机变量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 </a:t>
            </a:r>
            <a:r>
              <a:rPr lang="zh-CN" altLang="en-US" sz="2800" b="1" i="0"/>
              <a:t>的方差为</a:t>
            </a:r>
            <a:r>
              <a:rPr lang="en-US" altLang="zh-CN" sz="2800" b="1" i="0"/>
              <a:t>4</a:t>
            </a:r>
            <a:r>
              <a:rPr lang="zh-CN" altLang="en-US" sz="2800" b="1" i="0"/>
              <a:t>和</a:t>
            </a:r>
            <a:r>
              <a:rPr lang="en-US" altLang="zh-CN" sz="2800" b="1" i="0"/>
              <a:t>2</a:t>
            </a:r>
            <a:r>
              <a:rPr lang="zh-CN" altLang="en-US" sz="2800" b="1" i="0"/>
              <a:t>，则</a:t>
            </a:r>
            <a:r>
              <a:rPr lang="en-US" altLang="zh-CN" sz="2800" b="1" i="0"/>
              <a:t>3X-2Y</a:t>
            </a:r>
            <a:r>
              <a:rPr lang="zh-CN" altLang="en-US" sz="2800" b="1" i="0"/>
              <a:t>的方差为（）</a:t>
            </a:r>
            <a:endParaRPr lang="zh-CN" altLang="en-US" sz="2800" b="1"/>
          </a:p>
        </p:txBody>
      </p:sp>
      <p:sp>
        <p:nvSpPr>
          <p:cNvPr id="38920" name="TextBox 7"/>
          <p:cNvSpPr txBox="1">
            <a:spLocks noChangeArrowheads="1"/>
          </p:cNvSpPr>
          <p:nvPr/>
        </p:nvSpPr>
        <p:spPr bwMode="auto">
          <a:xfrm>
            <a:off x="1116013" y="5732463"/>
            <a:ext cx="2735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的密度为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12127" y="5733256"/>
            <a:ext cx="2304542" cy="475451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8922" name="TextBox 9"/>
          <p:cNvSpPr txBox="1">
            <a:spLocks noChangeArrowheads="1"/>
          </p:cNvSpPr>
          <p:nvPr/>
        </p:nvSpPr>
        <p:spPr bwMode="auto">
          <a:xfrm>
            <a:off x="6016625" y="5707063"/>
            <a:ext cx="2659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 </a:t>
            </a:r>
            <a:r>
              <a:rPr lang="en-US" altLang="zh-CN" sz="2800" b="1" i="0"/>
              <a:t>EX</a:t>
            </a:r>
            <a:r>
              <a:rPr lang="zh-CN" altLang="en-US" sz="2800" b="1" i="0"/>
              <a:t>和 </a:t>
            </a:r>
            <a:r>
              <a:rPr lang="en-US" altLang="zh-CN" sz="2800" b="1" i="0"/>
              <a:t>DX</a:t>
            </a:r>
            <a:endParaRPr lang="zh-CN" altLang="en-US" sz="2800" b="1" i="0"/>
          </a:p>
        </p:txBody>
      </p:sp>
    </p:spTree>
    <p:extLst>
      <p:ext uri="{BB962C8B-B14F-4D97-AF65-F5344CB8AC3E}">
        <p14:creationId xmlns:p14="http://schemas.microsoft.com/office/powerpoint/2010/main" val="312926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1"/>
          <p:cNvSpPr txBox="1">
            <a:spLocks noChangeArrowheads="1"/>
          </p:cNvSpPr>
          <p:nvPr/>
        </p:nvSpPr>
        <p:spPr bwMode="auto">
          <a:xfrm>
            <a:off x="827088" y="333375"/>
            <a:ext cx="58324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设离散型随机变量</a:t>
            </a:r>
            <a:r>
              <a:rPr lang="en-US" altLang="zh-CN" sz="2800" b="1" i="0"/>
              <a:t>X</a:t>
            </a:r>
            <a:r>
              <a:rPr lang="zh-CN" altLang="en-US" sz="2800" b="1" i="0"/>
              <a:t>的分布律</a:t>
            </a:r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10526" y="877174"/>
            <a:ext cx="4482061" cy="106048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971550" y="2060575"/>
            <a:ext cx="5903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</a:t>
            </a:r>
            <a:r>
              <a:rPr lang="en-US" altLang="zh-CN" sz="2800" b="1" i="0"/>
              <a:t>EX, DX</a:t>
            </a:r>
            <a:r>
              <a:rPr lang="zh-CN" altLang="en-US" sz="2800" b="1" i="0"/>
              <a:t>， </a:t>
            </a:r>
            <a:r>
              <a:rPr lang="en-US" altLang="zh-CN" sz="2800" b="1" i="0"/>
              <a:t>P{0.5&lt;X&lt;2.5}</a:t>
            </a:r>
            <a:endParaRPr lang="zh-CN" altLang="en-US" sz="2800" b="1" i="0"/>
          </a:p>
        </p:txBody>
      </p:sp>
      <p:sp>
        <p:nvSpPr>
          <p:cNvPr id="39941" name="TextBox 4"/>
          <p:cNvSpPr txBox="1">
            <a:spLocks noChangeArrowheads="1"/>
          </p:cNvSpPr>
          <p:nvPr/>
        </p:nvSpPr>
        <p:spPr bwMode="auto">
          <a:xfrm>
            <a:off x="1042988" y="2924175"/>
            <a:ext cx="7129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的概率密度为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63030" y="2636912"/>
            <a:ext cx="4169410" cy="110806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9943" name="TextBox 6"/>
          <p:cNvSpPr txBox="1">
            <a:spLocks noChangeArrowheads="1"/>
          </p:cNvSpPr>
          <p:nvPr/>
        </p:nvSpPr>
        <p:spPr bwMode="auto">
          <a:xfrm>
            <a:off x="971550" y="3913188"/>
            <a:ext cx="2016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</a:t>
            </a:r>
            <a:r>
              <a:rPr lang="en-US" altLang="zh-CN" sz="2800" b="1" i="0"/>
              <a:t>EX, DX</a:t>
            </a:r>
            <a:r>
              <a:rPr lang="zh-CN" altLang="en-US" sz="2800" b="1" i="0"/>
              <a:t>，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75856" y="3744972"/>
            <a:ext cx="2054793" cy="783804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9945" name="TextBox 10"/>
          <p:cNvSpPr txBox="1">
            <a:spLocks noChangeArrowheads="1"/>
          </p:cNvSpPr>
          <p:nvPr/>
        </p:nvSpPr>
        <p:spPr bwMode="auto">
          <a:xfrm>
            <a:off x="1076325" y="4776788"/>
            <a:ext cx="7127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的概率密度为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70135" y="4656886"/>
            <a:ext cx="3370217" cy="76444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39947" name="TextBox 12"/>
          <p:cNvSpPr txBox="1">
            <a:spLocks noChangeArrowheads="1"/>
          </p:cNvSpPr>
          <p:nvPr/>
        </p:nvSpPr>
        <p:spPr bwMode="auto">
          <a:xfrm>
            <a:off x="1003300" y="5765800"/>
            <a:ext cx="587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               和                的期望      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19672" y="5810590"/>
            <a:ext cx="1239442" cy="461665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5" name="TextBox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56381" y="5768914"/>
            <a:ext cx="1493742" cy="461665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1829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1"/>
          <p:cNvSpPr txBox="1">
            <a:spLocks noChangeArrowheads="1"/>
          </p:cNvSpPr>
          <p:nvPr/>
        </p:nvSpPr>
        <p:spPr bwMode="auto">
          <a:xfrm>
            <a:off x="287337" y="288131"/>
            <a:ext cx="81375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2  </a:t>
            </a:r>
            <a:r>
              <a:rPr lang="zh-CN" altLang="en-US" sz="2800" b="1" i="0"/>
              <a:t>设随机变量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的期望、方差、协方差和相关系数都存在，则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不相关的充分非必要条件是</a:t>
            </a:r>
            <a:endParaRPr lang="zh-CN" altLang="en-US" sz="2800" b="1"/>
          </a:p>
        </p:txBody>
      </p:sp>
      <p:sp>
        <p:nvSpPr>
          <p:cNvPr id="3" name="TextBox 2"/>
          <p:cNvSpPr txBox="1"/>
          <p:nvPr/>
        </p:nvSpPr>
        <p:spPr>
          <a:xfrm>
            <a:off x="792162" y="1272381"/>
            <a:ext cx="8028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lphaUcPeriod"/>
              <a:defRPr/>
            </a:pPr>
            <a:r>
              <a:rPr lang="en-US" altLang="zh-CN" sz="2800" b="1" i="0" dirty="0"/>
              <a:t>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的相关系数为</a:t>
            </a:r>
            <a:r>
              <a:rPr lang="en-US" altLang="zh-CN" sz="2800" b="1" i="0" dirty="0"/>
              <a:t>0         B. 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的协方差为</a:t>
            </a:r>
            <a:r>
              <a:rPr lang="en-US" altLang="zh-CN" sz="2800" b="1" i="0" dirty="0"/>
              <a:t>0</a:t>
            </a:r>
          </a:p>
          <a:p>
            <a:pPr>
              <a:defRPr/>
            </a:pPr>
            <a:r>
              <a:rPr lang="en-US" altLang="zh-CN" sz="2800" b="1" i="0" dirty="0"/>
              <a:t>C.  EXY=EX EY                     D. 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相互独立</a:t>
            </a:r>
            <a:endParaRPr lang="en-US" altLang="zh-CN" sz="2800" b="1" i="0" dirty="0"/>
          </a:p>
        </p:txBody>
      </p:sp>
      <p:sp>
        <p:nvSpPr>
          <p:cNvPr id="40964" name="TextBox 3"/>
          <p:cNvSpPr txBox="1">
            <a:spLocks noChangeArrowheads="1"/>
          </p:cNvSpPr>
          <p:nvPr/>
        </p:nvSpPr>
        <p:spPr bwMode="auto">
          <a:xfrm>
            <a:off x="647699" y="2591594"/>
            <a:ext cx="792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 dirty="0"/>
              <a:t>对任意的随机变量</a:t>
            </a:r>
            <a:r>
              <a:rPr lang="en-US" altLang="zh-CN" sz="2800" b="1" i="0" dirty="0"/>
              <a:t>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，若 </a:t>
            </a:r>
            <a:r>
              <a:rPr lang="en-US" altLang="zh-CN" sz="2800" b="1" i="0" dirty="0"/>
              <a:t>EXY=EXEY</a:t>
            </a:r>
            <a:r>
              <a:rPr lang="zh-CN" altLang="en-US" sz="2800" b="1" i="0" dirty="0"/>
              <a:t>，则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162" y="3167856"/>
            <a:ext cx="8028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lphaUcPeriod"/>
              <a:defRPr/>
            </a:pPr>
            <a:r>
              <a:rPr lang="en-US" altLang="zh-CN" sz="2800" b="1" i="0" dirty="0"/>
              <a:t>DXY=DX DY                    B. D(X+Y)=DX+DY</a:t>
            </a:r>
          </a:p>
          <a:p>
            <a:pPr>
              <a:defRPr/>
            </a:pPr>
            <a:r>
              <a:rPr lang="en-US" altLang="zh-CN" sz="2800" b="1" i="0" dirty="0"/>
              <a:t>C. 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相互独立                   </a:t>
            </a:r>
            <a:r>
              <a:rPr lang="en-US" altLang="zh-CN" sz="2800" b="1" i="0" dirty="0"/>
              <a:t>D. 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不相互独立</a:t>
            </a:r>
            <a:endParaRPr lang="en-US" altLang="zh-CN" sz="2800" b="1" i="0" dirty="0"/>
          </a:p>
        </p:txBody>
      </p:sp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647699" y="4175919"/>
            <a:ext cx="7345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对</a:t>
            </a:r>
            <a:r>
              <a:rPr lang="en-US" altLang="zh-CN" sz="2800" b="1" i="0"/>
              <a:t>X</a:t>
            </a:r>
            <a:r>
              <a:rPr lang="zh-CN" altLang="en-US" sz="2800" b="1" i="0"/>
              <a:t>与</a:t>
            </a:r>
            <a:r>
              <a:rPr lang="en-US" altLang="zh-CN" sz="2800" b="1" i="0"/>
              <a:t>Y</a:t>
            </a:r>
            <a:r>
              <a:rPr lang="zh-CN" altLang="en-US" sz="2800" b="1" i="0"/>
              <a:t>的相关系数为</a:t>
            </a:r>
            <a:r>
              <a:rPr lang="en-US" altLang="zh-CN" sz="2800" b="1" i="0"/>
              <a:t>0</a:t>
            </a:r>
            <a:r>
              <a:rPr lang="zh-CN" altLang="en-US" sz="2800" b="1" i="0"/>
              <a:t>，则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62" y="4752181"/>
            <a:ext cx="82443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lphaUcPeriod"/>
              <a:defRPr/>
            </a:pPr>
            <a:r>
              <a:rPr lang="en-US" altLang="zh-CN" sz="2800" b="1" i="0" dirty="0"/>
              <a:t>D(X-Y)=DX-DY                 B. D(X+Y)=DX+DY</a:t>
            </a:r>
          </a:p>
          <a:p>
            <a:pPr>
              <a:defRPr/>
            </a:pPr>
            <a:r>
              <a:rPr lang="en-US" altLang="zh-CN" sz="2800" b="1" i="0" dirty="0"/>
              <a:t>C. DXY= DX DY                     D. X</a:t>
            </a:r>
            <a:r>
              <a:rPr lang="zh-CN" altLang="en-US" sz="2800" b="1" i="0" dirty="0"/>
              <a:t>与</a:t>
            </a:r>
            <a:r>
              <a:rPr lang="en-US" altLang="zh-CN" sz="2800" b="1" i="0" dirty="0"/>
              <a:t>Y</a:t>
            </a:r>
            <a:r>
              <a:rPr lang="zh-CN" altLang="en-US" sz="2800" b="1" i="0" dirty="0"/>
              <a:t>相互独立</a:t>
            </a:r>
            <a:endParaRPr lang="en-US" altLang="zh-CN" sz="2800" b="1" i="0" dirty="0"/>
          </a:p>
        </p:txBody>
      </p:sp>
    </p:spTree>
    <p:extLst>
      <p:ext uri="{BB962C8B-B14F-4D97-AF65-F5344CB8AC3E}">
        <p14:creationId xmlns:p14="http://schemas.microsoft.com/office/powerpoint/2010/main" val="61395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1"/>
          <p:cNvSpPr txBox="1">
            <a:spLocks noChangeArrowheads="1"/>
          </p:cNvSpPr>
          <p:nvPr/>
        </p:nvSpPr>
        <p:spPr bwMode="auto">
          <a:xfrm>
            <a:off x="779463" y="2263775"/>
            <a:ext cx="77041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zh-CN" sz="2800" b="1" i="0"/>
              <a:t>    </a:t>
            </a: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的期望为</a:t>
            </a:r>
            <a:r>
              <a:rPr lang="en-US" altLang="zh-CN" sz="2800" b="1" i="0"/>
              <a:t>7</a:t>
            </a:r>
            <a:r>
              <a:rPr lang="zh-CN" altLang="en-US" sz="2800" b="1" i="0"/>
              <a:t>，方差为</a:t>
            </a:r>
            <a:r>
              <a:rPr lang="en-US" altLang="zh-CN" sz="2800" b="1" i="0"/>
              <a:t>5</a:t>
            </a:r>
            <a:r>
              <a:rPr lang="zh-CN" altLang="en-US" sz="2800" b="1" i="0"/>
              <a:t>，则根据切比雪夫不等式有估计</a:t>
            </a:r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39876" y="2761764"/>
            <a:ext cx="2936380" cy="52322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1988" name="TextBox 3"/>
          <p:cNvSpPr txBox="1">
            <a:spLocks noChangeArrowheads="1"/>
          </p:cNvSpPr>
          <p:nvPr/>
        </p:nvSpPr>
        <p:spPr bwMode="auto">
          <a:xfrm>
            <a:off x="755650" y="968375"/>
            <a:ext cx="77041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0"/>
              <a:t>3 </a:t>
            </a:r>
            <a:r>
              <a:rPr lang="zh-CN" altLang="en-US" sz="2800" b="1" i="0"/>
              <a:t>设</a:t>
            </a:r>
            <a:r>
              <a:rPr lang="en-US" altLang="zh-CN" sz="2800" b="1" i="0"/>
              <a:t>X</a:t>
            </a:r>
            <a:r>
              <a:rPr lang="zh-CN" altLang="en-US" sz="2800" b="1" i="0"/>
              <a:t>的方差为</a:t>
            </a:r>
            <a:r>
              <a:rPr lang="en-US" altLang="zh-CN" sz="2800" b="1" i="0"/>
              <a:t>5</a:t>
            </a:r>
            <a:r>
              <a:rPr lang="zh-CN" altLang="en-US" sz="2800" b="1" i="0"/>
              <a:t>，则根据切比雪夫不等式有估计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71800" y="1444821"/>
            <a:ext cx="3188886" cy="52322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8173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1"/>
          <p:cNvSpPr txBox="1">
            <a:spLocks noChangeArrowheads="1"/>
          </p:cNvSpPr>
          <p:nvPr/>
        </p:nvSpPr>
        <p:spPr bwMode="auto">
          <a:xfrm>
            <a:off x="1116013" y="981075"/>
            <a:ext cx="6335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4</a:t>
            </a:r>
            <a:r>
              <a:rPr lang="en-US" altLang="zh-CN" b="1" i="0"/>
              <a:t> </a:t>
            </a:r>
            <a:r>
              <a:rPr lang="zh-CN" altLang="en-US" b="1" i="0"/>
              <a:t>设</a:t>
            </a:r>
            <a:r>
              <a:rPr lang="en-US" altLang="zh-CN" b="1" i="0"/>
              <a:t>DX=3, DY=1, Cov(X,Y)=-1, </a:t>
            </a:r>
            <a:r>
              <a:rPr lang="zh-CN" altLang="en-US" b="1" i="0"/>
              <a:t>记</a:t>
            </a:r>
            <a:endParaRPr lang="zh-CN" altLang="en-US" b="1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67744" y="1628800"/>
            <a:ext cx="4984698" cy="52322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3012" name="TextBox 3"/>
          <p:cNvSpPr txBox="1">
            <a:spLocks noChangeArrowheads="1"/>
          </p:cNvSpPr>
          <p:nvPr/>
        </p:nvSpPr>
        <p:spPr bwMode="auto">
          <a:xfrm>
            <a:off x="1547813" y="2232025"/>
            <a:ext cx="467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</a:t>
            </a:r>
            <a:r>
              <a:rPr lang="en-US" altLang="zh-CN" sz="2800" b="1" i="0"/>
              <a:t>U</a:t>
            </a:r>
            <a:r>
              <a:rPr lang="zh-CN" altLang="en-US" sz="2800" b="1" i="0"/>
              <a:t>和</a:t>
            </a:r>
            <a:r>
              <a:rPr lang="en-US" altLang="zh-CN" sz="2800" b="1" i="0"/>
              <a:t>V</a:t>
            </a:r>
            <a:r>
              <a:rPr lang="zh-CN" altLang="en-US" sz="2800" b="1" i="0"/>
              <a:t>的相关系数</a:t>
            </a:r>
          </a:p>
        </p:txBody>
      </p:sp>
      <p:sp>
        <p:nvSpPr>
          <p:cNvPr id="43013" name="TextBox 4"/>
          <p:cNvSpPr txBox="1">
            <a:spLocks noChangeArrowheads="1"/>
          </p:cNvSpPr>
          <p:nvPr/>
        </p:nvSpPr>
        <p:spPr bwMode="auto">
          <a:xfrm>
            <a:off x="1692275" y="3357563"/>
            <a:ext cx="32400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CN" altLang="en-US" sz="2800" b="1" i="0"/>
              <a:t>设</a:t>
            </a:r>
            <a:r>
              <a:rPr lang="en-US" altLang="zh-CN" sz="2800" b="1" i="0"/>
              <a:t>(X,Y)</a:t>
            </a:r>
            <a:r>
              <a:rPr lang="zh-CN" altLang="en-US" sz="2800" b="1" i="0"/>
              <a:t>的密度为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21551" y="3894614"/>
            <a:ext cx="4659031" cy="76501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43015" name="TextBox 6"/>
          <p:cNvSpPr txBox="1">
            <a:spLocks noChangeArrowheads="1"/>
          </p:cNvSpPr>
          <p:nvPr/>
        </p:nvSpPr>
        <p:spPr bwMode="auto">
          <a:xfrm>
            <a:off x="1547813" y="4941888"/>
            <a:ext cx="46799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i="0"/>
              <a:t>求</a:t>
            </a:r>
            <a:r>
              <a:rPr lang="en-US" altLang="zh-CN" sz="2800" b="1" i="0"/>
              <a:t>X</a:t>
            </a:r>
            <a:r>
              <a:rPr lang="zh-CN" altLang="en-US" sz="2800" b="1" i="0"/>
              <a:t>和</a:t>
            </a:r>
            <a:r>
              <a:rPr lang="en-US" altLang="zh-CN" sz="2800" b="1" i="0"/>
              <a:t>Y</a:t>
            </a:r>
            <a:r>
              <a:rPr lang="zh-CN" altLang="en-US" sz="2800" b="1" i="0"/>
              <a:t>的相关系数</a:t>
            </a:r>
          </a:p>
        </p:txBody>
      </p:sp>
    </p:spTree>
    <p:extLst>
      <p:ext uri="{BB962C8B-B14F-4D97-AF65-F5344CB8AC3E}">
        <p14:creationId xmlns:p14="http://schemas.microsoft.com/office/powerpoint/2010/main" val="118613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_2">
  <a:themeElements>
    <a:clrScheme name="Default Design_2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_2">
      <a:majorFont>
        <a:latin typeface="新宋体"/>
        <a:ea typeface="新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_2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2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2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3229</Words>
  <Application>Microsoft Office PowerPoint</Application>
  <PresentationFormat>全屏显示(4:3)</PresentationFormat>
  <Paragraphs>347</Paragraphs>
  <Slides>57</Slides>
  <Notes>0</Notes>
  <HiddenSlides>1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59" baseType="lpstr">
      <vt:lpstr>Default Design_2</vt:lpstr>
      <vt:lpstr>Microsoft 公式 3.0</vt:lpstr>
      <vt:lpstr>概率论与数理统计</vt:lpstr>
      <vt:lpstr>第六、七章  样本 抽样分布 参数估计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第一章 概率论的基本概念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 随机变量及其分布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第三章  多维随机变量及其分布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  数字特征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BTBU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概率论与数理统计</dc:title>
  <dc:creator>echo</dc:creator>
  <cp:lastModifiedBy>echo</cp:lastModifiedBy>
  <cp:revision>12</cp:revision>
  <dcterms:created xsi:type="dcterms:W3CDTF">2015-06-17T16:46:18Z</dcterms:created>
  <dcterms:modified xsi:type="dcterms:W3CDTF">2015-06-17T18:33:48Z</dcterms:modified>
</cp:coreProperties>
</file>